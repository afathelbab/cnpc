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9.jpg" ContentType="image/jpg"/>
  <Override PartName="/ppt/media/image2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1" r:id="rId6"/>
    <p:sldId id="262" r:id="rId7"/>
    <p:sldId id="335" r:id="rId8"/>
    <p:sldId id="336" r:id="rId9"/>
    <p:sldId id="337" r:id="rId10"/>
    <p:sldId id="345" r:id="rId11"/>
    <p:sldId id="346" r:id="rId12"/>
    <p:sldId id="347" r:id="rId13"/>
    <p:sldId id="348" r:id="rId14"/>
    <p:sldId id="349" r:id="rId15"/>
    <p:sldId id="350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51" r:id="rId32"/>
    <p:sldId id="329" r:id="rId33"/>
    <p:sldId id="354" r:id="rId34"/>
    <p:sldId id="371" r:id="rId35"/>
    <p:sldId id="355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16" autoAdjust="0"/>
  </p:normalViewPr>
  <p:slideViewPr>
    <p:cSldViewPr>
      <p:cViewPr varScale="1">
        <p:scale>
          <a:sx n="60" d="100"/>
          <a:sy n="60" d="100"/>
        </p:scale>
        <p:origin x="84" y="10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6C8F9A5-8A50-43D4-A86E-749A66B1E9FB}" type="datetimeFigureOut">
              <a:rPr lang="ar-EG" smtClean="0"/>
              <a:t>21/05/1447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AE545F19-9433-4C06-9F76-69DA83B701A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5573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94433" y="190881"/>
            <a:ext cx="453961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7258" y="35813"/>
            <a:ext cx="6100064" cy="695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156" y="3138043"/>
            <a:ext cx="7921625" cy="276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1771" y="6725200"/>
            <a:ext cx="259715" cy="184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4527F-BB2F-F09E-EBA3-74D913CD1B7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fathelbab.github.io/cnpc/computer-basics-soft-skills/workshops/" TargetMode="Externa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4833"/>
            <a:ext cx="12191999" cy="436316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667"/>
            <a:ext cx="12192000" cy="6847840"/>
          </a:xfrm>
          <a:custGeom>
            <a:avLst/>
            <a:gdLst/>
            <a:ahLst/>
            <a:cxnLst/>
            <a:rect l="l" t="t" r="r" b="b"/>
            <a:pathLst>
              <a:path w="12192000" h="6847840">
                <a:moveTo>
                  <a:pt x="12192000" y="0"/>
                </a:moveTo>
                <a:lnTo>
                  <a:pt x="0" y="0"/>
                </a:lnTo>
                <a:lnTo>
                  <a:pt x="0" y="6847330"/>
                </a:lnTo>
                <a:lnTo>
                  <a:pt x="12192000" y="68473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8957" y="4249673"/>
            <a:ext cx="3016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94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CNPC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Niger </a:t>
            </a:r>
            <a:r>
              <a:rPr sz="1800" spc="-10" dirty="0">
                <a:latin typeface="Tahoma"/>
                <a:cs typeface="Tahoma"/>
              </a:rPr>
              <a:t>Petroleum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S.A. </a:t>
            </a:r>
            <a:r>
              <a:rPr sz="1800" dirty="0">
                <a:latin typeface="Tahoma"/>
                <a:cs typeface="Tahoma"/>
              </a:rPr>
              <a:t>CNPC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Global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Solutions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Co.</a:t>
            </a:r>
            <a:r>
              <a:rPr sz="1800" spc="-25" dirty="0">
                <a:latin typeface="Tahoma"/>
                <a:cs typeface="Tahoma"/>
              </a:rPr>
              <a:t> Ltd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54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D1C1C"/>
                </a:solidFill>
              </a:rPr>
              <a:t>CNPC</a:t>
            </a:r>
            <a:r>
              <a:rPr sz="2400" spc="-5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Niger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Petroleum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spc="-20" dirty="0">
                <a:solidFill>
                  <a:srgbClr val="CD1C1C"/>
                </a:solidFill>
              </a:rPr>
              <a:t>S.A.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7" y="211836"/>
            <a:ext cx="493776" cy="5440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24298" y="1918902"/>
            <a:ext cx="43434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Practical </a:t>
            </a: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Soft Skills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56" rIns="0" bIns="0" rtlCol="0">
            <a:spAutoFit/>
          </a:bodyPr>
          <a:lstStyle/>
          <a:p>
            <a:pPr marL="24542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Training</a:t>
            </a:r>
            <a:r>
              <a:rPr sz="2800" spc="-135" dirty="0"/>
              <a:t> </a:t>
            </a:r>
            <a:r>
              <a:rPr sz="2800" spc="-10" dirty="0"/>
              <a:t>Agenda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25474" y="1886559"/>
            <a:ext cx="6846926" cy="863698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Before</a:t>
            </a:r>
            <a:r>
              <a:rPr sz="2000" spc="-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we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start</a:t>
            </a:r>
            <a:r>
              <a:rPr sz="2000" spc="-50" dirty="0">
                <a:solidFill>
                  <a:srgbClr val="585858"/>
                </a:solidFill>
                <a:latin typeface="Arial MT"/>
                <a:cs typeface="Arial MT"/>
              </a:rPr>
              <a:t> :</a:t>
            </a: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Lecture</a:t>
            </a:r>
            <a:r>
              <a:rPr sz="2000" spc="-6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1</a:t>
            </a:r>
            <a:r>
              <a:rPr sz="20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:</a:t>
            </a:r>
            <a:r>
              <a:rPr lang="en-US" sz="20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585858"/>
                </a:solidFill>
                <a:latin typeface="Arial MT"/>
                <a:cs typeface="Arial MT"/>
              </a:rPr>
              <a:t>Practical Soft Skills</a:t>
            </a:r>
            <a:endParaRPr lang="ar-EG" sz="2000" dirty="0" smtClean="0">
              <a:solidFill>
                <a:srgbClr val="585858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8156" y="1973579"/>
            <a:ext cx="2581655" cy="30982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51320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Let’s</a:t>
            </a:r>
            <a:r>
              <a:rPr sz="2800" spc="-95" dirty="0"/>
              <a:t> </a:t>
            </a:r>
            <a:r>
              <a:rPr sz="2800" dirty="0"/>
              <a:t>Know</a:t>
            </a:r>
            <a:r>
              <a:rPr sz="2800" spc="-100" dirty="0"/>
              <a:t> </a:t>
            </a:r>
            <a:r>
              <a:rPr sz="2800" dirty="0"/>
              <a:t>Each</a:t>
            </a:r>
            <a:r>
              <a:rPr sz="2800" spc="-85" dirty="0"/>
              <a:t> </a:t>
            </a:r>
            <a:r>
              <a:rPr sz="2800" spc="-10" dirty="0"/>
              <a:t>Other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51382" y="2359888"/>
            <a:ext cx="3510279" cy="172212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47320" indent="-134620">
              <a:lnSpc>
                <a:spcPct val="100000"/>
              </a:lnSpc>
              <a:spcBef>
                <a:spcPts val="1035"/>
              </a:spcBef>
              <a:buChar char="-"/>
              <a:tabLst>
                <a:tab pos="147320" algn="l"/>
              </a:tabLst>
            </a:pPr>
            <a:r>
              <a:rPr sz="2000" spc="-10" dirty="0">
                <a:solidFill>
                  <a:srgbClr val="585858"/>
                </a:solidFill>
                <a:latin typeface="Calibri"/>
                <a:cs typeface="Calibri"/>
              </a:rPr>
              <a:t>Name:</a:t>
            </a:r>
            <a:endParaRPr sz="2000" dirty="0">
              <a:latin typeface="Calibri"/>
              <a:cs typeface="Calibri"/>
            </a:endParaRPr>
          </a:p>
          <a:p>
            <a:pPr marL="147320" indent="-134620">
              <a:lnSpc>
                <a:spcPct val="100000"/>
              </a:lnSpc>
              <a:spcBef>
                <a:spcPts val="935"/>
              </a:spcBef>
              <a:buChar char="-"/>
              <a:tabLst>
                <a:tab pos="147320" algn="l"/>
              </a:tabLst>
            </a:pP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Occupation</a:t>
            </a:r>
            <a:r>
              <a:rPr sz="2000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Department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/title</a:t>
            </a:r>
            <a:r>
              <a:rPr sz="20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47320" indent="-134620">
              <a:lnSpc>
                <a:spcPct val="100000"/>
              </a:lnSpc>
              <a:spcBef>
                <a:spcPts val="950"/>
              </a:spcBef>
              <a:buChar char="-"/>
              <a:tabLst>
                <a:tab pos="147320" algn="l"/>
              </a:tabLst>
            </a:pPr>
            <a:r>
              <a:rPr sz="2000" spc="-30" dirty="0">
                <a:solidFill>
                  <a:srgbClr val="585858"/>
                </a:solidFill>
                <a:latin typeface="Calibri"/>
                <a:cs typeface="Calibri"/>
              </a:rPr>
              <a:t>Years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experience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Where</a:t>
            </a:r>
            <a:r>
              <a:rPr sz="20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libri"/>
                <a:cs typeface="Calibri"/>
              </a:rPr>
              <a:t>?: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240665" algn="l"/>
              </a:tabLst>
            </a:pPr>
            <a:r>
              <a:rPr sz="2000" spc="-20" dirty="0">
                <a:solidFill>
                  <a:srgbClr val="585858"/>
                </a:solidFill>
                <a:latin typeface="Calibri"/>
                <a:cs typeface="Calibri"/>
              </a:rPr>
              <a:t>Your</a:t>
            </a:r>
            <a:r>
              <a:rPr sz="2000" spc="-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libri"/>
                <a:cs typeface="Calibri"/>
              </a:rPr>
              <a:t>Expectation: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057400"/>
            <a:ext cx="4973951" cy="3309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Training</a:t>
            </a:r>
            <a:r>
              <a:rPr sz="2800" spc="-180" dirty="0"/>
              <a:t> </a:t>
            </a:r>
            <a:r>
              <a:rPr sz="2800" spc="-10" dirty="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742" y="1102308"/>
            <a:ext cx="59861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After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finalizing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this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able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623" y="1805202"/>
            <a:ext cx="8153777" cy="3808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 smtClean="0">
                <a:solidFill>
                  <a:schemeClr val="tx1"/>
                </a:solidFill>
                <a:latin typeface="Calibri"/>
                <a:cs typeface="Calibri"/>
              </a:rPr>
              <a:t>Workplace </a:t>
            </a: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Etiquette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Demonstrate professional conduct in physical and virtual settings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ar-EG" sz="2000" dirty="0" smtClean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Communication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Practice active listening and communicate ideas clearly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Professional Ethics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Understand the importance of integrity, confidentiality, and accountability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Time Management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Prioritize tasks effectively and plan their workday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ar-EG" sz="2000" dirty="0" smtClean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Problem Solving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Apply a structured approach to identify and solve workplace problems.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4191000"/>
            <a:ext cx="2971800" cy="20258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https://afathelbab.github.io/cnpc/computer-basics-soft-skills/day1/quiz.html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84" y="1649298"/>
            <a:ext cx="3962400" cy="396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28600"/>
            <a:ext cx="346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31645" algn="l"/>
              </a:tabLst>
            </a:pPr>
            <a:r>
              <a:rPr lang="en-US" sz="2800" dirty="0" smtClean="0"/>
              <a:t>Quiz </a:t>
            </a:r>
            <a:r>
              <a:rPr sz="2800" spc="-10" dirty="0" smtClean="0"/>
              <a:t>Reflection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37082" y="2358593"/>
            <a:ext cx="5652135" cy="29476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 full mark?</a:t>
            </a:r>
            <a:r>
              <a:rPr lang="ar-EG" sz="2000" dirty="0" smtClean="0">
                <a:latin typeface="Arial MT"/>
                <a:cs typeface="Arial MT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ar-EG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got more than 50% correct?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them all wrong?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It’s </a:t>
            </a:r>
            <a:r>
              <a:rPr lang="en-US" sz="2400" b="1" dirty="0" smtClean="0">
                <a:solidFill>
                  <a:srgbClr val="00B050"/>
                </a:solidFill>
                <a:latin typeface="Arial MT"/>
                <a:cs typeface="Arial MT"/>
              </a:rPr>
              <a:t>OK</a:t>
            </a:r>
            <a:r>
              <a:rPr lang="en-US" sz="2000" dirty="0" smtClean="0">
                <a:latin typeface="Arial MT"/>
                <a:cs typeface="Arial MT"/>
              </a:rPr>
              <a:t> either way 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1: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/>
              <a:t>Professional </a:t>
            </a:r>
            <a:r>
              <a:rPr lang="en-US" sz="5400" dirty="0" smtClean="0"/>
              <a:t>Communication</a:t>
            </a: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0511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1: </a:t>
            </a:r>
            <a:r>
              <a:rPr lang="en-US" sz="2800" dirty="0" smtClean="0"/>
              <a:t>Professional Communication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19672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Active Listening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0085" y="1831671"/>
            <a:ext cx="6248400" cy="50783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Active listening means you are fully focused on and engaged with what the other person is saying.</a:t>
            </a:r>
            <a:endParaRPr lang="ar-BH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Pay Attention:</a:t>
            </a:r>
            <a:r>
              <a:rPr lang="en-US" dirty="0" smtClean="0"/>
              <a:t> Put your phone away. Make eye contact. Avoid side-conversations (in person or in chat).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Show You're Listening:</a:t>
            </a:r>
            <a:r>
              <a:rPr lang="en-US" dirty="0" smtClean="0"/>
              <a:t> Nod, use small verbal cues like "I see" or "uh-huh."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Paraphrase and Confirm:</a:t>
            </a:r>
            <a:r>
              <a:rPr lang="en-US" dirty="0" smtClean="0"/>
              <a:t> To ensure you understand, repeat their main point back to them.</a:t>
            </a:r>
          </a:p>
          <a:p>
            <a:pPr lvl="1"/>
            <a:r>
              <a:rPr lang="en-US" i="1" dirty="0" smtClean="0">
                <a:solidFill>
                  <a:schemeClr val="bg1">
                    <a:lumMod val="65000"/>
                  </a:schemeClr>
                </a:solidFill>
              </a:rPr>
              <a:t>Example: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"So, if I'm understanding correctly, you need the report by 3 PM, and you want it to focus only on the sales data from last quarter?“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Ask Clarifying Questions:</a:t>
            </a:r>
            <a:r>
              <a:rPr lang="en-US" dirty="0" smtClean="0"/>
              <a:t> "When you say 'ASAP,' what is the exact deadline you have in mind?"</a:t>
            </a:r>
          </a:p>
          <a:p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16" y="2209800"/>
            <a:ext cx="4999416" cy="4191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36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1: </a:t>
            </a:r>
            <a:r>
              <a:rPr lang="en-US" sz="2800" dirty="0" smtClean="0"/>
              <a:t>Professional Communication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9546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Effective Communication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7696200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Think Before You Speak (or Type):</a:t>
            </a:r>
            <a:r>
              <a:rPr lang="en-US" dirty="0" smtClean="0"/>
              <a:t> What is the </a:t>
            </a:r>
            <a:r>
              <a:rPr lang="en-US" i="1" dirty="0" smtClean="0"/>
              <a:t>one</a:t>
            </a:r>
            <a:r>
              <a:rPr lang="en-US" dirty="0" smtClean="0"/>
              <a:t> main point you need to get across?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Be Concise:</a:t>
            </a:r>
            <a:r>
              <a:rPr lang="en-US" dirty="0" smtClean="0"/>
              <a:t> Avoid rambling. Get to the point quickly and professionally.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Avoid Jargon:</a:t>
            </a:r>
            <a:r>
              <a:rPr lang="en-US" dirty="0" smtClean="0"/>
              <a:t> Don't use company acronyms or technical terms unless you are sure the other person understands them.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Mind Your Tone:</a:t>
            </a:r>
            <a:r>
              <a:rPr lang="en-US" dirty="0" smtClean="0"/>
              <a:t> In emails and chats, your tone isn't obvious. Use professional language, and avoid all-caps (which sounds like SHOUTING!).</a:t>
            </a:r>
          </a:p>
          <a:p>
            <a:endParaRPr lang="ar-E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5" y="3200400"/>
            <a:ext cx="409043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7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</a:t>
            </a:r>
            <a:r>
              <a:rPr lang="en-US" sz="5400" dirty="0" smtClean="0"/>
              <a:t>2: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/>
              <a:t>Workplace </a:t>
            </a:r>
            <a:r>
              <a:rPr lang="en-US" sz="5400" dirty="0" smtClean="0"/>
              <a:t>Etiquette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4264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Workplace Etiquette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51863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 the Physical Office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1981200"/>
            <a:ext cx="59436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Punctuality:</a:t>
            </a:r>
            <a:r>
              <a:rPr lang="en-US" sz="1600" dirty="0" smtClean="0"/>
              <a:t> Be on time for work and for any in-person meetings.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Shared Spaces:</a:t>
            </a:r>
            <a:r>
              <a:rPr lang="en-US" sz="1600" dirty="0" smtClean="0"/>
              <a:t> Keep common areas (breakroom, kitchen, meeting rooms) clean. If you make a mess, clean it up.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Noise Level:</a:t>
            </a:r>
            <a:r>
              <a:rPr lang="en-US" sz="1600" dirty="0" smtClean="0"/>
              <a:t> Be mindful of your voice volume, especially in open-plan offices. Take personal calls in a private area.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Dress Code:</a:t>
            </a:r>
            <a:r>
              <a:rPr lang="en-US" sz="1600" dirty="0" smtClean="0"/>
              <a:t> Follow the company's dress code policy.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371600"/>
            <a:ext cx="4385733" cy="2466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484" y="4267200"/>
            <a:ext cx="4632764" cy="18165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354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Workplace Etiquette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504497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 the Virtual Workplace (Teams, Zoom, etc.)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2048113"/>
            <a:ext cx="63246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 on Time: </a:t>
            </a:r>
            <a:r>
              <a:rPr lang="en-US" sz="1600" dirty="0" smtClean="0"/>
              <a:t>Punctuality is just as important in virtual meetings.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Mute Yourself: </a:t>
            </a:r>
            <a:r>
              <a:rPr lang="en-US" sz="1600" dirty="0" smtClean="0"/>
              <a:t>Always mute your microphone when you are not speaking to avoid background noise.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Camera On (If It's the Norm): </a:t>
            </a:r>
            <a:r>
              <a:rPr lang="en-US" sz="1600" dirty="0" smtClean="0"/>
              <a:t>Check with your manager, but many teams prefer cameras on to improve engagement.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 Aware of Your Background: </a:t>
            </a:r>
            <a:r>
              <a:rPr lang="en-US" sz="1600" dirty="0" smtClean="0"/>
              <a:t>Make sure your background is clean and work-appropriate. Use a virtual background if needed.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Use the "Raise Hand" Feature: </a:t>
            </a:r>
            <a:r>
              <a:rPr lang="en-US" sz="1600" dirty="0" smtClean="0"/>
              <a:t>In larger meetings, use the "Raise Hand" button instead of interrupting.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158" y="2290929"/>
            <a:ext cx="4529328" cy="30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6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</a:t>
            </a:r>
            <a:r>
              <a:rPr lang="en-US" sz="5400" dirty="0" smtClean="0"/>
              <a:t>3: 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 smtClean="0"/>
              <a:t>Professional </a:t>
            </a:r>
            <a:r>
              <a:rPr lang="en-US" sz="5400" dirty="0"/>
              <a:t>Ethics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3016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</a:t>
            </a:r>
            <a:r>
              <a:rPr lang="en-US" sz="2800" dirty="0"/>
              <a:t>Professional Ethics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3522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Professional Ethics?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81100" y="1858089"/>
            <a:ext cx="73152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b="1" dirty="0" smtClean="0"/>
              <a:t>Ethics are the moral principles that guide your behavior at work.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Integrity: </a:t>
            </a:r>
            <a:r>
              <a:rPr lang="en-US" sz="1600" dirty="0" smtClean="0"/>
              <a:t>Doing the right thing, even when no one is watching. This means being honest in your work, your timesheets, and your communications.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Confidentiality: </a:t>
            </a:r>
            <a:r>
              <a:rPr lang="en-US" sz="1600" dirty="0" smtClean="0"/>
              <a:t>This is critical. You will have access to information that is not public.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00200" y="3991927"/>
            <a:ext cx="73152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sz="1600" b="1" dirty="0" smtClean="0"/>
              <a:t>Do Not Share: </a:t>
            </a:r>
            <a:r>
              <a:rPr lang="en-US" sz="1600" dirty="0" smtClean="0"/>
              <a:t>Client lists, financial data, product plans, or personal employee information (like salaries).</a:t>
            </a:r>
          </a:p>
          <a:p>
            <a:pPr marL="285750" lvl="8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sz="1600" b="1" dirty="0" smtClean="0"/>
              <a:t>Action: </a:t>
            </a:r>
            <a:r>
              <a:rPr lang="en-US" sz="1600" dirty="0" smtClean="0"/>
              <a:t>If you see a document marked "Confidential" left on a printer, secure it and return it to the owner or report it to your manager.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99" y="3950970"/>
            <a:ext cx="3699087" cy="2590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017" y="1619771"/>
            <a:ext cx="3914775" cy="25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8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</a:t>
            </a:r>
            <a:r>
              <a:rPr lang="en-US" sz="2800" dirty="0"/>
              <a:t>Professional Ethics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3522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Professional Ethics?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81100" y="1817132"/>
            <a:ext cx="73152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b="1" dirty="0" smtClean="0"/>
              <a:t>Ethics are the moral principles that guide your behavior at work.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Accountability:</a:t>
            </a:r>
            <a:r>
              <a:rPr lang="en-US" sz="1600" dirty="0" smtClean="0"/>
              <a:t> Taking ownership of your responsibilities.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81100" y="4237166"/>
            <a:ext cx="63627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Respect:</a:t>
            </a:r>
            <a:r>
              <a:rPr lang="en-US" sz="1600" dirty="0" smtClean="0"/>
              <a:t> Treat all colleagues, managers, and clients with respect and professionalism, regardless of their role, background, or opinions.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447800" y="312420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If you make a mistake, don't hide it or blame someone else.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Report the mistake to your manager, and be part of the solution. This builds trust.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4495800"/>
            <a:ext cx="4576570" cy="19597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919287"/>
            <a:ext cx="4479229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7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1718102"/>
            <a:ext cx="7467600" cy="35709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4: </a:t>
            </a:r>
            <a:br>
              <a:rPr lang="en-US" sz="5400" dirty="0" smtClean="0"/>
            </a:br>
            <a:r>
              <a:rPr lang="en-US" sz="5400" dirty="0"/>
              <a:t>Time Management &amp; Productivity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7217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7543800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4</a:t>
            </a:r>
            <a:r>
              <a:rPr lang="en-US" sz="2400" dirty="0"/>
              <a:t>: Time Management &amp; Productivity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Prioritization: The Eisenhower Matrix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064703" y="2971800"/>
            <a:ext cx="415499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/>
              <a:t>You can't do everything at once. </a:t>
            </a:r>
          </a:p>
          <a:p>
            <a:r>
              <a:rPr lang="en-US" sz="1600" dirty="0" smtClean="0"/>
              <a:t>You must prioritize. </a:t>
            </a:r>
          </a:p>
          <a:p>
            <a:r>
              <a:rPr lang="en-US" sz="1600" dirty="0" smtClean="0"/>
              <a:t>A simple method is the </a:t>
            </a:r>
            <a:r>
              <a:rPr lang="en-US" sz="1600" b="1" dirty="0" smtClean="0"/>
              <a:t>Eisenhower Matrix</a:t>
            </a:r>
            <a:r>
              <a:rPr lang="en-US" sz="1600" dirty="0" smtClean="0"/>
              <a:t>, which divides tasks into four categories: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776724"/>
            <a:ext cx="5040868" cy="50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7543800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4</a:t>
            </a:r>
            <a:r>
              <a:rPr lang="en-US" sz="2400" dirty="0"/>
              <a:t>: Time Management &amp; Productivity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Prioritization: The Eisenhower Matrix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02803" y="2133600"/>
            <a:ext cx="53431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>
                <a:solidFill>
                  <a:srgbClr val="0070C0"/>
                </a:solidFill>
              </a:rPr>
              <a:t>Quadrant 1: Urgent &amp; Important (DO): </a:t>
            </a:r>
            <a:br>
              <a:rPr lang="en-US" sz="1600" b="1" dirty="0" smtClean="0">
                <a:solidFill>
                  <a:srgbClr val="0070C0"/>
                </a:solidFill>
              </a:rPr>
            </a:br>
            <a:r>
              <a:rPr lang="en-US" sz="1600" dirty="0" smtClean="0"/>
              <a:t>Crises, deadlines, immediate problems. Do these first.</a:t>
            </a:r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70C0"/>
                </a:solidFill>
              </a:rPr>
              <a:t>Quadrant 2: Not Urgent &amp; Important (SCHEDULE): </a:t>
            </a:r>
            <a:br>
              <a:rPr lang="en-US" sz="1600" b="1" dirty="0" smtClean="0">
                <a:solidFill>
                  <a:srgbClr val="0070C0"/>
                </a:solidFill>
              </a:rPr>
            </a:br>
            <a:r>
              <a:rPr lang="en-US" sz="1600" dirty="0" smtClean="0"/>
              <a:t>Long-term planning, relationship building, professional development. This is where you should spend most of your time. Schedule it on your calendar.</a:t>
            </a:r>
            <a:endParaRPr lang="ar-BH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70C0"/>
                </a:solidFill>
              </a:rPr>
              <a:t>Quadrant 3: Urgent &amp; Not Important (DELEGATE):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dirty="0" smtClean="0"/>
              <a:t>Interruptions, some emails, certain meetings. These feel urgent but don't help you reach your goals. Can you delegate or politely decline?</a:t>
            </a:r>
            <a:endParaRPr lang="ar-BH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70C0"/>
                </a:solidFill>
              </a:rPr>
              <a:t>Quadrant 4: Not Urgent &amp; Not Important (DELETE):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dirty="0" smtClean="0"/>
              <a:t>Trivial tasks, time-wasters. Avoid or delete these.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776724"/>
            <a:ext cx="5040868" cy="50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8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7543800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4</a:t>
            </a:r>
            <a:r>
              <a:rPr lang="en-US" sz="2400" dirty="0"/>
              <a:t>: Time Management &amp; Productivity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23651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Planning Your Day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02803" y="2133601"/>
            <a:ext cx="53431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Don't just react to emails. Start your day with a plan.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Make a To-Do List: </a:t>
            </a:r>
            <a:r>
              <a:rPr lang="en-US" sz="1600" dirty="0" smtClean="0">
                <a:solidFill>
                  <a:schemeClr val="tx1"/>
                </a:solidFill>
              </a:rPr>
              <a:t>At the end of each day (or first thing in the morning), write down the 3-5 most important things you need to accomplish.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Time Blocking: </a:t>
            </a:r>
            <a:r>
              <a:rPr lang="en-US" sz="1600" dirty="0" smtClean="0">
                <a:solidFill>
                  <a:schemeClr val="tx1"/>
                </a:solidFill>
              </a:rPr>
              <a:t>Open your Outlook Calendar and block off time for your important tasks (from Quadrant 2).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bg1">
                    <a:lumMod val="65000"/>
                  </a:schemeClr>
                </a:solidFill>
              </a:rPr>
              <a:t>9:00 - 10:00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</a:rPr>
              <a:t>: Review and respond to urgent emails.</a:t>
            </a:r>
          </a:p>
          <a:p>
            <a:pPr marL="285750" lvl="2" indent="-285750"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bg1">
                    <a:lumMod val="65000"/>
                  </a:schemeClr>
                </a:solidFill>
              </a:rPr>
              <a:t>10:00 - 11:30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</a:rPr>
              <a:t>: "Focus Time: Draft Project X Report“</a:t>
            </a:r>
          </a:p>
          <a:p>
            <a:pPr marL="285750" lvl="2" indent="-285750"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bg1">
                    <a:lumMod val="65000"/>
                  </a:schemeClr>
                </a:solidFill>
              </a:rPr>
              <a:t>11:30 - 12:00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</a:rPr>
              <a:t>: Check emails again.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Protect Your Focus: </a:t>
            </a:r>
            <a:r>
              <a:rPr lang="en-US" sz="1600" dirty="0" smtClean="0">
                <a:solidFill>
                  <a:schemeClr val="tx1"/>
                </a:solidFill>
              </a:rPr>
              <a:t>Turn off email and chat notifications during your "Focus Time" blocks.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574" y="1439008"/>
            <a:ext cx="6013218" cy="50408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91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4: Time Management &amp; Productivity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Which of the four quadrants (Do, Schedule, Delegate, Delete) do you think is the hardest to manage? Why?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it important to "schedule" time for your own important work, not just for meetings?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6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5: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75431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8910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 Structured Approach to Problem Solving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0777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Problems will come up. It's a normal part of work. </a:t>
            </a:r>
          </a:p>
          <a:p>
            <a:r>
              <a:rPr lang="en-US" sz="1600" dirty="0" smtClean="0"/>
              <a:t>The key isn't to avoid problems, but to have a clear method for solving them effectively.</a:t>
            </a:r>
          </a:p>
          <a:p>
            <a:endParaRPr lang="en-US" sz="1600" dirty="0"/>
          </a:p>
          <a:p>
            <a:r>
              <a:rPr lang="en-US" sz="1600" dirty="0" smtClean="0"/>
              <a:t>Here is a simple 4-step approach you can apply to almost any workplace problem.</a:t>
            </a:r>
          </a:p>
          <a:p>
            <a:endParaRPr lang="en-US" sz="1600" dirty="0"/>
          </a:p>
          <a:p>
            <a:r>
              <a:rPr lang="en-US" sz="1600" dirty="0" smtClean="0"/>
              <a:t>1. </a:t>
            </a:r>
            <a:r>
              <a:rPr lang="en-US" sz="1600" b="1" dirty="0" smtClean="0"/>
              <a:t>Define the Real Problem</a:t>
            </a:r>
          </a:p>
          <a:p>
            <a:r>
              <a:rPr lang="en-US" sz="1600" dirty="0" smtClean="0"/>
              <a:t>2. </a:t>
            </a:r>
            <a:r>
              <a:rPr lang="en-US" sz="1600" b="1" dirty="0" smtClean="0"/>
              <a:t>Brainstorm Potential Solutions</a:t>
            </a:r>
          </a:p>
          <a:p>
            <a:r>
              <a:rPr lang="en-US" sz="1600" dirty="0" smtClean="0"/>
              <a:t>3. </a:t>
            </a:r>
            <a:r>
              <a:rPr lang="en-US" sz="1600" b="1" dirty="0" smtClean="0"/>
              <a:t>Evaluate and Choose a Solution</a:t>
            </a:r>
          </a:p>
          <a:p>
            <a:r>
              <a:rPr lang="en-US" sz="1600" dirty="0" smtClean="0"/>
              <a:t>4. </a:t>
            </a:r>
            <a:r>
              <a:rPr lang="en-US" sz="1600" b="1" dirty="0" smtClean="0"/>
              <a:t>Implement and Review</a:t>
            </a:r>
          </a:p>
          <a:p>
            <a:endParaRPr lang="ar-EG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743200"/>
            <a:ext cx="5372100" cy="35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5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28392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Define the Real Problem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1492" y="2813355"/>
            <a:ext cx="6285108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Don't just fix the symptom; find the root cause.</a:t>
            </a:r>
          </a:p>
          <a:p>
            <a:endParaRPr lang="en-US" sz="1600" dirty="0" smtClean="0"/>
          </a:p>
          <a:p>
            <a:r>
              <a:rPr lang="en-US" sz="1600" b="1" dirty="0" smtClean="0"/>
              <a:t>Symptom:</a:t>
            </a:r>
            <a:r>
              <a:rPr lang="en-US" sz="1600" dirty="0" smtClean="0"/>
              <a:t> "A critical pump (P-101) is down, stopping production.“</a:t>
            </a:r>
          </a:p>
          <a:p>
            <a:endParaRPr lang="en-US" sz="1600" dirty="0" smtClean="0"/>
          </a:p>
          <a:p>
            <a:r>
              <a:rPr lang="en-US" sz="1600" b="1" dirty="0" smtClean="0"/>
              <a:t>Real Problem:</a:t>
            </a:r>
            <a:r>
              <a:rPr lang="en-US" sz="1600" dirty="0" smtClean="0"/>
              <a:t> "The scheduled preventive maintenance (PM) wasn't done.“</a:t>
            </a:r>
          </a:p>
          <a:p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0"/>
          <a:stretch/>
        </p:blipFill>
        <p:spPr>
          <a:xfrm>
            <a:off x="7330083" y="1652519"/>
            <a:ext cx="4581741" cy="451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5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28392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Define the Real Problem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524" y="1934289"/>
            <a:ext cx="6720872" cy="427809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Root Cause (Keep asking "Why?"):</a:t>
            </a:r>
          </a:p>
          <a:p>
            <a:endParaRPr lang="en-US" sz="1600" dirty="0" smtClean="0"/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1. Why was the PM not done?</a:t>
            </a:r>
            <a:r>
              <a:rPr lang="en-US" sz="1600" dirty="0" smtClean="0"/>
              <a:t> </a:t>
            </a:r>
            <a:br>
              <a:rPr lang="en-US" sz="1600" dirty="0" smtClean="0"/>
            </a:br>
            <a:r>
              <a:rPr lang="en-US" sz="1600" dirty="0" smtClean="0"/>
              <a:t>"The maintenance team didn't have the filter replacement part."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2.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"The part wasn't ordered."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3. Why?</a:t>
            </a:r>
            <a:br>
              <a:rPr lang="en-US" sz="1600" b="1" i="1" dirty="0" smtClean="0">
                <a:solidFill>
                  <a:srgbClr val="2D5395"/>
                </a:solidFill>
              </a:rPr>
            </a:br>
            <a:r>
              <a:rPr lang="en-US" sz="1600" dirty="0" smtClean="0"/>
              <a:t> "The inventory system </a:t>
            </a:r>
            <a:r>
              <a:rPr lang="en-US" sz="1600" i="1" dirty="0" smtClean="0"/>
              <a:t>said</a:t>
            </a:r>
            <a:r>
              <a:rPr lang="en-US" sz="1600" dirty="0" smtClean="0"/>
              <a:t> we had 2 in stock, but the shelf was empty."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4.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"The last part was used for an emergency repair on P-102, and the inventory wasn't updated."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5.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br>
              <a:rPr lang="en-US" sz="1600" b="1" dirty="0" smtClean="0">
                <a:solidFill>
                  <a:srgbClr val="2D5395"/>
                </a:solidFill>
              </a:rPr>
            </a:br>
            <a:r>
              <a:rPr lang="en-US" sz="1600" dirty="0" smtClean="0"/>
              <a:t>"The technician who took the part was covering a night shift and forgot to log the removal in the system."</a:t>
            </a:r>
          </a:p>
          <a:p>
            <a:pPr lvl="1"/>
            <a:endParaRPr lang="en-US" sz="1600" dirty="0" smtClean="0"/>
          </a:p>
          <a:p>
            <a:pPr lvl="1"/>
            <a:r>
              <a:rPr lang="en-US" sz="1600" b="1" dirty="0" smtClean="0"/>
              <a:t>Root Cause:</a:t>
            </a:r>
            <a:r>
              <a:rPr lang="en-US" sz="1600" dirty="0" smtClean="0"/>
              <a:t> "Our process for removing inventory on off-hours is not being followed."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0"/>
          <a:stretch/>
        </p:blipFill>
        <p:spPr>
          <a:xfrm>
            <a:off x="7534396" y="1447801"/>
            <a:ext cx="4673646" cy="461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8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57020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Brainstorm Potential Solutions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61722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Now that you know the root cause, what are some ways to fix it?</a:t>
            </a:r>
          </a:p>
          <a:p>
            <a:endParaRPr lang="en-US" dirty="0" smtClean="0"/>
          </a:p>
          <a:p>
            <a:r>
              <a:rPr lang="en-US" dirty="0" smtClean="0"/>
              <a:t>Don't judge ideas at this stage. Write everything down.</a:t>
            </a:r>
          </a:p>
          <a:p>
            <a:endParaRPr lang="en-US" dirty="0" smtClean="0"/>
          </a:p>
          <a:p>
            <a:r>
              <a:rPr lang="en-US" i="1" dirty="0" smtClean="0"/>
              <a:t>Example (for the root cause above):</a:t>
            </a:r>
          </a:p>
          <a:p>
            <a:endParaRPr lang="en-US" dirty="0" smtClean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Implement a barcode scanner at the warehouse door (Must scan part and badge).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Do a full re-training session on the inventory procedure.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Put a physical, mandatory sign-out sheet on the warehouse shelf for "after-hours" use.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Lock the parts warehouse after 5 PM; all parts must be requested from a supervisor.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482969"/>
            <a:ext cx="3825241" cy="38252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308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32766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Look at your list of solutions and pick the best one(s). </a:t>
            </a:r>
          </a:p>
          <a:p>
            <a:endParaRPr lang="en-US" dirty="0"/>
          </a:p>
          <a:p>
            <a:r>
              <a:rPr lang="en-US" dirty="0" smtClean="0"/>
              <a:t>A simple "Effort vs. Impact" matrix is a great tool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393" y="1632466"/>
            <a:ext cx="6024371" cy="338870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1471863" y="5119600"/>
          <a:ext cx="9533859" cy="1373530"/>
        </p:xfrm>
        <a:graphic>
          <a:graphicData uri="http://schemas.openxmlformats.org/drawingml/2006/table">
            <a:tbl>
              <a:tblPr firstRow="1" firstCol="1">
                <a:tableStyleId>{74C1A8A3-306A-4EB7-A6B1-4F7E0EB9C5D6}</a:tableStyleId>
              </a:tblPr>
              <a:tblGrid>
                <a:gridCol w="3177953">
                  <a:extLst>
                    <a:ext uri="{9D8B030D-6E8A-4147-A177-3AD203B41FA5}">
                      <a16:colId xmlns:a16="http://schemas.microsoft.com/office/drawing/2014/main" val="2539781089"/>
                    </a:ext>
                  </a:extLst>
                </a:gridCol>
                <a:gridCol w="3177953">
                  <a:extLst>
                    <a:ext uri="{9D8B030D-6E8A-4147-A177-3AD203B41FA5}">
                      <a16:colId xmlns:a16="http://schemas.microsoft.com/office/drawing/2014/main" val="2472403786"/>
                    </a:ext>
                  </a:extLst>
                </a:gridCol>
                <a:gridCol w="3177953">
                  <a:extLst>
                    <a:ext uri="{9D8B030D-6E8A-4147-A177-3AD203B41FA5}">
                      <a16:colId xmlns:a16="http://schemas.microsoft.com/office/drawing/2014/main" val="1620686823"/>
                    </a:ext>
                  </a:extLst>
                </a:gridCol>
              </a:tblGrid>
              <a:tr h="287934">
                <a:tc>
                  <a:txBody>
                    <a:bodyPr/>
                    <a:lstStyle/>
                    <a:p>
                      <a:endParaRPr lang="ar-EG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 </a:t>
                      </a:r>
                      <a:r>
                        <a:rPr lang="en-US" sz="1800" dirty="0" smtClean="0"/>
                        <a:t>Impact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 </a:t>
                      </a:r>
                      <a:r>
                        <a:rPr lang="en-US" sz="1800" dirty="0" smtClean="0"/>
                        <a:t>Impact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353787"/>
                  </a:ext>
                </a:extLst>
              </a:tr>
              <a:tr h="503885">
                <a:tc>
                  <a:txBody>
                    <a:bodyPr/>
                    <a:lstStyle/>
                    <a:p>
                      <a:r>
                        <a:rPr lang="en-US" sz="1800" dirty="0"/>
                        <a:t>High </a:t>
                      </a:r>
                      <a:r>
                        <a:rPr lang="en-US" sz="1800" dirty="0" smtClean="0"/>
                        <a:t>Effort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Thankless Tasks (Avoid these)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Fill-ins (Do if you have time)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702503"/>
                  </a:ext>
                </a:extLst>
              </a:tr>
              <a:tr h="503885">
                <a:tc>
                  <a:txBody>
                    <a:bodyPr/>
                    <a:lstStyle/>
                    <a:p>
                      <a:r>
                        <a:rPr lang="en-US" sz="1800" dirty="0"/>
                        <a:t>Low </a:t>
                      </a:r>
                      <a:r>
                        <a:rPr lang="en-US" sz="1800" dirty="0" smtClean="0"/>
                        <a:t>Effort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Major Projects (Plan these)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Quick Wins! (Do these first)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45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12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>
                <a:solidFill>
                  <a:srgbClr val="2D5395"/>
                </a:solidFill>
              </a:rPr>
              <a:t>Analysis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Barcode scanner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(High Effort, High Impact) -&gt; Major Project.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Re-training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(Medium Effort, Medium Impact)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Physical sign-out sheet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(Low Effort, High Impact) -&gt; Quick Win!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Lock warehouse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(High Effort, Low Impact) -&gt; Thankless Task (causes other problems).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905000"/>
            <a:ext cx="4496636" cy="3200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6380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>
                <a:solidFill>
                  <a:srgbClr val="2D5395"/>
                </a:solidFill>
              </a:rPr>
              <a:t>Decision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Let's 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 smtClean="0"/>
              <a:t>Add the physical sign-out sheet immediately (Quick Win)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</a:p>
          <a:p>
            <a:pPr marL="342900" indent="-342900">
              <a:buAutoNum type="arabicParenBoth"/>
            </a:pPr>
            <a:endParaRPr lang="en-US" dirty="0"/>
          </a:p>
          <a:p>
            <a:pPr marL="342900" indent="-342900">
              <a:buAutoNum type="arabicParenBoth"/>
            </a:pPr>
            <a:r>
              <a:rPr lang="en-US" dirty="0" smtClean="0"/>
              <a:t>schedule the barcode scanner as a long-term project.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905000"/>
            <a:ext cx="4496636" cy="3200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900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6725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Implement and Review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Put your chosen solution into action. But you're not done yet.</a:t>
            </a:r>
          </a:p>
          <a:p>
            <a:endParaRPr lang="en-US" dirty="0" smtClean="0"/>
          </a:p>
          <a:p>
            <a:r>
              <a:rPr lang="en-US" b="1" dirty="0" smtClean="0"/>
              <a:t>Implement:</a:t>
            </a:r>
            <a:r>
              <a:rPr lang="en-US" dirty="0" smtClean="0"/>
              <a:t> The warehouse manager creates and places the sign-out sheet. An email is sent to all supervisors about the new temporary rule.</a:t>
            </a:r>
          </a:p>
          <a:p>
            <a:endParaRPr lang="en-US" dirty="0" smtClean="0"/>
          </a:p>
          <a:p>
            <a:r>
              <a:rPr lang="en-US" b="1" dirty="0" smtClean="0"/>
              <a:t>Review:</a:t>
            </a:r>
            <a:r>
              <a:rPr lang="en-US" dirty="0" smtClean="0"/>
              <a:t> Check back in a month. Run an inventory report. "Have our 'system vs. actual' inventory counts improved?" If yes, it worked. If no, it didn't. This step is critical.</a:t>
            </a:r>
          </a:p>
          <a:p>
            <a:endParaRPr lang="en-US" dirty="0" smtClean="0"/>
          </a:p>
          <a:p>
            <a:r>
              <a:rPr lang="en-US" dirty="0" smtClean="0"/>
              <a:t>This structured process helps you avoid panic and find a solution that lasts.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125" y="2187499"/>
            <a:ext cx="4845988" cy="302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3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it so important to correctly define the problem (Step 1) before trying to brainstorm solutions (Step 2)?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Think of a simple, common problem (e.g., "We keep running out of printer paper in the breakroom"). How would you apply these 4 steps?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5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https://afathelbab.github.io/cnpc/computer-basics-soft-skills/day1/quiz.html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84" y="1649298"/>
            <a:ext cx="3962400" cy="3962400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 rot="19344576">
            <a:off x="3994338" y="810154"/>
            <a:ext cx="38862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ea typeface="+mj-ea"/>
                <a:cs typeface="Arial"/>
              </a:defRPr>
            </a:lvl1pPr>
          </a:lstStyle>
          <a:p>
            <a:pPr marL="2667000" algn="l">
              <a:spcBef>
                <a:spcPts val="95"/>
              </a:spcBef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Again!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13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789420"/>
            <a:chOff x="0" y="0"/>
            <a:chExt cx="12192000" cy="6789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211836"/>
              <a:ext cx="540060" cy="5440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7894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769734"/>
            </a:xfrm>
            <a:custGeom>
              <a:avLst/>
              <a:gdLst/>
              <a:ahLst/>
              <a:cxnLst/>
              <a:rect l="l" t="t" r="r" b="b"/>
              <a:pathLst>
                <a:path w="12192000" h="6769734">
                  <a:moveTo>
                    <a:pt x="0" y="6769606"/>
                  </a:moveTo>
                  <a:lnTo>
                    <a:pt x="12192000" y="676960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76960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98114" y="3109340"/>
            <a:ext cx="5859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245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You,</a:t>
            </a:r>
            <a:r>
              <a:rPr sz="3600" spc="-10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170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Niger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5321808" y="1053195"/>
            <a:ext cx="1548765" cy="4386580"/>
            <a:chOff x="5321808" y="1053195"/>
            <a:chExt cx="1548765" cy="4386580"/>
          </a:xfrm>
        </p:grpSpPr>
        <p:sp>
          <p:nvSpPr>
            <p:cNvPr id="8" name="object 8"/>
            <p:cNvSpPr/>
            <p:nvPr/>
          </p:nvSpPr>
          <p:spPr>
            <a:xfrm>
              <a:off x="5321808" y="1053195"/>
              <a:ext cx="1548765" cy="1113790"/>
            </a:xfrm>
            <a:custGeom>
              <a:avLst/>
              <a:gdLst/>
              <a:ahLst/>
              <a:cxnLst/>
              <a:rect l="l" t="t" r="r" b="b"/>
              <a:pathLst>
                <a:path w="1548765" h="1113789">
                  <a:moveTo>
                    <a:pt x="634749" y="989329"/>
                  </a:moveTo>
                  <a:lnTo>
                    <a:pt x="460628" y="989329"/>
                  </a:lnTo>
                  <a:lnTo>
                    <a:pt x="449855" y="1013460"/>
                  </a:lnTo>
                  <a:lnTo>
                    <a:pt x="440737" y="1038860"/>
                  </a:lnTo>
                  <a:lnTo>
                    <a:pt x="440358" y="1065529"/>
                  </a:lnTo>
                  <a:lnTo>
                    <a:pt x="455802" y="1093469"/>
                  </a:lnTo>
                  <a:lnTo>
                    <a:pt x="488311" y="1112519"/>
                  </a:lnTo>
                  <a:lnTo>
                    <a:pt x="529653" y="1113789"/>
                  </a:lnTo>
                  <a:lnTo>
                    <a:pt x="571853" y="1101089"/>
                  </a:lnTo>
                  <a:lnTo>
                    <a:pt x="606932" y="1078229"/>
                  </a:lnTo>
                  <a:lnTo>
                    <a:pt x="629027" y="1047750"/>
                  </a:lnTo>
                  <a:lnTo>
                    <a:pt x="637952" y="1013460"/>
                  </a:lnTo>
                  <a:lnTo>
                    <a:pt x="634749" y="989329"/>
                  </a:lnTo>
                  <a:close/>
                </a:path>
                <a:path w="1548765" h="1113789">
                  <a:moveTo>
                    <a:pt x="1072659" y="533400"/>
                  </a:moveTo>
                  <a:lnTo>
                    <a:pt x="246395" y="533400"/>
                  </a:lnTo>
                  <a:lnTo>
                    <a:pt x="288628" y="538479"/>
                  </a:lnTo>
                  <a:lnTo>
                    <a:pt x="327792" y="553719"/>
                  </a:lnTo>
                  <a:lnTo>
                    <a:pt x="361314" y="579119"/>
                  </a:lnTo>
                  <a:lnTo>
                    <a:pt x="384238" y="609600"/>
                  </a:lnTo>
                  <a:lnTo>
                    <a:pt x="398399" y="645160"/>
                  </a:lnTo>
                  <a:lnTo>
                    <a:pt x="416018" y="651510"/>
                  </a:lnTo>
                  <a:lnTo>
                    <a:pt x="461899" y="683260"/>
                  </a:lnTo>
                  <a:lnTo>
                    <a:pt x="492831" y="730250"/>
                  </a:lnTo>
                  <a:lnTo>
                    <a:pt x="498855" y="749300"/>
                  </a:lnTo>
                  <a:lnTo>
                    <a:pt x="516346" y="755650"/>
                  </a:lnTo>
                  <a:lnTo>
                    <a:pt x="562101" y="787400"/>
                  </a:lnTo>
                  <a:lnTo>
                    <a:pt x="586851" y="820419"/>
                  </a:lnTo>
                  <a:lnTo>
                    <a:pt x="601217" y="859789"/>
                  </a:lnTo>
                  <a:lnTo>
                    <a:pt x="619740" y="866139"/>
                  </a:lnTo>
                  <a:lnTo>
                    <a:pt x="653117" y="885189"/>
                  </a:lnTo>
                  <a:lnTo>
                    <a:pt x="690189" y="928369"/>
                  </a:lnTo>
                  <a:lnTo>
                    <a:pt x="710287" y="996950"/>
                  </a:lnTo>
                  <a:lnTo>
                    <a:pt x="708405" y="1033779"/>
                  </a:lnTo>
                  <a:lnTo>
                    <a:pt x="712559" y="1037589"/>
                  </a:lnTo>
                  <a:lnTo>
                    <a:pt x="721693" y="1047750"/>
                  </a:lnTo>
                  <a:lnTo>
                    <a:pt x="733232" y="1060450"/>
                  </a:lnTo>
                  <a:lnTo>
                    <a:pt x="744474" y="1071879"/>
                  </a:lnTo>
                  <a:lnTo>
                    <a:pt x="766927" y="1087119"/>
                  </a:lnTo>
                  <a:lnTo>
                    <a:pt x="792559" y="1092200"/>
                  </a:lnTo>
                  <a:lnTo>
                    <a:pt x="818215" y="1087119"/>
                  </a:lnTo>
                  <a:lnTo>
                    <a:pt x="840739" y="1071879"/>
                  </a:lnTo>
                  <a:lnTo>
                    <a:pt x="855545" y="1049019"/>
                  </a:lnTo>
                  <a:lnTo>
                    <a:pt x="860504" y="1023619"/>
                  </a:lnTo>
                  <a:lnTo>
                    <a:pt x="855581" y="998219"/>
                  </a:lnTo>
                  <a:lnTo>
                    <a:pt x="840739" y="976629"/>
                  </a:lnTo>
                  <a:lnTo>
                    <a:pt x="825543" y="960119"/>
                  </a:lnTo>
                  <a:lnTo>
                    <a:pt x="793559" y="924560"/>
                  </a:lnTo>
                  <a:lnTo>
                    <a:pt x="763194" y="889000"/>
                  </a:lnTo>
                  <a:lnTo>
                    <a:pt x="752855" y="868679"/>
                  </a:lnTo>
                  <a:lnTo>
                    <a:pt x="953429" y="868679"/>
                  </a:lnTo>
                  <a:lnTo>
                    <a:pt x="952003" y="867410"/>
                  </a:lnTo>
                  <a:lnTo>
                    <a:pt x="911923" y="830579"/>
                  </a:lnTo>
                  <a:lnTo>
                    <a:pt x="873557" y="791210"/>
                  </a:lnTo>
                  <a:lnTo>
                    <a:pt x="860170" y="768350"/>
                  </a:lnTo>
                  <a:lnTo>
                    <a:pt x="1081081" y="768350"/>
                  </a:lnTo>
                  <a:lnTo>
                    <a:pt x="1059243" y="744219"/>
                  </a:lnTo>
                  <a:lnTo>
                    <a:pt x="1023028" y="701039"/>
                  </a:lnTo>
                  <a:lnTo>
                    <a:pt x="1010412" y="676910"/>
                  </a:lnTo>
                  <a:lnTo>
                    <a:pt x="1216034" y="676910"/>
                  </a:lnTo>
                  <a:lnTo>
                    <a:pt x="1072659" y="533400"/>
                  </a:lnTo>
                  <a:close/>
                </a:path>
                <a:path w="1548765" h="1113789">
                  <a:moveTo>
                    <a:pt x="953429" y="868679"/>
                  </a:moveTo>
                  <a:lnTo>
                    <a:pt x="752855" y="868679"/>
                  </a:lnTo>
                  <a:lnTo>
                    <a:pt x="776037" y="883919"/>
                  </a:lnTo>
                  <a:lnTo>
                    <a:pt x="819911" y="924560"/>
                  </a:lnTo>
                  <a:lnTo>
                    <a:pt x="883157" y="988060"/>
                  </a:lnTo>
                  <a:lnTo>
                    <a:pt x="905589" y="1003300"/>
                  </a:lnTo>
                  <a:lnTo>
                    <a:pt x="931163" y="1008379"/>
                  </a:lnTo>
                  <a:lnTo>
                    <a:pt x="956738" y="1003300"/>
                  </a:lnTo>
                  <a:lnTo>
                    <a:pt x="979169" y="988060"/>
                  </a:lnTo>
                  <a:lnTo>
                    <a:pt x="994100" y="966469"/>
                  </a:lnTo>
                  <a:lnTo>
                    <a:pt x="999077" y="941069"/>
                  </a:lnTo>
                  <a:lnTo>
                    <a:pt x="994100" y="914400"/>
                  </a:lnTo>
                  <a:lnTo>
                    <a:pt x="979169" y="892810"/>
                  </a:lnTo>
                  <a:lnTo>
                    <a:pt x="978026" y="891539"/>
                  </a:lnTo>
                  <a:lnTo>
                    <a:pt x="972692" y="886460"/>
                  </a:lnTo>
                  <a:lnTo>
                    <a:pt x="970533" y="883919"/>
                  </a:lnTo>
                  <a:lnTo>
                    <a:pt x="953429" y="868679"/>
                  </a:lnTo>
                  <a:close/>
                </a:path>
                <a:path w="1548765" h="1113789">
                  <a:moveTo>
                    <a:pt x="531101" y="887729"/>
                  </a:moveTo>
                  <a:lnTo>
                    <a:pt x="352932" y="887729"/>
                  </a:lnTo>
                  <a:lnTo>
                    <a:pt x="344779" y="909319"/>
                  </a:lnTo>
                  <a:lnTo>
                    <a:pt x="337327" y="932179"/>
                  </a:lnTo>
                  <a:lnTo>
                    <a:pt x="336948" y="956310"/>
                  </a:lnTo>
                  <a:lnTo>
                    <a:pt x="350012" y="982979"/>
                  </a:lnTo>
                  <a:lnTo>
                    <a:pt x="375386" y="1000760"/>
                  </a:lnTo>
                  <a:lnTo>
                    <a:pt x="404510" y="1003300"/>
                  </a:lnTo>
                  <a:lnTo>
                    <a:pt x="434040" y="998219"/>
                  </a:lnTo>
                  <a:lnTo>
                    <a:pt x="460628" y="989329"/>
                  </a:lnTo>
                  <a:lnTo>
                    <a:pt x="634749" y="989329"/>
                  </a:lnTo>
                  <a:lnTo>
                    <a:pt x="633400" y="979169"/>
                  </a:lnTo>
                  <a:lnTo>
                    <a:pt x="615061" y="948689"/>
                  </a:lnTo>
                  <a:lnTo>
                    <a:pt x="595760" y="934719"/>
                  </a:lnTo>
                  <a:lnTo>
                    <a:pt x="580878" y="929639"/>
                  </a:lnTo>
                  <a:lnTo>
                    <a:pt x="525144" y="929639"/>
                  </a:lnTo>
                  <a:lnTo>
                    <a:pt x="531332" y="905510"/>
                  </a:lnTo>
                  <a:lnTo>
                    <a:pt x="531101" y="887729"/>
                  </a:lnTo>
                  <a:close/>
                </a:path>
                <a:path w="1548765" h="1113789">
                  <a:moveTo>
                    <a:pt x="549445" y="925829"/>
                  </a:moveTo>
                  <a:lnTo>
                    <a:pt x="525144" y="929639"/>
                  </a:lnTo>
                  <a:lnTo>
                    <a:pt x="580878" y="929639"/>
                  </a:lnTo>
                  <a:lnTo>
                    <a:pt x="573436" y="927100"/>
                  </a:lnTo>
                  <a:lnTo>
                    <a:pt x="549445" y="925829"/>
                  </a:lnTo>
                  <a:close/>
                </a:path>
                <a:path w="1548765" h="1113789">
                  <a:moveTo>
                    <a:pt x="1081081" y="768350"/>
                  </a:moveTo>
                  <a:lnTo>
                    <a:pt x="860170" y="768350"/>
                  </a:lnTo>
                  <a:lnTo>
                    <a:pt x="888642" y="784860"/>
                  </a:lnTo>
                  <a:lnTo>
                    <a:pt x="942403" y="830579"/>
                  </a:lnTo>
                  <a:lnTo>
                    <a:pt x="994544" y="876300"/>
                  </a:lnTo>
                  <a:lnTo>
                    <a:pt x="1018158" y="897889"/>
                  </a:lnTo>
                  <a:lnTo>
                    <a:pt x="1040278" y="911860"/>
                  </a:lnTo>
                  <a:lnTo>
                    <a:pt x="1089757" y="910589"/>
                  </a:lnTo>
                  <a:lnTo>
                    <a:pt x="1125577" y="875029"/>
                  </a:lnTo>
                  <a:lnTo>
                    <a:pt x="1130776" y="850900"/>
                  </a:lnTo>
                  <a:lnTo>
                    <a:pt x="1127164" y="826769"/>
                  </a:lnTo>
                  <a:lnTo>
                    <a:pt x="1114932" y="805179"/>
                  </a:lnTo>
                  <a:lnTo>
                    <a:pt x="1097172" y="786129"/>
                  </a:lnTo>
                  <a:lnTo>
                    <a:pt x="1081081" y="768350"/>
                  </a:lnTo>
                  <a:close/>
                </a:path>
                <a:path w="1548765" h="1113789">
                  <a:moveTo>
                    <a:pt x="430004" y="783589"/>
                  </a:moveTo>
                  <a:lnTo>
                    <a:pt x="252349" y="783589"/>
                  </a:lnTo>
                  <a:lnTo>
                    <a:pt x="244236" y="805179"/>
                  </a:lnTo>
                  <a:lnTo>
                    <a:pt x="236600" y="828039"/>
                  </a:lnTo>
                  <a:lnTo>
                    <a:pt x="236204" y="852169"/>
                  </a:lnTo>
                  <a:lnTo>
                    <a:pt x="249808" y="878839"/>
                  </a:lnTo>
                  <a:lnTo>
                    <a:pt x="274655" y="897889"/>
                  </a:lnTo>
                  <a:lnTo>
                    <a:pt x="301609" y="900429"/>
                  </a:lnTo>
                  <a:lnTo>
                    <a:pt x="328443" y="894079"/>
                  </a:lnTo>
                  <a:lnTo>
                    <a:pt x="352932" y="887729"/>
                  </a:lnTo>
                  <a:lnTo>
                    <a:pt x="531101" y="887729"/>
                  </a:lnTo>
                  <a:lnTo>
                    <a:pt x="509650" y="838200"/>
                  </a:lnTo>
                  <a:lnTo>
                    <a:pt x="471455" y="816610"/>
                  </a:lnTo>
                  <a:lnTo>
                    <a:pt x="426974" y="816610"/>
                  </a:lnTo>
                  <a:lnTo>
                    <a:pt x="430748" y="795019"/>
                  </a:lnTo>
                  <a:lnTo>
                    <a:pt x="430004" y="783589"/>
                  </a:lnTo>
                  <a:close/>
                </a:path>
                <a:path w="1548765" h="1113789">
                  <a:moveTo>
                    <a:pt x="449500" y="814069"/>
                  </a:moveTo>
                  <a:lnTo>
                    <a:pt x="426974" y="816610"/>
                  </a:lnTo>
                  <a:lnTo>
                    <a:pt x="471455" y="816610"/>
                  </a:lnTo>
                  <a:lnTo>
                    <a:pt x="449500" y="814069"/>
                  </a:lnTo>
                  <a:close/>
                </a:path>
                <a:path w="1548765" h="1113789">
                  <a:moveTo>
                    <a:pt x="1216034" y="676910"/>
                  </a:moveTo>
                  <a:lnTo>
                    <a:pt x="1010412" y="676910"/>
                  </a:lnTo>
                  <a:lnTo>
                    <a:pt x="1033085" y="689610"/>
                  </a:lnTo>
                  <a:lnTo>
                    <a:pt x="1074070" y="726439"/>
                  </a:lnTo>
                  <a:lnTo>
                    <a:pt x="1131062" y="783589"/>
                  </a:lnTo>
                  <a:lnTo>
                    <a:pt x="1153497" y="797560"/>
                  </a:lnTo>
                  <a:lnTo>
                    <a:pt x="1179099" y="802639"/>
                  </a:lnTo>
                  <a:lnTo>
                    <a:pt x="1204749" y="797560"/>
                  </a:lnTo>
                  <a:lnTo>
                    <a:pt x="1227327" y="783589"/>
                  </a:lnTo>
                  <a:lnTo>
                    <a:pt x="1242115" y="760729"/>
                  </a:lnTo>
                  <a:lnTo>
                    <a:pt x="1247044" y="735329"/>
                  </a:lnTo>
                  <a:lnTo>
                    <a:pt x="1242115" y="709929"/>
                  </a:lnTo>
                  <a:lnTo>
                    <a:pt x="1227327" y="687069"/>
                  </a:lnTo>
                  <a:lnTo>
                    <a:pt x="1226185" y="687069"/>
                  </a:lnTo>
                  <a:lnTo>
                    <a:pt x="1216034" y="676910"/>
                  </a:lnTo>
                  <a:close/>
                </a:path>
                <a:path w="1548765" h="1113789">
                  <a:moveTo>
                    <a:pt x="245094" y="604519"/>
                  </a:moveTo>
                  <a:lnTo>
                    <a:pt x="178053" y="633729"/>
                  </a:lnTo>
                  <a:lnTo>
                    <a:pt x="152657" y="665479"/>
                  </a:lnTo>
                  <a:lnTo>
                    <a:pt x="136620" y="703579"/>
                  </a:lnTo>
                  <a:lnTo>
                    <a:pt x="134155" y="741679"/>
                  </a:lnTo>
                  <a:lnTo>
                    <a:pt x="149478" y="774700"/>
                  </a:lnTo>
                  <a:lnTo>
                    <a:pt x="175732" y="793750"/>
                  </a:lnTo>
                  <a:lnTo>
                    <a:pt x="202533" y="796289"/>
                  </a:lnTo>
                  <a:lnTo>
                    <a:pt x="228524" y="789939"/>
                  </a:lnTo>
                  <a:lnTo>
                    <a:pt x="252349" y="783589"/>
                  </a:lnTo>
                  <a:lnTo>
                    <a:pt x="430004" y="783589"/>
                  </a:lnTo>
                  <a:lnTo>
                    <a:pt x="409066" y="734060"/>
                  </a:lnTo>
                  <a:lnTo>
                    <a:pt x="370951" y="712469"/>
                  </a:lnTo>
                  <a:lnTo>
                    <a:pt x="326643" y="712469"/>
                  </a:lnTo>
                  <a:lnTo>
                    <a:pt x="330344" y="690879"/>
                  </a:lnTo>
                  <a:lnTo>
                    <a:pt x="328818" y="668019"/>
                  </a:lnTo>
                  <a:lnTo>
                    <a:pt x="321696" y="647700"/>
                  </a:lnTo>
                  <a:lnTo>
                    <a:pt x="308609" y="629919"/>
                  </a:lnTo>
                  <a:lnTo>
                    <a:pt x="279370" y="610869"/>
                  </a:lnTo>
                  <a:lnTo>
                    <a:pt x="245094" y="604519"/>
                  </a:lnTo>
                  <a:close/>
                </a:path>
                <a:path w="1548765" h="1113789">
                  <a:moveTo>
                    <a:pt x="349041" y="709929"/>
                  </a:moveTo>
                  <a:lnTo>
                    <a:pt x="326643" y="712469"/>
                  </a:lnTo>
                  <a:lnTo>
                    <a:pt x="370951" y="712469"/>
                  </a:lnTo>
                  <a:lnTo>
                    <a:pt x="349041" y="709929"/>
                  </a:lnTo>
                  <a:close/>
                </a:path>
                <a:path w="1548765" h="1113789">
                  <a:moveTo>
                    <a:pt x="0" y="85089"/>
                  </a:moveTo>
                  <a:lnTo>
                    <a:pt x="0" y="621029"/>
                  </a:lnTo>
                  <a:lnTo>
                    <a:pt x="7504" y="622300"/>
                  </a:lnTo>
                  <a:lnTo>
                    <a:pt x="53899" y="637539"/>
                  </a:lnTo>
                  <a:lnTo>
                    <a:pt x="83692" y="648969"/>
                  </a:lnTo>
                  <a:lnTo>
                    <a:pt x="91406" y="631189"/>
                  </a:lnTo>
                  <a:lnTo>
                    <a:pt x="101203" y="613410"/>
                  </a:lnTo>
                  <a:lnTo>
                    <a:pt x="127000" y="580389"/>
                  </a:lnTo>
                  <a:lnTo>
                    <a:pt x="163009" y="554989"/>
                  </a:lnTo>
                  <a:lnTo>
                    <a:pt x="203665" y="538479"/>
                  </a:lnTo>
                  <a:lnTo>
                    <a:pt x="246395" y="533400"/>
                  </a:lnTo>
                  <a:lnTo>
                    <a:pt x="1072659" y="533400"/>
                  </a:lnTo>
                  <a:lnTo>
                    <a:pt x="1002775" y="463550"/>
                  </a:lnTo>
                  <a:lnTo>
                    <a:pt x="599186" y="463550"/>
                  </a:lnTo>
                  <a:lnTo>
                    <a:pt x="550202" y="455929"/>
                  </a:lnTo>
                  <a:lnTo>
                    <a:pt x="507668" y="433069"/>
                  </a:lnTo>
                  <a:lnTo>
                    <a:pt x="474132" y="400050"/>
                  </a:lnTo>
                  <a:lnTo>
                    <a:pt x="452142" y="358139"/>
                  </a:lnTo>
                  <a:lnTo>
                    <a:pt x="444245" y="309879"/>
                  </a:lnTo>
                  <a:lnTo>
                    <a:pt x="449554" y="269239"/>
                  </a:lnTo>
                  <a:lnTo>
                    <a:pt x="464518" y="233679"/>
                  </a:lnTo>
                  <a:lnTo>
                    <a:pt x="487697" y="203200"/>
                  </a:lnTo>
                  <a:lnTo>
                    <a:pt x="517651" y="179070"/>
                  </a:lnTo>
                  <a:lnTo>
                    <a:pt x="559503" y="152400"/>
                  </a:lnTo>
                  <a:lnTo>
                    <a:pt x="209405" y="152400"/>
                  </a:lnTo>
                  <a:lnTo>
                    <a:pt x="154431" y="138429"/>
                  </a:lnTo>
                  <a:lnTo>
                    <a:pt x="0" y="85089"/>
                  </a:lnTo>
                  <a:close/>
                </a:path>
                <a:path w="1548765" h="1113789">
                  <a:moveTo>
                    <a:pt x="1548384" y="260350"/>
                  </a:moveTo>
                  <a:lnTo>
                    <a:pt x="898380" y="260350"/>
                  </a:lnTo>
                  <a:lnTo>
                    <a:pt x="934735" y="264159"/>
                  </a:lnTo>
                  <a:lnTo>
                    <a:pt x="957780" y="275589"/>
                  </a:lnTo>
                  <a:lnTo>
                    <a:pt x="965834" y="281939"/>
                  </a:lnTo>
                  <a:lnTo>
                    <a:pt x="1295272" y="605789"/>
                  </a:lnTo>
                  <a:lnTo>
                    <a:pt x="1332807" y="628650"/>
                  </a:lnTo>
                  <a:lnTo>
                    <a:pt x="1371234" y="635000"/>
                  </a:lnTo>
                  <a:lnTo>
                    <a:pt x="1404733" y="631189"/>
                  </a:lnTo>
                  <a:lnTo>
                    <a:pt x="1427480" y="627379"/>
                  </a:lnTo>
                  <a:lnTo>
                    <a:pt x="1495647" y="614679"/>
                  </a:lnTo>
                  <a:lnTo>
                    <a:pt x="1532385" y="608329"/>
                  </a:lnTo>
                  <a:lnTo>
                    <a:pt x="1548384" y="604519"/>
                  </a:lnTo>
                  <a:lnTo>
                    <a:pt x="1548384" y="260350"/>
                  </a:lnTo>
                  <a:close/>
                </a:path>
                <a:path w="1548765" h="1113789">
                  <a:moveTo>
                    <a:pt x="866665" y="363219"/>
                  </a:moveTo>
                  <a:lnTo>
                    <a:pt x="825500" y="372110"/>
                  </a:lnTo>
                  <a:lnTo>
                    <a:pt x="792487" y="386079"/>
                  </a:lnTo>
                  <a:lnTo>
                    <a:pt x="690117" y="434339"/>
                  </a:lnTo>
                  <a:lnTo>
                    <a:pt x="659425" y="448310"/>
                  </a:lnTo>
                  <a:lnTo>
                    <a:pt x="633745" y="457200"/>
                  </a:lnTo>
                  <a:lnTo>
                    <a:pt x="613519" y="462279"/>
                  </a:lnTo>
                  <a:lnTo>
                    <a:pt x="599186" y="463550"/>
                  </a:lnTo>
                  <a:lnTo>
                    <a:pt x="1002775" y="463550"/>
                  </a:lnTo>
                  <a:lnTo>
                    <a:pt x="954425" y="415289"/>
                  </a:lnTo>
                  <a:lnTo>
                    <a:pt x="929513" y="389889"/>
                  </a:lnTo>
                  <a:lnTo>
                    <a:pt x="921565" y="383539"/>
                  </a:lnTo>
                  <a:lnTo>
                    <a:pt x="899652" y="370839"/>
                  </a:lnTo>
                  <a:lnTo>
                    <a:pt x="866665" y="363219"/>
                  </a:lnTo>
                  <a:close/>
                </a:path>
                <a:path w="1548765" h="1113789">
                  <a:moveTo>
                    <a:pt x="1002506" y="0"/>
                  </a:moveTo>
                  <a:lnTo>
                    <a:pt x="968331" y="2539"/>
                  </a:lnTo>
                  <a:lnTo>
                    <a:pt x="933322" y="16509"/>
                  </a:lnTo>
                  <a:lnTo>
                    <a:pt x="898012" y="35559"/>
                  </a:lnTo>
                  <a:lnTo>
                    <a:pt x="854622" y="59689"/>
                  </a:lnTo>
                  <a:lnTo>
                    <a:pt x="805673" y="86359"/>
                  </a:lnTo>
                  <a:lnTo>
                    <a:pt x="701166" y="144779"/>
                  </a:lnTo>
                  <a:lnTo>
                    <a:pt x="604636" y="200659"/>
                  </a:lnTo>
                  <a:lnTo>
                    <a:pt x="565657" y="224789"/>
                  </a:lnTo>
                  <a:lnTo>
                    <a:pt x="523938" y="259079"/>
                  </a:lnTo>
                  <a:lnTo>
                    <a:pt x="507745" y="307339"/>
                  </a:lnTo>
                  <a:lnTo>
                    <a:pt x="518826" y="345439"/>
                  </a:lnTo>
                  <a:lnTo>
                    <a:pt x="548957" y="377189"/>
                  </a:lnTo>
                  <a:lnTo>
                    <a:pt x="593470" y="392429"/>
                  </a:lnTo>
                  <a:lnTo>
                    <a:pt x="647700" y="379729"/>
                  </a:lnTo>
                  <a:lnTo>
                    <a:pt x="687157" y="360679"/>
                  </a:lnTo>
                  <a:lnTo>
                    <a:pt x="739616" y="332739"/>
                  </a:lnTo>
                  <a:lnTo>
                    <a:pt x="796790" y="303529"/>
                  </a:lnTo>
                  <a:lnTo>
                    <a:pt x="850391" y="275589"/>
                  </a:lnTo>
                  <a:lnTo>
                    <a:pt x="898380" y="260350"/>
                  </a:lnTo>
                  <a:lnTo>
                    <a:pt x="1548384" y="260350"/>
                  </a:lnTo>
                  <a:lnTo>
                    <a:pt x="1548384" y="191770"/>
                  </a:lnTo>
                  <a:lnTo>
                    <a:pt x="1279415" y="191770"/>
                  </a:lnTo>
                  <a:lnTo>
                    <a:pt x="1259697" y="187959"/>
                  </a:lnTo>
                  <a:lnTo>
                    <a:pt x="1247193" y="181609"/>
                  </a:lnTo>
                  <a:lnTo>
                    <a:pt x="1242821" y="179070"/>
                  </a:lnTo>
                  <a:lnTo>
                    <a:pt x="1229953" y="167639"/>
                  </a:lnTo>
                  <a:lnTo>
                    <a:pt x="1195403" y="138429"/>
                  </a:lnTo>
                  <a:lnTo>
                    <a:pt x="1145256" y="95250"/>
                  </a:lnTo>
                  <a:lnTo>
                    <a:pt x="1085595" y="45720"/>
                  </a:lnTo>
                  <a:lnTo>
                    <a:pt x="1040157" y="12700"/>
                  </a:lnTo>
                  <a:lnTo>
                    <a:pt x="1002506" y="0"/>
                  </a:lnTo>
                  <a:close/>
                </a:path>
                <a:path w="1548765" h="1113789">
                  <a:moveTo>
                    <a:pt x="1548384" y="137159"/>
                  </a:moveTo>
                  <a:lnTo>
                    <a:pt x="1523728" y="143509"/>
                  </a:lnTo>
                  <a:lnTo>
                    <a:pt x="1462389" y="156209"/>
                  </a:lnTo>
                  <a:lnTo>
                    <a:pt x="1383309" y="173989"/>
                  </a:lnTo>
                  <a:lnTo>
                    <a:pt x="1305433" y="190500"/>
                  </a:lnTo>
                  <a:lnTo>
                    <a:pt x="1279415" y="191770"/>
                  </a:lnTo>
                  <a:lnTo>
                    <a:pt x="1548384" y="191770"/>
                  </a:lnTo>
                  <a:lnTo>
                    <a:pt x="1548384" y="137159"/>
                  </a:lnTo>
                  <a:close/>
                </a:path>
                <a:path w="1548765" h="1113789">
                  <a:moveTo>
                    <a:pt x="583183" y="6350"/>
                  </a:moveTo>
                  <a:lnTo>
                    <a:pt x="497548" y="26670"/>
                  </a:lnTo>
                  <a:lnTo>
                    <a:pt x="401399" y="71120"/>
                  </a:lnTo>
                  <a:lnTo>
                    <a:pt x="322990" y="115570"/>
                  </a:lnTo>
                  <a:lnTo>
                    <a:pt x="290575" y="135889"/>
                  </a:lnTo>
                  <a:lnTo>
                    <a:pt x="280537" y="140970"/>
                  </a:lnTo>
                  <a:lnTo>
                    <a:pt x="252460" y="149859"/>
                  </a:lnTo>
                  <a:lnTo>
                    <a:pt x="209405" y="152400"/>
                  </a:lnTo>
                  <a:lnTo>
                    <a:pt x="559503" y="152400"/>
                  </a:lnTo>
                  <a:lnTo>
                    <a:pt x="575446" y="142239"/>
                  </a:lnTo>
                  <a:lnTo>
                    <a:pt x="642540" y="104139"/>
                  </a:lnTo>
                  <a:lnTo>
                    <a:pt x="721232" y="60959"/>
                  </a:lnTo>
                  <a:lnTo>
                    <a:pt x="713021" y="52070"/>
                  </a:lnTo>
                  <a:lnTo>
                    <a:pt x="687831" y="33020"/>
                  </a:lnTo>
                  <a:lnTo>
                    <a:pt x="644830" y="15239"/>
                  </a:lnTo>
                  <a:lnTo>
                    <a:pt x="583183" y="635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4376927"/>
              <a:ext cx="1281683" cy="10622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087861" y="6425285"/>
            <a:ext cx="18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Tahoma"/>
                <a:cs typeface="Tahoma"/>
              </a:rPr>
              <a:t>74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Backup Slides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7881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Workshop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87776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 smtClean="0"/>
              <a:t>Workshop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6477000" cy="46553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219200"/>
            <a:ext cx="4648200" cy="4648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6200" y="5867400"/>
            <a:ext cx="3886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hlinkClick r:id="rId5"/>
              </a:rPr>
              <a:t>https://afathelbab.github.io/cnpc/computer-basics-soft-skills/workshops/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4204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3517</TotalTime>
  <Words>1957</Words>
  <Application>Microsoft Office PowerPoint</Application>
  <PresentationFormat>Widescreen</PresentationFormat>
  <Paragraphs>271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MT</vt:lpstr>
      <vt:lpstr>Calibri</vt:lpstr>
      <vt:lpstr>Tahoma</vt:lpstr>
      <vt:lpstr>Wingdings</vt:lpstr>
      <vt:lpstr>Office Theme</vt:lpstr>
      <vt:lpstr>CNPC Niger Petroleum S.A.</vt:lpstr>
      <vt:lpstr>Training Agenda</vt:lpstr>
      <vt:lpstr>Let’s Know Each Other</vt:lpstr>
      <vt:lpstr>Training Objectives</vt:lpstr>
      <vt:lpstr>Test your Knowledge</vt:lpstr>
      <vt:lpstr>Quiz Reflection</vt:lpstr>
      <vt:lpstr>Module 1:  Professional Communication</vt:lpstr>
      <vt:lpstr>Module 1: Professional Communication</vt:lpstr>
      <vt:lpstr>Module 1: Professional Communication</vt:lpstr>
      <vt:lpstr>Module 2:  Workplace Etiquette </vt:lpstr>
      <vt:lpstr>Module 2: Workplace Etiquette</vt:lpstr>
      <vt:lpstr>Module 2: Workplace Etiquette</vt:lpstr>
      <vt:lpstr>Module 3:  Professional Ethics </vt:lpstr>
      <vt:lpstr>Module 3: Professional Ethics</vt:lpstr>
      <vt:lpstr>Module 3: Professional Ethics</vt:lpstr>
      <vt:lpstr>Module 4:  Time Management &amp; Productivity </vt:lpstr>
      <vt:lpstr>Module 4: Time Management &amp; Productivity</vt:lpstr>
      <vt:lpstr>Module 4: Time Management &amp; Productivity</vt:lpstr>
      <vt:lpstr>Module 4: Time Management &amp; Productivity</vt:lpstr>
      <vt:lpstr>Module 4: Time Management &amp; Productivity</vt:lpstr>
      <vt:lpstr>Module 5:  Problem Solving</vt:lpstr>
      <vt:lpstr>Module 5: Problem Solving</vt:lpstr>
      <vt:lpstr>Module 5: Problem Solving</vt:lpstr>
      <vt:lpstr>Module 5: Problem Solving</vt:lpstr>
      <vt:lpstr>Module 5: Problem Solving</vt:lpstr>
      <vt:lpstr>Module 5: Problem Solving</vt:lpstr>
      <vt:lpstr>Module 5: Problem Solving</vt:lpstr>
      <vt:lpstr>Module 5: Problem Solving</vt:lpstr>
      <vt:lpstr>Module 5: Problem Solving</vt:lpstr>
      <vt:lpstr>Module 5: Problem Solving</vt:lpstr>
      <vt:lpstr>Test your Knowledge</vt:lpstr>
      <vt:lpstr>A Better You, A Better Niger</vt:lpstr>
      <vt:lpstr>Backup Slides </vt:lpstr>
      <vt:lpstr>Workshop </vt:lpstr>
      <vt:lpstr>Workshop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a.mostafa</dc:creator>
  <cp:lastModifiedBy>Ahmed Fathelbab</cp:lastModifiedBy>
  <cp:revision>35</cp:revision>
  <dcterms:created xsi:type="dcterms:W3CDTF">2024-08-12T11:19:28Z</dcterms:created>
  <dcterms:modified xsi:type="dcterms:W3CDTF">2025-11-11T09:41:59Z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2024-08-12T00:00:00Z</vt:filetime>
  </property>
  <property fmtid="{D5CDD505-2E9C-101B-9397-08002B2CF9AE}" pid="5" name="Producer">
    <vt:lpwstr>Microsoft® PowerPoint® 2019</vt:lpwstr>
  </property>
  <property fmtid="{D5CDD505-2E9C-101B-9397-08002B2CF9AE}" pid="6" name="MSIP_Label_60c30631-53b8-4fcf-bd6e-2fc80ac82da0_Enabled">
    <vt:lpwstr>true</vt:lpwstr>
  </property>
  <property fmtid="{D5CDD505-2E9C-101B-9397-08002B2CF9AE}" pid="7" name="MSIP_Label_60c30631-53b8-4fcf-bd6e-2fc80ac82da0_SetDate">
    <vt:lpwstr>2024-08-12T11:20:17Z</vt:lpwstr>
  </property>
  <property fmtid="{D5CDD505-2E9C-101B-9397-08002B2CF9AE}" pid="8" name="MSIP_Label_60c30631-53b8-4fcf-bd6e-2fc80ac82da0_Method">
    <vt:lpwstr>Standard</vt:lpwstr>
  </property>
  <property fmtid="{D5CDD505-2E9C-101B-9397-08002B2CF9AE}" pid="9" name="MSIP_Label_60c30631-53b8-4fcf-bd6e-2fc80ac82da0_Name">
    <vt:lpwstr>ALJ INTERNAL</vt:lpwstr>
  </property>
  <property fmtid="{D5CDD505-2E9C-101B-9397-08002B2CF9AE}" pid="10" name="MSIP_Label_60c30631-53b8-4fcf-bd6e-2fc80ac82da0_SiteId">
    <vt:lpwstr>8b5f60ac-e420-4280-b0a5-0d6fd7eaf2d7</vt:lpwstr>
  </property>
  <property fmtid="{D5CDD505-2E9C-101B-9397-08002B2CF9AE}" pid="11" name="MSIP_Label_60c30631-53b8-4fcf-bd6e-2fc80ac82da0_ActionId">
    <vt:lpwstr>b59d25a2-f112-448b-be06-388c48d376a7</vt:lpwstr>
  </property>
  <property fmtid="{D5CDD505-2E9C-101B-9397-08002B2CF9AE}" pid="12" name="MSIP_Label_60c30631-53b8-4fcf-bd6e-2fc80ac82da0_ContentBits">
    <vt:lpwstr>2</vt:lpwstr>
  </property>
  <property fmtid="{D5CDD505-2E9C-101B-9397-08002B2CF9AE}" pid="13" name="ClassificationContentMarkingFooterLocations">
    <vt:lpwstr>Office Theme:8</vt:lpwstr>
  </property>
  <property fmtid="{D5CDD505-2E9C-101B-9397-08002B2CF9AE}" pid="14" name="ClassificationContentMarkingFooterText">
    <vt:lpwstr>INTERNAL</vt:lpwstr>
  </property>
</Properties>
</file>