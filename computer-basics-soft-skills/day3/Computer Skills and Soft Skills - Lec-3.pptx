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0.jpg" ContentType="image/jpg"/>
  <Override PartName="/ppt/media/image19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334" r:id="rId7"/>
    <p:sldId id="263" r:id="rId8"/>
    <p:sldId id="352" r:id="rId9"/>
    <p:sldId id="365" r:id="rId10"/>
    <p:sldId id="355" r:id="rId11"/>
    <p:sldId id="335" r:id="rId12"/>
    <p:sldId id="336" r:id="rId13"/>
    <p:sldId id="366" r:id="rId14"/>
    <p:sldId id="367" r:id="rId15"/>
    <p:sldId id="368" r:id="rId16"/>
    <p:sldId id="369" r:id="rId17"/>
    <p:sldId id="357" r:id="rId18"/>
    <p:sldId id="351" r:id="rId19"/>
    <p:sldId id="370" r:id="rId20"/>
    <p:sldId id="371" r:id="rId21"/>
    <p:sldId id="329" r:id="rId2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53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636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94433" y="190881"/>
            <a:ext cx="4539615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37258" y="35813"/>
            <a:ext cx="6100064" cy="6950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3156" y="3138043"/>
            <a:ext cx="7921625" cy="2762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91771" y="6725200"/>
            <a:ext cx="259715" cy="184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B4527F-BB2F-F09E-EBA3-74D913CD1B7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fathelbab.github.io/cnpc/computer-basics-soft-skills/day3/quiz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afathelbab.github.io/cnpc/computer-basics-soft-skills/workshops/" TargetMode="Externa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94833"/>
            <a:ext cx="12191999" cy="436316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667"/>
            <a:ext cx="12192000" cy="6847840"/>
          </a:xfrm>
          <a:custGeom>
            <a:avLst/>
            <a:gdLst/>
            <a:ahLst/>
            <a:cxnLst/>
            <a:rect l="l" t="t" r="r" b="b"/>
            <a:pathLst>
              <a:path w="12192000" h="6847840">
                <a:moveTo>
                  <a:pt x="12192000" y="0"/>
                </a:moveTo>
                <a:lnTo>
                  <a:pt x="0" y="0"/>
                </a:lnTo>
                <a:lnTo>
                  <a:pt x="0" y="6847330"/>
                </a:lnTo>
                <a:lnTo>
                  <a:pt x="12192000" y="68473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>
              <a:alpha val="749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608957" y="4249673"/>
            <a:ext cx="30162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54940">
              <a:lnSpc>
                <a:spcPct val="150000"/>
              </a:lnSpc>
              <a:spcBef>
                <a:spcPts val="100"/>
              </a:spcBef>
            </a:pPr>
            <a:r>
              <a:rPr sz="1800" dirty="0">
                <a:latin typeface="Tahoma"/>
                <a:cs typeface="Tahoma"/>
              </a:rPr>
              <a:t>CNPC</a:t>
            </a:r>
            <a:r>
              <a:rPr sz="1800" spc="-2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Niger </a:t>
            </a:r>
            <a:r>
              <a:rPr sz="1800" spc="-10" dirty="0">
                <a:latin typeface="Tahoma"/>
                <a:cs typeface="Tahoma"/>
              </a:rPr>
              <a:t>Petroleum</a:t>
            </a:r>
            <a:r>
              <a:rPr sz="1800" spc="-35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S.A. </a:t>
            </a:r>
            <a:r>
              <a:rPr sz="1800" dirty="0">
                <a:latin typeface="Tahoma"/>
                <a:cs typeface="Tahoma"/>
              </a:rPr>
              <a:t>CNPC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Global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Solutions</a:t>
            </a:r>
            <a:r>
              <a:rPr sz="1800" spc="-55" dirty="0">
                <a:latin typeface="Tahoma"/>
                <a:cs typeface="Tahoma"/>
              </a:rPr>
              <a:t> </a:t>
            </a:r>
            <a:r>
              <a:rPr sz="1800" spc="-10" dirty="0">
                <a:latin typeface="Tahoma"/>
                <a:cs typeface="Tahoma"/>
              </a:rPr>
              <a:t>Co.</a:t>
            </a:r>
            <a:r>
              <a:rPr sz="1800" spc="-25" dirty="0">
                <a:latin typeface="Tahoma"/>
                <a:cs typeface="Tahoma"/>
              </a:rPr>
              <a:t> Ltd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8544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D1C1C"/>
                </a:solidFill>
              </a:rPr>
              <a:t>CNPC</a:t>
            </a:r>
            <a:r>
              <a:rPr sz="2400" spc="-5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Niger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Petroleum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spc="-20" dirty="0">
                <a:solidFill>
                  <a:srgbClr val="CD1C1C"/>
                </a:solidFill>
              </a:rPr>
              <a:t>S.A.</a:t>
            </a:r>
            <a:endParaRPr sz="2400"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1727" y="211836"/>
            <a:ext cx="493776" cy="54406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714499" y="1927501"/>
            <a:ext cx="87630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b="1" spc="-25" dirty="0" smtClean="0">
                <a:solidFill>
                  <a:srgbClr val="2D5395"/>
                </a:solidFill>
                <a:latin typeface="Arial"/>
                <a:cs typeface="Arial"/>
              </a:rPr>
              <a:t>Computer Basics &amp; Practical Soft Skills</a:t>
            </a:r>
            <a:endParaRPr sz="3600" dirty="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2156" rIns="0" bIns="0" rtlCol="0">
            <a:spAutoFit/>
          </a:bodyPr>
          <a:lstStyle/>
          <a:p>
            <a:pPr marL="2454275">
              <a:lnSpc>
                <a:spcPct val="100000"/>
              </a:lnSpc>
              <a:spcBef>
                <a:spcPts val="95"/>
              </a:spcBef>
            </a:pPr>
            <a:r>
              <a:rPr sz="2800" spc="-30" dirty="0"/>
              <a:t>Training</a:t>
            </a:r>
            <a:r>
              <a:rPr sz="2800" spc="-135" dirty="0"/>
              <a:t> </a:t>
            </a:r>
            <a:r>
              <a:rPr sz="2800" spc="-10" dirty="0"/>
              <a:t>Agenda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925474" y="1886559"/>
            <a:ext cx="6846926" cy="1286891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00B050"/>
                </a:solidFill>
                <a:latin typeface="Arial MT"/>
                <a:cs typeface="Arial MT"/>
              </a:rPr>
              <a:t>Lecture</a:t>
            </a:r>
            <a:r>
              <a:rPr sz="2000" spc="-60" dirty="0" smtClean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1</a:t>
            </a:r>
            <a:r>
              <a:rPr sz="2000" spc="-20" dirty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:</a:t>
            </a:r>
            <a:r>
              <a:rPr lang="en-US" sz="2000" dirty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00B050"/>
                </a:solidFill>
                <a:latin typeface="Arial MT"/>
                <a:cs typeface="Arial MT"/>
              </a:rPr>
              <a:t>Foundations &amp; Professional Communication</a:t>
            </a:r>
            <a:endParaRPr lang="ar-EG" sz="2000" dirty="0" smtClean="0">
              <a:solidFill>
                <a:srgbClr val="00B050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Lecture 2 : </a:t>
            </a:r>
            <a:r>
              <a:rPr lang="en-US" sz="2000" dirty="0">
                <a:solidFill>
                  <a:srgbClr val="00B050"/>
                </a:solidFill>
                <a:latin typeface="Arial MT"/>
                <a:cs typeface="Arial MT"/>
              </a:rPr>
              <a:t>Data, Presentation &amp; Productivity</a:t>
            </a:r>
            <a:endParaRPr sz="2000" dirty="0">
              <a:solidFill>
                <a:srgbClr val="00B050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C00000"/>
                </a:solidFill>
                <a:latin typeface="Arial MT"/>
                <a:cs typeface="Arial MT"/>
              </a:rPr>
              <a:t>Lecture 3 : </a:t>
            </a:r>
            <a:r>
              <a:rPr lang="en-US" sz="2000" dirty="0">
                <a:solidFill>
                  <a:srgbClr val="C00000"/>
                </a:solidFill>
                <a:latin typeface="Arial MT"/>
                <a:cs typeface="Arial MT"/>
              </a:rPr>
              <a:t>Business Systems &amp; Problem Solving</a:t>
            </a:r>
            <a:endParaRPr sz="2000" dirty="0">
              <a:solidFill>
                <a:srgbClr val="C00000"/>
              </a:solidFill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8156" y="1973579"/>
            <a:ext cx="2581655" cy="309829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75895">
              <a:lnSpc>
                <a:spcPct val="100000"/>
              </a:lnSpc>
              <a:spcBef>
                <a:spcPts val="95"/>
              </a:spcBef>
            </a:pPr>
            <a:r>
              <a:rPr sz="2800" spc="-10" dirty="0"/>
              <a:t>Training</a:t>
            </a:r>
            <a:r>
              <a:rPr sz="2800" spc="-180" dirty="0"/>
              <a:t> </a:t>
            </a:r>
            <a:r>
              <a:rPr sz="2800" spc="-10" dirty="0"/>
              <a:t>Objectives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402742" y="1102308"/>
            <a:ext cx="598614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After</a:t>
            </a:r>
            <a:r>
              <a:rPr sz="2000" b="1" spc="-5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finalizing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this</a:t>
            </a:r>
            <a:r>
              <a:rPr sz="2000" b="1" spc="-4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training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you</a:t>
            </a:r>
            <a:r>
              <a:rPr sz="2000" b="1" spc="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should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be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able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to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0623" y="1805202"/>
            <a:ext cx="10896977" cy="3525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Computer Hardware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Identify components, connect peripherals, and perform basic troubleshooting.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Excel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Use essential formulas, sort/filter data, and create basic charts.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PowerPoint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Create clean, professional slides and insert objects (images, charts).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Word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Apply consistent formatting (styles, headers) and use Track Changes.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Outlook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Write professional emails, organize their inbox, and manage their calendar.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ERP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Define what an ERP system is and explain its purpose in the business.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Workplace Etiquette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Demonstrate professional conduct in physical and virtual settings.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Communication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Practice active listening and communicate ideas clearly.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Professional Ethics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Understand the importance of integrity, confidentiality, and accountability.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Time Management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Prioritize tasks effectively and plan their workday.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Problem Solving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Apply a structured approach to identify and solve workplace problems.</a:t>
            </a:r>
            <a:endParaRPr sz="2000" dirty="0">
              <a:solidFill>
                <a:srgbClr val="2D5395"/>
              </a:solidFill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77754" y="2133600"/>
            <a:ext cx="2410147" cy="158115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https://afathelbab.github.io/cnpc/computer-basics-soft-skills/day3/quiz.html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7476" y="1447800"/>
            <a:ext cx="434340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52600" y="228600"/>
            <a:ext cx="34651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31645" algn="l"/>
              </a:tabLst>
            </a:pPr>
            <a:r>
              <a:rPr lang="en-US" sz="2800" dirty="0" smtClean="0"/>
              <a:t>Quiz </a:t>
            </a:r>
            <a:r>
              <a:rPr sz="2800" spc="-10" dirty="0" smtClean="0"/>
              <a:t>Reflection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37082" y="2358593"/>
            <a:ext cx="5652135" cy="294760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 full mark?</a:t>
            </a:r>
            <a:r>
              <a:rPr lang="ar-EG" sz="2000" dirty="0" smtClean="0">
                <a:latin typeface="Arial MT"/>
                <a:cs typeface="Arial MT"/>
              </a:rPr>
              <a:t>  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ar-EG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got more than 50% correct?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them all wrong?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It’s </a:t>
            </a:r>
            <a:r>
              <a:rPr lang="en-US" sz="2400" b="1" dirty="0" smtClean="0">
                <a:solidFill>
                  <a:srgbClr val="00B050"/>
                </a:solidFill>
                <a:latin typeface="Arial MT"/>
                <a:cs typeface="Arial MT"/>
              </a:rPr>
              <a:t>OK</a:t>
            </a:r>
            <a:r>
              <a:rPr lang="en-US" sz="2000" dirty="0" smtClean="0">
                <a:latin typeface="Arial MT"/>
                <a:cs typeface="Arial MT"/>
              </a:rPr>
              <a:t> either way 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19200"/>
            <a:ext cx="5478252" cy="51089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1: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/>
              <a:t>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130405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01761" y="1905000"/>
            <a:ext cx="290335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an ERP System?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027651" y="2438400"/>
            <a:ext cx="7861239" cy="39703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ERP</a:t>
            </a:r>
            <a:r>
              <a:rPr lang="en-US" dirty="0" smtClean="0"/>
              <a:t> stands for </a:t>
            </a:r>
            <a:r>
              <a:rPr lang="en-US" b="1" dirty="0" smtClean="0"/>
              <a:t>E</a:t>
            </a:r>
            <a:r>
              <a:rPr lang="en-US" dirty="0" smtClean="0"/>
              <a:t>nterprise </a:t>
            </a:r>
            <a:r>
              <a:rPr lang="en-US" b="1" dirty="0" smtClean="0"/>
              <a:t>R</a:t>
            </a:r>
            <a:r>
              <a:rPr lang="en-US" dirty="0" smtClean="0"/>
              <a:t>esource </a:t>
            </a:r>
            <a:r>
              <a:rPr lang="en-US" b="1" dirty="0" smtClean="0"/>
              <a:t>P</a:t>
            </a:r>
            <a:r>
              <a:rPr lang="en-US" dirty="0" smtClean="0"/>
              <a:t>lanning.</a:t>
            </a:r>
          </a:p>
          <a:p>
            <a:endParaRPr lang="en-US" dirty="0" smtClean="0"/>
          </a:p>
          <a:p>
            <a:r>
              <a:rPr lang="en-US" dirty="0" smtClean="0"/>
              <a:t>At its simplest, an ERP is a single, centralized software system that manages all of a company's key business processes.</a:t>
            </a:r>
          </a:p>
          <a:p>
            <a:endParaRPr lang="en-US" dirty="0" smtClean="0"/>
          </a:p>
          <a:p>
            <a:r>
              <a:rPr lang="en-US" dirty="0" smtClean="0"/>
              <a:t>Think about all the different departments in our company:</a:t>
            </a:r>
          </a:p>
          <a:p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Finance</a:t>
            </a:r>
            <a:r>
              <a:rPr lang="en-US" dirty="0" smtClean="0"/>
              <a:t> (handles billing, payments, accounts)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HR</a:t>
            </a:r>
            <a:r>
              <a:rPr lang="en-US" dirty="0" smtClean="0"/>
              <a:t> (handles employee info, payroll, hiring)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Supply Chain </a:t>
            </a:r>
            <a:r>
              <a:rPr lang="en-US" dirty="0" smtClean="0"/>
              <a:t>(handles inventory, shipping, orders)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Sales</a:t>
            </a:r>
            <a:r>
              <a:rPr lang="en-US" dirty="0" smtClean="0"/>
              <a:t> (handles customer relationships, new orders)</a:t>
            </a:r>
          </a:p>
          <a:p>
            <a:endParaRPr lang="en-US" dirty="0"/>
          </a:p>
          <a:p>
            <a:r>
              <a:rPr lang="en-US" dirty="0" smtClean="0"/>
              <a:t>In the past, each department might have used its own separate software. This creates "silos," where data is hard to share and often doesn't match.</a:t>
            </a:r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1886" y="1447800"/>
            <a:ext cx="4419600" cy="441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720334"/>
            <a:ext cx="558358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Purpose of an ERP: A Single Source of Truth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650548" y="2537310"/>
            <a:ext cx="6312959" cy="280076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The main purpose of an ERP system is to break down those silos and create a “single source of truth.” </a:t>
            </a:r>
          </a:p>
          <a:p>
            <a:endParaRPr lang="en-US" sz="1600" dirty="0"/>
          </a:p>
          <a:p>
            <a:r>
              <a:rPr lang="en-US" sz="1600" dirty="0" smtClean="0"/>
              <a:t>When everyone uses the same system, data is shared in real-time:</a:t>
            </a:r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When a Salesperson enters a new customer order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Supply Chain team instantly sees it and can check inventory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Finance team can use that data to send an accurate invoice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HR team can use that sales data to calculate commissions</a:t>
            </a:r>
          </a:p>
          <a:p>
            <a:endParaRPr lang="en-US" sz="1600" dirty="0"/>
          </a:p>
          <a:p>
            <a:r>
              <a:rPr lang="en-US" sz="1600" dirty="0" smtClean="0"/>
              <a:t>Everyone is working from the same, up-to-date information.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0" y="1905000"/>
            <a:ext cx="5158314" cy="4191000"/>
            <a:chOff x="6858000" y="1905000"/>
            <a:chExt cx="5158314" cy="41910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01" r="13749"/>
            <a:stretch/>
          </p:blipFill>
          <p:spPr>
            <a:xfrm>
              <a:off x="6934199" y="2083804"/>
              <a:ext cx="5082115" cy="4012196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6858000" y="1905000"/>
              <a:ext cx="914400" cy="838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ar-EG"/>
            </a:p>
          </p:txBody>
        </p:sp>
      </p:grpSp>
    </p:spTree>
    <p:extLst>
      <p:ext uri="{BB962C8B-B14F-4D97-AF65-F5344CB8AC3E}">
        <p14:creationId xmlns:p14="http://schemas.microsoft.com/office/powerpoint/2010/main" val="1715629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720334"/>
            <a:ext cx="224933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Benefits of an ERP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650549" y="2537310"/>
            <a:ext cx="6055052" cy="255454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Efficiency:</a:t>
            </a:r>
            <a:r>
              <a:rPr lang="en-US" sz="1600" dirty="0" smtClean="0"/>
              <a:t> No more re-typing data from one system into another.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Accuracy:</a:t>
            </a:r>
            <a:r>
              <a:rPr lang="en-US" sz="1600" dirty="0" smtClean="0"/>
              <a:t> Reduces errors by having one source for all data.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Better Reporting:</a:t>
            </a:r>
            <a:r>
              <a:rPr lang="en-US" sz="1600" dirty="0" smtClean="0"/>
              <a:t> Managers can see a complete picture of the business in one place.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Consistency:</a:t>
            </a:r>
            <a:r>
              <a:rPr lang="en-US" sz="1600" dirty="0" smtClean="0"/>
              <a:t> A customer gets the same information no matter which department they talk to.</a:t>
            </a:r>
            <a:endParaRPr lang="en-US" sz="16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6858000" y="1905000"/>
            <a:ext cx="5158314" cy="4191000"/>
            <a:chOff x="6858000" y="1905000"/>
            <a:chExt cx="5158314" cy="41910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01" r="13749"/>
            <a:stretch/>
          </p:blipFill>
          <p:spPr>
            <a:xfrm>
              <a:off x="6934199" y="2083804"/>
              <a:ext cx="5082115" cy="4012196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6858000" y="1905000"/>
              <a:ext cx="914400" cy="838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ar-EG"/>
            </a:p>
          </p:txBody>
        </p:sp>
      </p:grpSp>
    </p:spTree>
    <p:extLst>
      <p:ext uri="{BB962C8B-B14F-4D97-AF65-F5344CB8AC3E}">
        <p14:creationId xmlns:p14="http://schemas.microsoft.com/office/powerpoint/2010/main" val="1319013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Introduction to ERP Systems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Open Discussion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884176" y="2590800"/>
            <a:ext cx="5897624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Why is having a "single source of truth" for data so important for a growing business?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Before ERPs, what kind of problems might a company have if Sales, Finance, and Shipping all used different software?</a:t>
            </a:r>
          </a:p>
        </p:txBody>
      </p:sp>
      <p:pic>
        <p:nvPicPr>
          <p:cNvPr id="11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1899138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21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549098"/>
            <a:ext cx="7467600" cy="1908933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</a:t>
            </a:r>
            <a:r>
              <a:rPr lang="en-US" sz="5400" dirty="0" smtClean="0"/>
              <a:t>2: </a:t>
            </a:r>
            <a:br>
              <a:rPr lang="en-US" sz="5400" dirty="0" smtClean="0"/>
            </a:br>
            <a:r>
              <a:rPr lang="en-US" sz="54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1205114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89108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A Structured Approach to Problem Solving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07776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Problems will come up. It's a normal part of work. </a:t>
            </a:r>
          </a:p>
          <a:p>
            <a:r>
              <a:rPr lang="en-US" sz="1600" dirty="0" smtClean="0"/>
              <a:t>The key isn't to avoid problems, but to have a clear method for solving them effectively.</a:t>
            </a:r>
          </a:p>
          <a:p>
            <a:endParaRPr lang="en-US" sz="1600" dirty="0"/>
          </a:p>
          <a:p>
            <a:r>
              <a:rPr lang="en-US" sz="1600" dirty="0" smtClean="0"/>
              <a:t>Here is a simple 4-step approach you can apply to almost any workplace problem</a:t>
            </a:r>
            <a:r>
              <a:rPr lang="en-US" sz="1600" dirty="0" smtClean="0"/>
              <a:t>.</a:t>
            </a:r>
          </a:p>
          <a:p>
            <a:endParaRPr lang="en-US" sz="1600" dirty="0"/>
          </a:p>
          <a:p>
            <a:r>
              <a:rPr lang="en-US" sz="1600" dirty="0" smtClean="0"/>
              <a:t>1. </a:t>
            </a:r>
            <a:r>
              <a:rPr lang="en-US" sz="1600" b="1" dirty="0" smtClean="0"/>
              <a:t>Define the Real Problem</a:t>
            </a:r>
          </a:p>
          <a:p>
            <a:r>
              <a:rPr lang="en-US" sz="1600" dirty="0" smtClean="0"/>
              <a:t>2. </a:t>
            </a:r>
            <a:r>
              <a:rPr lang="en-US" sz="1600" b="1" dirty="0" smtClean="0"/>
              <a:t>Brainstorm Potential Solutions</a:t>
            </a:r>
          </a:p>
          <a:p>
            <a:r>
              <a:rPr lang="en-US" sz="1600" dirty="0" smtClean="0"/>
              <a:t>3. </a:t>
            </a:r>
            <a:r>
              <a:rPr lang="en-US" sz="1600" b="1" dirty="0" smtClean="0"/>
              <a:t>Evaluate and Choose a Solution</a:t>
            </a:r>
          </a:p>
          <a:p>
            <a:r>
              <a:rPr lang="en-US" sz="1600" dirty="0" smtClean="0"/>
              <a:t>4. </a:t>
            </a:r>
            <a:r>
              <a:rPr lang="en-US" sz="1600" b="1" dirty="0" smtClean="0"/>
              <a:t>Implement and Review</a:t>
            </a:r>
          </a:p>
          <a:p>
            <a:endParaRPr lang="ar-EG" sz="16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2743200"/>
            <a:ext cx="5372100" cy="355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68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83923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Define the Real Problem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0469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Don't just fix the symptom; find the root cause.</a:t>
            </a:r>
          </a:p>
          <a:p>
            <a:endParaRPr lang="en-US" sz="1600" dirty="0" smtClean="0"/>
          </a:p>
          <a:p>
            <a:r>
              <a:rPr lang="en-US" sz="1600" b="1" dirty="0" smtClean="0"/>
              <a:t>Symptom:</a:t>
            </a:r>
            <a:r>
              <a:rPr lang="en-US" sz="1600" dirty="0" smtClean="0"/>
              <a:t> "The client is angry.“</a:t>
            </a:r>
          </a:p>
          <a:p>
            <a:endParaRPr lang="en-US" sz="1600" dirty="0" smtClean="0"/>
          </a:p>
          <a:p>
            <a:r>
              <a:rPr lang="en-US" sz="1600" b="1" dirty="0" smtClean="0"/>
              <a:t>Real Problem:</a:t>
            </a:r>
            <a:r>
              <a:rPr lang="en-US" sz="1600" dirty="0" smtClean="0"/>
              <a:t> "The client's shipment was late.“</a:t>
            </a:r>
          </a:p>
          <a:p>
            <a:endParaRPr lang="en-US" sz="1600" dirty="0" smtClean="0"/>
          </a:p>
          <a:p>
            <a:r>
              <a:rPr lang="en-US" sz="1600" b="1" dirty="0" smtClean="0"/>
              <a:t>Root Cause (Keep asking "Why?"):</a:t>
            </a:r>
            <a:endParaRPr lang="en-US" sz="1600" dirty="0" smtClean="0"/>
          </a:p>
          <a:p>
            <a:pPr lvl="1"/>
            <a:r>
              <a:rPr lang="en-US" sz="1600" i="1" dirty="0" smtClean="0"/>
              <a:t>Why was it late?</a:t>
            </a:r>
            <a:r>
              <a:rPr lang="en-US" sz="1600" dirty="0" smtClean="0"/>
              <a:t> "Shipping didn't have the order."</a:t>
            </a:r>
          </a:p>
          <a:p>
            <a:pPr lvl="1"/>
            <a:r>
              <a:rPr lang="en-US" sz="1600" i="1" dirty="0" smtClean="0"/>
              <a:t>Why?</a:t>
            </a:r>
            <a:r>
              <a:rPr lang="en-US" sz="1600" dirty="0" smtClean="0"/>
              <a:t> "The order was stuck in the sales system."</a:t>
            </a:r>
          </a:p>
          <a:p>
            <a:pPr lvl="1"/>
            <a:r>
              <a:rPr lang="en-US" sz="1600" i="1" dirty="0" smtClean="0"/>
              <a:t>Why?</a:t>
            </a:r>
            <a:r>
              <a:rPr lang="en-US" sz="1600" dirty="0" smtClean="0"/>
              <a:t> "The salesperson missed a final confirmation step.“</a:t>
            </a:r>
          </a:p>
          <a:p>
            <a:pPr lvl="1"/>
            <a:endParaRPr lang="en-US" sz="1600" dirty="0" smtClean="0"/>
          </a:p>
          <a:p>
            <a:pPr lvl="1"/>
            <a:r>
              <a:rPr lang="en-US" sz="1600" b="1" dirty="0" smtClean="0"/>
              <a:t>Root Cause:</a:t>
            </a:r>
            <a:r>
              <a:rPr lang="en-US" sz="1600" dirty="0" smtClean="0"/>
              <a:t> "The sales process isn't clear on the final step."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20"/>
          <a:stretch/>
        </p:blipFill>
        <p:spPr>
          <a:xfrm>
            <a:off x="7686484" y="1338075"/>
            <a:ext cx="4205287" cy="414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711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57020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Brainstorm Potential Solutions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1393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Now that you know the root cause, what are some ways to fix it?</a:t>
            </a:r>
          </a:p>
          <a:p>
            <a:endParaRPr lang="en-US" dirty="0" smtClean="0"/>
          </a:p>
          <a:p>
            <a:r>
              <a:rPr lang="en-US" dirty="0" smtClean="0"/>
              <a:t>Don't judge ideas at this stage. Write everything down.</a:t>
            </a:r>
          </a:p>
          <a:p>
            <a:endParaRPr lang="en-US" dirty="0" smtClean="0"/>
          </a:p>
          <a:p>
            <a:r>
              <a:rPr lang="en-US" i="1" dirty="0" smtClean="0"/>
              <a:t>Example (for the root cause above):</a:t>
            </a:r>
          </a:p>
          <a:p>
            <a:endParaRPr lang="en-US" dirty="0" smtClean="0"/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Re-train the salesperson.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Create a mandatory checklist in the system.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Send an automatic alert if a step is missed.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Have a manager review every order.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400" y="1482969"/>
            <a:ext cx="3825241" cy="38252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0885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69844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Evaluate and Choose a Solution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Look at your list of solutions and pick the best one.</a:t>
            </a:r>
          </a:p>
          <a:p>
            <a:endParaRPr lang="en-US" dirty="0" smtClean="0"/>
          </a:p>
          <a:p>
            <a:r>
              <a:rPr lang="en-US" b="1" dirty="0" smtClean="0"/>
              <a:t>Feasibility:</a:t>
            </a:r>
            <a:r>
              <a:rPr lang="en-US" dirty="0" smtClean="0"/>
              <a:t> Can we actually </a:t>
            </a:r>
            <a:r>
              <a:rPr lang="en-US" i="1" dirty="0" smtClean="0"/>
              <a:t>do</a:t>
            </a:r>
            <a:r>
              <a:rPr lang="en-US" dirty="0" smtClean="0"/>
              <a:t> this? Is it cheap or expensive? Fast or slow?</a:t>
            </a:r>
          </a:p>
          <a:p>
            <a:endParaRPr lang="en-US" dirty="0" smtClean="0"/>
          </a:p>
          <a:p>
            <a:r>
              <a:rPr lang="en-US" b="1" dirty="0" smtClean="0"/>
              <a:t>Effectiveness:</a:t>
            </a:r>
            <a:r>
              <a:rPr lang="en-US" dirty="0" smtClean="0"/>
              <a:t> Will this </a:t>
            </a:r>
            <a:r>
              <a:rPr lang="en-US" i="1" dirty="0" smtClean="0"/>
              <a:t>actually solve</a:t>
            </a:r>
            <a:r>
              <a:rPr lang="en-US" dirty="0" smtClean="0"/>
              <a:t> the root cause?</a:t>
            </a:r>
          </a:p>
          <a:p>
            <a:endParaRPr lang="en-US" dirty="0" smtClean="0"/>
          </a:p>
          <a:p>
            <a:r>
              <a:rPr lang="en-US" i="1" dirty="0" smtClean="0"/>
              <a:t>Example:</a:t>
            </a:r>
          </a:p>
          <a:p>
            <a:endParaRPr lang="en-US" dirty="0" smtClean="0"/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"Re-train" is fast but might not stick.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dirty="0" smtClean="0"/>
              <a:t>"Manager review" is effective but slow and expensive.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"Automatic alert"</a:t>
            </a:r>
            <a:r>
              <a:rPr lang="en-US" dirty="0" smtClean="0"/>
              <a:t> seems both feasible and effective.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400" y="1905000"/>
            <a:ext cx="4496636" cy="32003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43633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672526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Implement and Review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31393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Put your chosen solution into action. But you're not done yet.</a:t>
            </a:r>
          </a:p>
          <a:p>
            <a:endParaRPr lang="en-US" dirty="0" smtClean="0"/>
          </a:p>
          <a:p>
            <a:r>
              <a:rPr lang="en-US" b="1" dirty="0" smtClean="0"/>
              <a:t>Implement:</a:t>
            </a:r>
            <a:r>
              <a:rPr lang="en-US" dirty="0" smtClean="0"/>
              <a:t> Build the automatic alert.</a:t>
            </a:r>
          </a:p>
          <a:p>
            <a:endParaRPr lang="en-US" dirty="0" smtClean="0"/>
          </a:p>
          <a:p>
            <a:r>
              <a:rPr lang="en-US" b="1" dirty="0" smtClean="0"/>
              <a:t>Review:</a:t>
            </a:r>
            <a:r>
              <a:rPr lang="en-US" dirty="0" smtClean="0"/>
              <a:t> Check back in a week. Did it work? Are shipments going out on time? If not, what did you learn? Maybe you need to try another solution.</a:t>
            </a:r>
          </a:p>
          <a:p>
            <a:endParaRPr lang="en-US" dirty="0" smtClean="0"/>
          </a:p>
          <a:p>
            <a:r>
              <a:rPr lang="en-US" dirty="0" smtClean="0"/>
              <a:t>This structured process helps you avoid panic and find a solution that lasts.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5125" y="2187499"/>
            <a:ext cx="4845988" cy="302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107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Open Discussion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884176" y="2590800"/>
            <a:ext cx="5897624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Why is it so important to correctly define the problem (Step 1) before trying to brainstorm solutions (Step 2)?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Think of a simple, common problem (e.g., "We keep running out of printer paper in the breakroom"). How would you apply these 4 steps?</a:t>
            </a:r>
            <a:endParaRPr lang="en-US" sz="1600" dirty="0" smtClean="0"/>
          </a:p>
        </p:txBody>
      </p:sp>
      <p:pic>
        <p:nvPicPr>
          <p:cNvPr id="11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1899138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001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https://afathelbab.github.io/cnpc/computer-basics-soft-skills/day3/quiz.html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7" name="object 2"/>
          <p:cNvSpPr txBox="1">
            <a:spLocks/>
          </p:cNvSpPr>
          <p:nvPr/>
        </p:nvSpPr>
        <p:spPr>
          <a:xfrm rot="19344576">
            <a:off x="3994338" y="810154"/>
            <a:ext cx="38862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ea typeface="+mj-ea"/>
                <a:cs typeface="Arial"/>
              </a:defRPr>
            </a:lvl1pPr>
          </a:lstStyle>
          <a:p>
            <a:pPr marL="2667000" algn="l">
              <a:spcBef>
                <a:spcPts val="95"/>
              </a:spcBef>
            </a:pPr>
            <a:r>
              <a:rPr lang="en-US" sz="2800" dirty="0" smtClean="0">
                <a:solidFill>
                  <a:schemeClr val="accent1">
                    <a:lumMod val="75000"/>
                  </a:schemeClr>
                </a:solidFill>
              </a:rPr>
              <a:t>Again!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7476" y="1447800"/>
            <a:ext cx="43434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134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549098"/>
            <a:ext cx="7467600" cy="1908933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Workshop</a:t>
            </a:r>
            <a:r>
              <a:rPr lang="en-US" sz="5400" dirty="0"/>
              <a:t/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341851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 smtClean="0"/>
              <a:t>Workshop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47800"/>
            <a:ext cx="6477000" cy="465534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1219200"/>
            <a:ext cx="4648200" cy="4648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6200" y="5867400"/>
            <a:ext cx="3886200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>
                <a:hlinkClick r:id="rId5"/>
              </a:rPr>
              <a:t>https://afathelbab.github.io/cnpc/computer-basics-soft-skills/workshops/</a:t>
            </a:r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2876721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789420"/>
            <a:chOff x="0" y="0"/>
            <a:chExt cx="12192000" cy="67894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199" y="211836"/>
              <a:ext cx="540060" cy="54406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1999" cy="678941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2192000" cy="6769734"/>
            </a:xfrm>
            <a:custGeom>
              <a:avLst/>
              <a:gdLst/>
              <a:ahLst/>
              <a:cxnLst/>
              <a:rect l="l" t="t" r="r" b="b"/>
              <a:pathLst>
                <a:path w="12192000" h="6769734">
                  <a:moveTo>
                    <a:pt x="0" y="6769606"/>
                  </a:moveTo>
                  <a:lnTo>
                    <a:pt x="12192000" y="6769606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769606"/>
                  </a:lnTo>
                  <a:close/>
                </a:path>
              </a:pathLst>
            </a:custGeom>
            <a:solidFill>
              <a:srgbClr val="FFFF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98114" y="3109340"/>
            <a:ext cx="5859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245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You,</a:t>
            </a:r>
            <a:r>
              <a:rPr sz="3600" spc="-105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170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Niger</a:t>
            </a:r>
            <a:endParaRPr sz="3600"/>
          </a:p>
        </p:txBody>
      </p:sp>
      <p:grpSp>
        <p:nvGrpSpPr>
          <p:cNvPr id="7" name="object 7"/>
          <p:cNvGrpSpPr/>
          <p:nvPr/>
        </p:nvGrpSpPr>
        <p:grpSpPr>
          <a:xfrm>
            <a:off x="5321808" y="1053195"/>
            <a:ext cx="1548765" cy="4386580"/>
            <a:chOff x="5321808" y="1053195"/>
            <a:chExt cx="1548765" cy="4386580"/>
          </a:xfrm>
        </p:grpSpPr>
        <p:sp>
          <p:nvSpPr>
            <p:cNvPr id="8" name="object 8"/>
            <p:cNvSpPr/>
            <p:nvPr/>
          </p:nvSpPr>
          <p:spPr>
            <a:xfrm>
              <a:off x="5321808" y="1053195"/>
              <a:ext cx="1548765" cy="1113790"/>
            </a:xfrm>
            <a:custGeom>
              <a:avLst/>
              <a:gdLst/>
              <a:ahLst/>
              <a:cxnLst/>
              <a:rect l="l" t="t" r="r" b="b"/>
              <a:pathLst>
                <a:path w="1548765" h="1113789">
                  <a:moveTo>
                    <a:pt x="634749" y="989329"/>
                  </a:moveTo>
                  <a:lnTo>
                    <a:pt x="460628" y="989329"/>
                  </a:lnTo>
                  <a:lnTo>
                    <a:pt x="449855" y="1013460"/>
                  </a:lnTo>
                  <a:lnTo>
                    <a:pt x="440737" y="1038860"/>
                  </a:lnTo>
                  <a:lnTo>
                    <a:pt x="440358" y="1065529"/>
                  </a:lnTo>
                  <a:lnTo>
                    <a:pt x="455802" y="1093469"/>
                  </a:lnTo>
                  <a:lnTo>
                    <a:pt x="488311" y="1112519"/>
                  </a:lnTo>
                  <a:lnTo>
                    <a:pt x="529653" y="1113789"/>
                  </a:lnTo>
                  <a:lnTo>
                    <a:pt x="571853" y="1101089"/>
                  </a:lnTo>
                  <a:lnTo>
                    <a:pt x="606932" y="1078229"/>
                  </a:lnTo>
                  <a:lnTo>
                    <a:pt x="629027" y="1047750"/>
                  </a:lnTo>
                  <a:lnTo>
                    <a:pt x="637952" y="1013460"/>
                  </a:lnTo>
                  <a:lnTo>
                    <a:pt x="634749" y="989329"/>
                  </a:lnTo>
                  <a:close/>
                </a:path>
                <a:path w="1548765" h="1113789">
                  <a:moveTo>
                    <a:pt x="1072659" y="533400"/>
                  </a:moveTo>
                  <a:lnTo>
                    <a:pt x="246395" y="533400"/>
                  </a:lnTo>
                  <a:lnTo>
                    <a:pt x="288628" y="538479"/>
                  </a:lnTo>
                  <a:lnTo>
                    <a:pt x="327792" y="553719"/>
                  </a:lnTo>
                  <a:lnTo>
                    <a:pt x="361314" y="579119"/>
                  </a:lnTo>
                  <a:lnTo>
                    <a:pt x="384238" y="609600"/>
                  </a:lnTo>
                  <a:lnTo>
                    <a:pt x="398399" y="645160"/>
                  </a:lnTo>
                  <a:lnTo>
                    <a:pt x="416018" y="651510"/>
                  </a:lnTo>
                  <a:lnTo>
                    <a:pt x="461899" y="683260"/>
                  </a:lnTo>
                  <a:lnTo>
                    <a:pt x="492831" y="730250"/>
                  </a:lnTo>
                  <a:lnTo>
                    <a:pt x="498855" y="749300"/>
                  </a:lnTo>
                  <a:lnTo>
                    <a:pt x="516346" y="755650"/>
                  </a:lnTo>
                  <a:lnTo>
                    <a:pt x="562101" y="787400"/>
                  </a:lnTo>
                  <a:lnTo>
                    <a:pt x="586851" y="820419"/>
                  </a:lnTo>
                  <a:lnTo>
                    <a:pt x="601217" y="859789"/>
                  </a:lnTo>
                  <a:lnTo>
                    <a:pt x="619740" y="866139"/>
                  </a:lnTo>
                  <a:lnTo>
                    <a:pt x="653117" y="885189"/>
                  </a:lnTo>
                  <a:lnTo>
                    <a:pt x="690189" y="928369"/>
                  </a:lnTo>
                  <a:lnTo>
                    <a:pt x="710287" y="996950"/>
                  </a:lnTo>
                  <a:lnTo>
                    <a:pt x="708405" y="1033779"/>
                  </a:lnTo>
                  <a:lnTo>
                    <a:pt x="712559" y="1037589"/>
                  </a:lnTo>
                  <a:lnTo>
                    <a:pt x="721693" y="1047750"/>
                  </a:lnTo>
                  <a:lnTo>
                    <a:pt x="733232" y="1060450"/>
                  </a:lnTo>
                  <a:lnTo>
                    <a:pt x="744474" y="1071879"/>
                  </a:lnTo>
                  <a:lnTo>
                    <a:pt x="766927" y="1087119"/>
                  </a:lnTo>
                  <a:lnTo>
                    <a:pt x="792559" y="1092200"/>
                  </a:lnTo>
                  <a:lnTo>
                    <a:pt x="818215" y="1087119"/>
                  </a:lnTo>
                  <a:lnTo>
                    <a:pt x="840739" y="1071879"/>
                  </a:lnTo>
                  <a:lnTo>
                    <a:pt x="855545" y="1049019"/>
                  </a:lnTo>
                  <a:lnTo>
                    <a:pt x="860504" y="1023619"/>
                  </a:lnTo>
                  <a:lnTo>
                    <a:pt x="855581" y="998219"/>
                  </a:lnTo>
                  <a:lnTo>
                    <a:pt x="840739" y="976629"/>
                  </a:lnTo>
                  <a:lnTo>
                    <a:pt x="825543" y="960119"/>
                  </a:lnTo>
                  <a:lnTo>
                    <a:pt x="793559" y="924560"/>
                  </a:lnTo>
                  <a:lnTo>
                    <a:pt x="763194" y="889000"/>
                  </a:lnTo>
                  <a:lnTo>
                    <a:pt x="752855" y="868679"/>
                  </a:lnTo>
                  <a:lnTo>
                    <a:pt x="953429" y="868679"/>
                  </a:lnTo>
                  <a:lnTo>
                    <a:pt x="952003" y="867410"/>
                  </a:lnTo>
                  <a:lnTo>
                    <a:pt x="911923" y="830579"/>
                  </a:lnTo>
                  <a:lnTo>
                    <a:pt x="873557" y="791210"/>
                  </a:lnTo>
                  <a:lnTo>
                    <a:pt x="860170" y="768350"/>
                  </a:lnTo>
                  <a:lnTo>
                    <a:pt x="1081081" y="768350"/>
                  </a:lnTo>
                  <a:lnTo>
                    <a:pt x="1059243" y="744219"/>
                  </a:lnTo>
                  <a:lnTo>
                    <a:pt x="1023028" y="701039"/>
                  </a:lnTo>
                  <a:lnTo>
                    <a:pt x="1010412" y="676910"/>
                  </a:lnTo>
                  <a:lnTo>
                    <a:pt x="1216034" y="676910"/>
                  </a:lnTo>
                  <a:lnTo>
                    <a:pt x="1072659" y="533400"/>
                  </a:lnTo>
                  <a:close/>
                </a:path>
                <a:path w="1548765" h="1113789">
                  <a:moveTo>
                    <a:pt x="953429" y="868679"/>
                  </a:moveTo>
                  <a:lnTo>
                    <a:pt x="752855" y="868679"/>
                  </a:lnTo>
                  <a:lnTo>
                    <a:pt x="776037" y="883919"/>
                  </a:lnTo>
                  <a:lnTo>
                    <a:pt x="819911" y="924560"/>
                  </a:lnTo>
                  <a:lnTo>
                    <a:pt x="883157" y="988060"/>
                  </a:lnTo>
                  <a:lnTo>
                    <a:pt x="905589" y="1003300"/>
                  </a:lnTo>
                  <a:lnTo>
                    <a:pt x="931163" y="1008379"/>
                  </a:lnTo>
                  <a:lnTo>
                    <a:pt x="956738" y="1003300"/>
                  </a:lnTo>
                  <a:lnTo>
                    <a:pt x="979169" y="988060"/>
                  </a:lnTo>
                  <a:lnTo>
                    <a:pt x="994100" y="966469"/>
                  </a:lnTo>
                  <a:lnTo>
                    <a:pt x="999077" y="941069"/>
                  </a:lnTo>
                  <a:lnTo>
                    <a:pt x="994100" y="914400"/>
                  </a:lnTo>
                  <a:lnTo>
                    <a:pt x="979169" y="892810"/>
                  </a:lnTo>
                  <a:lnTo>
                    <a:pt x="978026" y="891539"/>
                  </a:lnTo>
                  <a:lnTo>
                    <a:pt x="972692" y="886460"/>
                  </a:lnTo>
                  <a:lnTo>
                    <a:pt x="970533" y="883919"/>
                  </a:lnTo>
                  <a:lnTo>
                    <a:pt x="953429" y="868679"/>
                  </a:lnTo>
                  <a:close/>
                </a:path>
                <a:path w="1548765" h="1113789">
                  <a:moveTo>
                    <a:pt x="531101" y="887729"/>
                  </a:moveTo>
                  <a:lnTo>
                    <a:pt x="352932" y="887729"/>
                  </a:lnTo>
                  <a:lnTo>
                    <a:pt x="344779" y="909319"/>
                  </a:lnTo>
                  <a:lnTo>
                    <a:pt x="337327" y="932179"/>
                  </a:lnTo>
                  <a:lnTo>
                    <a:pt x="336948" y="956310"/>
                  </a:lnTo>
                  <a:lnTo>
                    <a:pt x="350012" y="982979"/>
                  </a:lnTo>
                  <a:lnTo>
                    <a:pt x="375386" y="1000760"/>
                  </a:lnTo>
                  <a:lnTo>
                    <a:pt x="404510" y="1003300"/>
                  </a:lnTo>
                  <a:lnTo>
                    <a:pt x="434040" y="998219"/>
                  </a:lnTo>
                  <a:lnTo>
                    <a:pt x="460628" y="989329"/>
                  </a:lnTo>
                  <a:lnTo>
                    <a:pt x="634749" y="989329"/>
                  </a:lnTo>
                  <a:lnTo>
                    <a:pt x="633400" y="979169"/>
                  </a:lnTo>
                  <a:lnTo>
                    <a:pt x="615061" y="948689"/>
                  </a:lnTo>
                  <a:lnTo>
                    <a:pt x="595760" y="934719"/>
                  </a:lnTo>
                  <a:lnTo>
                    <a:pt x="580878" y="929639"/>
                  </a:lnTo>
                  <a:lnTo>
                    <a:pt x="525144" y="929639"/>
                  </a:lnTo>
                  <a:lnTo>
                    <a:pt x="531332" y="905510"/>
                  </a:lnTo>
                  <a:lnTo>
                    <a:pt x="531101" y="887729"/>
                  </a:lnTo>
                  <a:close/>
                </a:path>
                <a:path w="1548765" h="1113789">
                  <a:moveTo>
                    <a:pt x="549445" y="925829"/>
                  </a:moveTo>
                  <a:lnTo>
                    <a:pt x="525144" y="929639"/>
                  </a:lnTo>
                  <a:lnTo>
                    <a:pt x="580878" y="929639"/>
                  </a:lnTo>
                  <a:lnTo>
                    <a:pt x="573436" y="927100"/>
                  </a:lnTo>
                  <a:lnTo>
                    <a:pt x="549445" y="925829"/>
                  </a:lnTo>
                  <a:close/>
                </a:path>
                <a:path w="1548765" h="1113789">
                  <a:moveTo>
                    <a:pt x="1081081" y="768350"/>
                  </a:moveTo>
                  <a:lnTo>
                    <a:pt x="860170" y="768350"/>
                  </a:lnTo>
                  <a:lnTo>
                    <a:pt x="888642" y="784860"/>
                  </a:lnTo>
                  <a:lnTo>
                    <a:pt x="942403" y="830579"/>
                  </a:lnTo>
                  <a:lnTo>
                    <a:pt x="994544" y="876300"/>
                  </a:lnTo>
                  <a:lnTo>
                    <a:pt x="1018158" y="897889"/>
                  </a:lnTo>
                  <a:lnTo>
                    <a:pt x="1040278" y="911860"/>
                  </a:lnTo>
                  <a:lnTo>
                    <a:pt x="1089757" y="910589"/>
                  </a:lnTo>
                  <a:lnTo>
                    <a:pt x="1125577" y="875029"/>
                  </a:lnTo>
                  <a:lnTo>
                    <a:pt x="1130776" y="850900"/>
                  </a:lnTo>
                  <a:lnTo>
                    <a:pt x="1127164" y="826769"/>
                  </a:lnTo>
                  <a:lnTo>
                    <a:pt x="1114932" y="805179"/>
                  </a:lnTo>
                  <a:lnTo>
                    <a:pt x="1097172" y="786129"/>
                  </a:lnTo>
                  <a:lnTo>
                    <a:pt x="1081081" y="768350"/>
                  </a:lnTo>
                  <a:close/>
                </a:path>
                <a:path w="1548765" h="1113789">
                  <a:moveTo>
                    <a:pt x="430004" y="783589"/>
                  </a:moveTo>
                  <a:lnTo>
                    <a:pt x="252349" y="783589"/>
                  </a:lnTo>
                  <a:lnTo>
                    <a:pt x="244236" y="805179"/>
                  </a:lnTo>
                  <a:lnTo>
                    <a:pt x="236600" y="828039"/>
                  </a:lnTo>
                  <a:lnTo>
                    <a:pt x="236204" y="852169"/>
                  </a:lnTo>
                  <a:lnTo>
                    <a:pt x="249808" y="878839"/>
                  </a:lnTo>
                  <a:lnTo>
                    <a:pt x="274655" y="897889"/>
                  </a:lnTo>
                  <a:lnTo>
                    <a:pt x="301609" y="900429"/>
                  </a:lnTo>
                  <a:lnTo>
                    <a:pt x="328443" y="894079"/>
                  </a:lnTo>
                  <a:lnTo>
                    <a:pt x="352932" y="887729"/>
                  </a:lnTo>
                  <a:lnTo>
                    <a:pt x="531101" y="887729"/>
                  </a:lnTo>
                  <a:lnTo>
                    <a:pt x="509650" y="838200"/>
                  </a:lnTo>
                  <a:lnTo>
                    <a:pt x="471455" y="816610"/>
                  </a:lnTo>
                  <a:lnTo>
                    <a:pt x="426974" y="816610"/>
                  </a:lnTo>
                  <a:lnTo>
                    <a:pt x="430748" y="795019"/>
                  </a:lnTo>
                  <a:lnTo>
                    <a:pt x="430004" y="783589"/>
                  </a:lnTo>
                  <a:close/>
                </a:path>
                <a:path w="1548765" h="1113789">
                  <a:moveTo>
                    <a:pt x="449500" y="814069"/>
                  </a:moveTo>
                  <a:lnTo>
                    <a:pt x="426974" y="816610"/>
                  </a:lnTo>
                  <a:lnTo>
                    <a:pt x="471455" y="816610"/>
                  </a:lnTo>
                  <a:lnTo>
                    <a:pt x="449500" y="814069"/>
                  </a:lnTo>
                  <a:close/>
                </a:path>
                <a:path w="1548765" h="1113789">
                  <a:moveTo>
                    <a:pt x="1216034" y="676910"/>
                  </a:moveTo>
                  <a:lnTo>
                    <a:pt x="1010412" y="676910"/>
                  </a:lnTo>
                  <a:lnTo>
                    <a:pt x="1033085" y="689610"/>
                  </a:lnTo>
                  <a:lnTo>
                    <a:pt x="1074070" y="726439"/>
                  </a:lnTo>
                  <a:lnTo>
                    <a:pt x="1131062" y="783589"/>
                  </a:lnTo>
                  <a:lnTo>
                    <a:pt x="1153497" y="797560"/>
                  </a:lnTo>
                  <a:lnTo>
                    <a:pt x="1179099" y="802639"/>
                  </a:lnTo>
                  <a:lnTo>
                    <a:pt x="1204749" y="797560"/>
                  </a:lnTo>
                  <a:lnTo>
                    <a:pt x="1227327" y="783589"/>
                  </a:lnTo>
                  <a:lnTo>
                    <a:pt x="1242115" y="760729"/>
                  </a:lnTo>
                  <a:lnTo>
                    <a:pt x="1247044" y="735329"/>
                  </a:lnTo>
                  <a:lnTo>
                    <a:pt x="1242115" y="709929"/>
                  </a:lnTo>
                  <a:lnTo>
                    <a:pt x="1227327" y="687069"/>
                  </a:lnTo>
                  <a:lnTo>
                    <a:pt x="1226185" y="687069"/>
                  </a:lnTo>
                  <a:lnTo>
                    <a:pt x="1216034" y="676910"/>
                  </a:lnTo>
                  <a:close/>
                </a:path>
                <a:path w="1548765" h="1113789">
                  <a:moveTo>
                    <a:pt x="245094" y="604519"/>
                  </a:moveTo>
                  <a:lnTo>
                    <a:pt x="178053" y="633729"/>
                  </a:lnTo>
                  <a:lnTo>
                    <a:pt x="152657" y="665479"/>
                  </a:lnTo>
                  <a:lnTo>
                    <a:pt x="136620" y="703579"/>
                  </a:lnTo>
                  <a:lnTo>
                    <a:pt x="134155" y="741679"/>
                  </a:lnTo>
                  <a:lnTo>
                    <a:pt x="149478" y="774700"/>
                  </a:lnTo>
                  <a:lnTo>
                    <a:pt x="175732" y="793750"/>
                  </a:lnTo>
                  <a:lnTo>
                    <a:pt x="202533" y="796289"/>
                  </a:lnTo>
                  <a:lnTo>
                    <a:pt x="228524" y="789939"/>
                  </a:lnTo>
                  <a:lnTo>
                    <a:pt x="252349" y="783589"/>
                  </a:lnTo>
                  <a:lnTo>
                    <a:pt x="430004" y="783589"/>
                  </a:lnTo>
                  <a:lnTo>
                    <a:pt x="409066" y="734060"/>
                  </a:lnTo>
                  <a:lnTo>
                    <a:pt x="370951" y="712469"/>
                  </a:lnTo>
                  <a:lnTo>
                    <a:pt x="326643" y="712469"/>
                  </a:lnTo>
                  <a:lnTo>
                    <a:pt x="330344" y="690879"/>
                  </a:lnTo>
                  <a:lnTo>
                    <a:pt x="328818" y="668019"/>
                  </a:lnTo>
                  <a:lnTo>
                    <a:pt x="321696" y="647700"/>
                  </a:lnTo>
                  <a:lnTo>
                    <a:pt x="308609" y="629919"/>
                  </a:lnTo>
                  <a:lnTo>
                    <a:pt x="279370" y="610869"/>
                  </a:lnTo>
                  <a:lnTo>
                    <a:pt x="245094" y="604519"/>
                  </a:lnTo>
                  <a:close/>
                </a:path>
                <a:path w="1548765" h="1113789">
                  <a:moveTo>
                    <a:pt x="349041" y="709929"/>
                  </a:moveTo>
                  <a:lnTo>
                    <a:pt x="326643" y="712469"/>
                  </a:lnTo>
                  <a:lnTo>
                    <a:pt x="370951" y="712469"/>
                  </a:lnTo>
                  <a:lnTo>
                    <a:pt x="349041" y="709929"/>
                  </a:lnTo>
                  <a:close/>
                </a:path>
                <a:path w="1548765" h="1113789">
                  <a:moveTo>
                    <a:pt x="0" y="85089"/>
                  </a:moveTo>
                  <a:lnTo>
                    <a:pt x="0" y="621029"/>
                  </a:lnTo>
                  <a:lnTo>
                    <a:pt x="7504" y="622300"/>
                  </a:lnTo>
                  <a:lnTo>
                    <a:pt x="53899" y="637539"/>
                  </a:lnTo>
                  <a:lnTo>
                    <a:pt x="83692" y="648969"/>
                  </a:lnTo>
                  <a:lnTo>
                    <a:pt x="91406" y="631189"/>
                  </a:lnTo>
                  <a:lnTo>
                    <a:pt x="101203" y="613410"/>
                  </a:lnTo>
                  <a:lnTo>
                    <a:pt x="127000" y="580389"/>
                  </a:lnTo>
                  <a:lnTo>
                    <a:pt x="163009" y="554989"/>
                  </a:lnTo>
                  <a:lnTo>
                    <a:pt x="203665" y="538479"/>
                  </a:lnTo>
                  <a:lnTo>
                    <a:pt x="246395" y="533400"/>
                  </a:lnTo>
                  <a:lnTo>
                    <a:pt x="1072659" y="533400"/>
                  </a:lnTo>
                  <a:lnTo>
                    <a:pt x="1002775" y="463550"/>
                  </a:lnTo>
                  <a:lnTo>
                    <a:pt x="599186" y="463550"/>
                  </a:lnTo>
                  <a:lnTo>
                    <a:pt x="550202" y="455929"/>
                  </a:lnTo>
                  <a:lnTo>
                    <a:pt x="507668" y="433069"/>
                  </a:lnTo>
                  <a:lnTo>
                    <a:pt x="474132" y="400050"/>
                  </a:lnTo>
                  <a:lnTo>
                    <a:pt x="452142" y="358139"/>
                  </a:lnTo>
                  <a:lnTo>
                    <a:pt x="444245" y="309879"/>
                  </a:lnTo>
                  <a:lnTo>
                    <a:pt x="449554" y="269239"/>
                  </a:lnTo>
                  <a:lnTo>
                    <a:pt x="464518" y="233679"/>
                  </a:lnTo>
                  <a:lnTo>
                    <a:pt x="487697" y="203200"/>
                  </a:lnTo>
                  <a:lnTo>
                    <a:pt x="517651" y="179070"/>
                  </a:lnTo>
                  <a:lnTo>
                    <a:pt x="559503" y="152400"/>
                  </a:lnTo>
                  <a:lnTo>
                    <a:pt x="209405" y="152400"/>
                  </a:lnTo>
                  <a:lnTo>
                    <a:pt x="154431" y="138429"/>
                  </a:lnTo>
                  <a:lnTo>
                    <a:pt x="0" y="85089"/>
                  </a:lnTo>
                  <a:close/>
                </a:path>
                <a:path w="1548765" h="1113789">
                  <a:moveTo>
                    <a:pt x="1548384" y="260350"/>
                  </a:moveTo>
                  <a:lnTo>
                    <a:pt x="898380" y="260350"/>
                  </a:lnTo>
                  <a:lnTo>
                    <a:pt x="934735" y="264159"/>
                  </a:lnTo>
                  <a:lnTo>
                    <a:pt x="957780" y="275589"/>
                  </a:lnTo>
                  <a:lnTo>
                    <a:pt x="965834" y="281939"/>
                  </a:lnTo>
                  <a:lnTo>
                    <a:pt x="1295272" y="605789"/>
                  </a:lnTo>
                  <a:lnTo>
                    <a:pt x="1332807" y="628650"/>
                  </a:lnTo>
                  <a:lnTo>
                    <a:pt x="1371234" y="635000"/>
                  </a:lnTo>
                  <a:lnTo>
                    <a:pt x="1404733" y="631189"/>
                  </a:lnTo>
                  <a:lnTo>
                    <a:pt x="1427480" y="627379"/>
                  </a:lnTo>
                  <a:lnTo>
                    <a:pt x="1495647" y="614679"/>
                  </a:lnTo>
                  <a:lnTo>
                    <a:pt x="1532385" y="608329"/>
                  </a:lnTo>
                  <a:lnTo>
                    <a:pt x="1548384" y="604519"/>
                  </a:lnTo>
                  <a:lnTo>
                    <a:pt x="1548384" y="260350"/>
                  </a:lnTo>
                  <a:close/>
                </a:path>
                <a:path w="1548765" h="1113789">
                  <a:moveTo>
                    <a:pt x="866665" y="363219"/>
                  </a:moveTo>
                  <a:lnTo>
                    <a:pt x="825500" y="372110"/>
                  </a:lnTo>
                  <a:lnTo>
                    <a:pt x="792487" y="386079"/>
                  </a:lnTo>
                  <a:lnTo>
                    <a:pt x="690117" y="434339"/>
                  </a:lnTo>
                  <a:lnTo>
                    <a:pt x="659425" y="448310"/>
                  </a:lnTo>
                  <a:lnTo>
                    <a:pt x="633745" y="457200"/>
                  </a:lnTo>
                  <a:lnTo>
                    <a:pt x="613519" y="462279"/>
                  </a:lnTo>
                  <a:lnTo>
                    <a:pt x="599186" y="463550"/>
                  </a:lnTo>
                  <a:lnTo>
                    <a:pt x="1002775" y="463550"/>
                  </a:lnTo>
                  <a:lnTo>
                    <a:pt x="954425" y="415289"/>
                  </a:lnTo>
                  <a:lnTo>
                    <a:pt x="929513" y="389889"/>
                  </a:lnTo>
                  <a:lnTo>
                    <a:pt x="921565" y="383539"/>
                  </a:lnTo>
                  <a:lnTo>
                    <a:pt x="899652" y="370839"/>
                  </a:lnTo>
                  <a:lnTo>
                    <a:pt x="866665" y="363219"/>
                  </a:lnTo>
                  <a:close/>
                </a:path>
                <a:path w="1548765" h="1113789">
                  <a:moveTo>
                    <a:pt x="1002506" y="0"/>
                  </a:moveTo>
                  <a:lnTo>
                    <a:pt x="968331" y="2539"/>
                  </a:lnTo>
                  <a:lnTo>
                    <a:pt x="933322" y="16509"/>
                  </a:lnTo>
                  <a:lnTo>
                    <a:pt x="898012" y="35559"/>
                  </a:lnTo>
                  <a:lnTo>
                    <a:pt x="854622" y="59689"/>
                  </a:lnTo>
                  <a:lnTo>
                    <a:pt x="805673" y="86359"/>
                  </a:lnTo>
                  <a:lnTo>
                    <a:pt x="701166" y="144779"/>
                  </a:lnTo>
                  <a:lnTo>
                    <a:pt x="604636" y="200659"/>
                  </a:lnTo>
                  <a:lnTo>
                    <a:pt x="565657" y="224789"/>
                  </a:lnTo>
                  <a:lnTo>
                    <a:pt x="523938" y="259079"/>
                  </a:lnTo>
                  <a:lnTo>
                    <a:pt x="507745" y="307339"/>
                  </a:lnTo>
                  <a:lnTo>
                    <a:pt x="518826" y="345439"/>
                  </a:lnTo>
                  <a:lnTo>
                    <a:pt x="548957" y="377189"/>
                  </a:lnTo>
                  <a:lnTo>
                    <a:pt x="593470" y="392429"/>
                  </a:lnTo>
                  <a:lnTo>
                    <a:pt x="647700" y="379729"/>
                  </a:lnTo>
                  <a:lnTo>
                    <a:pt x="687157" y="360679"/>
                  </a:lnTo>
                  <a:lnTo>
                    <a:pt x="739616" y="332739"/>
                  </a:lnTo>
                  <a:lnTo>
                    <a:pt x="796790" y="303529"/>
                  </a:lnTo>
                  <a:lnTo>
                    <a:pt x="850391" y="275589"/>
                  </a:lnTo>
                  <a:lnTo>
                    <a:pt x="898380" y="260350"/>
                  </a:lnTo>
                  <a:lnTo>
                    <a:pt x="1548384" y="260350"/>
                  </a:lnTo>
                  <a:lnTo>
                    <a:pt x="1548384" y="191770"/>
                  </a:lnTo>
                  <a:lnTo>
                    <a:pt x="1279415" y="191770"/>
                  </a:lnTo>
                  <a:lnTo>
                    <a:pt x="1259697" y="187959"/>
                  </a:lnTo>
                  <a:lnTo>
                    <a:pt x="1247193" y="181609"/>
                  </a:lnTo>
                  <a:lnTo>
                    <a:pt x="1242821" y="179070"/>
                  </a:lnTo>
                  <a:lnTo>
                    <a:pt x="1229953" y="167639"/>
                  </a:lnTo>
                  <a:lnTo>
                    <a:pt x="1195403" y="138429"/>
                  </a:lnTo>
                  <a:lnTo>
                    <a:pt x="1145256" y="95250"/>
                  </a:lnTo>
                  <a:lnTo>
                    <a:pt x="1085595" y="45720"/>
                  </a:lnTo>
                  <a:lnTo>
                    <a:pt x="1040157" y="12700"/>
                  </a:lnTo>
                  <a:lnTo>
                    <a:pt x="1002506" y="0"/>
                  </a:lnTo>
                  <a:close/>
                </a:path>
                <a:path w="1548765" h="1113789">
                  <a:moveTo>
                    <a:pt x="1548384" y="137159"/>
                  </a:moveTo>
                  <a:lnTo>
                    <a:pt x="1523728" y="143509"/>
                  </a:lnTo>
                  <a:lnTo>
                    <a:pt x="1462389" y="156209"/>
                  </a:lnTo>
                  <a:lnTo>
                    <a:pt x="1383309" y="173989"/>
                  </a:lnTo>
                  <a:lnTo>
                    <a:pt x="1305433" y="190500"/>
                  </a:lnTo>
                  <a:lnTo>
                    <a:pt x="1279415" y="191770"/>
                  </a:lnTo>
                  <a:lnTo>
                    <a:pt x="1548384" y="191770"/>
                  </a:lnTo>
                  <a:lnTo>
                    <a:pt x="1548384" y="137159"/>
                  </a:lnTo>
                  <a:close/>
                </a:path>
                <a:path w="1548765" h="1113789">
                  <a:moveTo>
                    <a:pt x="583183" y="6350"/>
                  </a:moveTo>
                  <a:lnTo>
                    <a:pt x="497548" y="26670"/>
                  </a:lnTo>
                  <a:lnTo>
                    <a:pt x="401399" y="71120"/>
                  </a:lnTo>
                  <a:lnTo>
                    <a:pt x="322990" y="115570"/>
                  </a:lnTo>
                  <a:lnTo>
                    <a:pt x="290575" y="135889"/>
                  </a:lnTo>
                  <a:lnTo>
                    <a:pt x="280537" y="140970"/>
                  </a:lnTo>
                  <a:lnTo>
                    <a:pt x="252460" y="149859"/>
                  </a:lnTo>
                  <a:lnTo>
                    <a:pt x="209405" y="152400"/>
                  </a:lnTo>
                  <a:lnTo>
                    <a:pt x="559503" y="152400"/>
                  </a:lnTo>
                  <a:lnTo>
                    <a:pt x="575446" y="142239"/>
                  </a:lnTo>
                  <a:lnTo>
                    <a:pt x="642540" y="104139"/>
                  </a:lnTo>
                  <a:lnTo>
                    <a:pt x="721232" y="60959"/>
                  </a:lnTo>
                  <a:lnTo>
                    <a:pt x="713021" y="52070"/>
                  </a:lnTo>
                  <a:lnTo>
                    <a:pt x="687831" y="33020"/>
                  </a:lnTo>
                  <a:lnTo>
                    <a:pt x="644830" y="15239"/>
                  </a:lnTo>
                  <a:lnTo>
                    <a:pt x="583183" y="635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86400" y="4376927"/>
              <a:ext cx="1281683" cy="1062228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87861" y="6425285"/>
            <a:ext cx="18732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Tahoma"/>
                <a:cs typeface="Tahoma"/>
              </a:rPr>
              <a:t>74</a:t>
            </a:r>
            <a:endParaRPr sz="120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4514</TotalTime>
  <Words>1134</Words>
  <Application>Microsoft Office PowerPoint</Application>
  <PresentationFormat>Widescreen</PresentationFormat>
  <Paragraphs>171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Arial MT</vt:lpstr>
      <vt:lpstr>Calibri</vt:lpstr>
      <vt:lpstr>Tahoma</vt:lpstr>
      <vt:lpstr>Wingdings</vt:lpstr>
      <vt:lpstr>Office Theme</vt:lpstr>
      <vt:lpstr>CNPC Niger Petroleum S.A.</vt:lpstr>
      <vt:lpstr>Training Agenda</vt:lpstr>
      <vt:lpstr>Training Objectives</vt:lpstr>
      <vt:lpstr>Test your Knowledge</vt:lpstr>
      <vt:lpstr>Quiz Reflection</vt:lpstr>
      <vt:lpstr>Module 1:  Introduction to ERP Systems</vt:lpstr>
      <vt:lpstr>Module 1: Introduction to ERP Systems</vt:lpstr>
      <vt:lpstr>Module 1: Introduction to ERP Systems</vt:lpstr>
      <vt:lpstr>Module 1: Introduction to ERP Systems</vt:lpstr>
      <vt:lpstr>Module 1: Introduction to ERP Systems</vt:lpstr>
      <vt:lpstr>Module 2:  Problem Solving</vt:lpstr>
      <vt:lpstr>Module 2: Problem Solving</vt:lpstr>
      <vt:lpstr>Module 2: Problem Solving</vt:lpstr>
      <vt:lpstr>Module 2: Problem Solving</vt:lpstr>
      <vt:lpstr>Module 2: Problem Solving</vt:lpstr>
      <vt:lpstr>Module 2: Problem Solving</vt:lpstr>
      <vt:lpstr>Module 2: Problem Solving</vt:lpstr>
      <vt:lpstr>Test your Knowledge</vt:lpstr>
      <vt:lpstr>Workshop </vt:lpstr>
      <vt:lpstr>Workshop</vt:lpstr>
      <vt:lpstr>A Better You, A Better Niger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a.mostafa</dc:creator>
  <cp:lastModifiedBy>Ahmed Fathelbab</cp:lastModifiedBy>
  <cp:revision>47</cp:revision>
  <dcterms:created xsi:type="dcterms:W3CDTF">2024-08-12T11:19:28Z</dcterms:created>
  <dcterms:modified xsi:type="dcterms:W3CDTF">2025-11-03T12:09:45Z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2024-08-06T00:00:00Z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2024-08-12T00:00:00Z</vt:filetime>
  </property>
  <property fmtid="{D5CDD505-2E9C-101B-9397-08002B2CF9AE}" pid="5" name="Producer">
    <vt:lpwstr>Microsoft® PowerPoint® 2019</vt:lpwstr>
  </property>
  <property fmtid="{D5CDD505-2E9C-101B-9397-08002B2CF9AE}" pid="6" name="MSIP_Label_60c30631-53b8-4fcf-bd6e-2fc80ac82da0_Enabled">
    <vt:lpwstr>true</vt:lpwstr>
  </property>
  <property fmtid="{D5CDD505-2E9C-101B-9397-08002B2CF9AE}" pid="7" name="MSIP_Label_60c30631-53b8-4fcf-bd6e-2fc80ac82da0_SetDate">
    <vt:lpwstr>2024-08-12T11:20:17Z</vt:lpwstr>
  </property>
  <property fmtid="{D5CDD505-2E9C-101B-9397-08002B2CF9AE}" pid="8" name="MSIP_Label_60c30631-53b8-4fcf-bd6e-2fc80ac82da0_Method">
    <vt:lpwstr>Standard</vt:lpwstr>
  </property>
  <property fmtid="{D5CDD505-2E9C-101B-9397-08002B2CF9AE}" pid="9" name="MSIP_Label_60c30631-53b8-4fcf-bd6e-2fc80ac82da0_Name">
    <vt:lpwstr>ALJ INTERNAL</vt:lpwstr>
  </property>
  <property fmtid="{D5CDD505-2E9C-101B-9397-08002B2CF9AE}" pid="10" name="MSIP_Label_60c30631-53b8-4fcf-bd6e-2fc80ac82da0_SiteId">
    <vt:lpwstr>8b5f60ac-e420-4280-b0a5-0d6fd7eaf2d7</vt:lpwstr>
  </property>
  <property fmtid="{D5CDD505-2E9C-101B-9397-08002B2CF9AE}" pid="11" name="MSIP_Label_60c30631-53b8-4fcf-bd6e-2fc80ac82da0_ActionId">
    <vt:lpwstr>b59d25a2-f112-448b-be06-388c48d376a7</vt:lpwstr>
  </property>
  <property fmtid="{D5CDD505-2E9C-101B-9397-08002B2CF9AE}" pid="12" name="MSIP_Label_60c30631-53b8-4fcf-bd6e-2fc80ac82da0_ContentBits">
    <vt:lpwstr>2</vt:lpwstr>
  </property>
  <property fmtid="{D5CDD505-2E9C-101B-9397-08002B2CF9AE}" pid="13" name="ClassificationContentMarkingFooterLocations">
    <vt:lpwstr>Office Theme:8</vt:lpwstr>
  </property>
  <property fmtid="{D5CDD505-2E9C-101B-9397-08002B2CF9AE}" pid="14" name="ClassificationContentMarkingFooterText">
    <vt:lpwstr>INTERNAL</vt:lpwstr>
  </property>
</Properties>
</file>