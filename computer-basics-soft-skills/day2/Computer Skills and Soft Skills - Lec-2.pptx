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4.jpg" ContentType="image/jpg"/>
  <Override PartName="/ppt/media/image26.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1" r:id="rId5"/>
    <p:sldId id="262" r:id="rId6"/>
    <p:sldId id="334" r:id="rId7"/>
    <p:sldId id="263" r:id="rId8"/>
    <p:sldId id="352" r:id="rId9"/>
    <p:sldId id="353" r:id="rId10"/>
    <p:sldId id="354" r:id="rId11"/>
    <p:sldId id="355" r:id="rId12"/>
    <p:sldId id="335" r:id="rId13"/>
    <p:sldId id="336" r:id="rId14"/>
    <p:sldId id="356" r:id="rId15"/>
    <p:sldId id="357" r:id="rId16"/>
    <p:sldId id="338" r:id="rId17"/>
    <p:sldId id="339" r:id="rId18"/>
    <p:sldId id="358" r:id="rId19"/>
    <p:sldId id="359" r:id="rId20"/>
    <p:sldId id="360" r:id="rId21"/>
    <p:sldId id="361" r:id="rId22"/>
    <p:sldId id="345" r:id="rId23"/>
    <p:sldId id="346" r:id="rId24"/>
    <p:sldId id="362" r:id="rId25"/>
    <p:sldId id="363" r:id="rId26"/>
    <p:sldId id="364" r:id="rId27"/>
    <p:sldId id="351" r:id="rId28"/>
    <p:sldId id="365" r:id="rId29"/>
    <p:sldId id="366" r:id="rId30"/>
    <p:sldId id="329" r:id="rId3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5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63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694433" y="190881"/>
            <a:ext cx="4539615" cy="330834"/>
          </a:xfrm>
          <a:prstGeom prst="rect">
            <a:avLst/>
          </a:prstGeom>
        </p:spPr>
        <p:txBody>
          <a:bodyPr wrap="square" lIns="0" tIns="0" rIns="0" bIns="0">
            <a:spAutoFit/>
          </a:bodyPr>
          <a:lstStyle>
            <a:lvl1pPr>
              <a:defRPr sz="2000" b="1" i="0">
                <a:solidFill>
                  <a:srgbClr val="CE2C2C"/>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1" i="0">
                <a:solidFill>
                  <a:srgbClr val="C00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CE2C2C"/>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1" i="0">
                <a:solidFill>
                  <a:srgbClr val="C00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CE2C2C"/>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7" name="Holder 7"/>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694931"/>
            <a:ext cx="12192000" cy="163195"/>
          </a:xfrm>
          <a:custGeom>
            <a:avLst/>
            <a:gdLst/>
            <a:ahLst/>
            <a:cxnLst/>
            <a:rect l="l" t="t" r="r" b="b"/>
            <a:pathLst>
              <a:path w="12192000" h="163195">
                <a:moveTo>
                  <a:pt x="12192000" y="0"/>
                </a:moveTo>
                <a:lnTo>
                  <a:pt x="0" y="0"/>
                </a:lnTo>
                <a:lnTo>
                  <a:pt x="0" y="163066"/>
                </a:lnTo>
                <a:lnTo>
                  <a:pt x="12192000" y="163066"/>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8153400" y="323088"/>
            <a:ext cx="1910080" cy="326390"/>
          </a:xfrm>
          <a:custGeom>
            <a:avLst/>
            <a:gdLst/>
            <a:ahLst/>
            <a:cxnLst/>
            <a:rect l="l" t="t" r="r" b="b"/>
            <a:pathLst>
              <a:path w="1910079" h="326390">
                <a:moveTo>
                  <a:pt x="1909572" y="0"/>
                </a:moveTo>
                <a:lnTo>
                  <a:pt x="0" y="0"/>
                </a:lnTo>
                <a:lnTo>
                  <a:pt x="0" y="326135"/>
                </a:lnTo>
                <a:lnTo>
                  <a:pt x="1909572" y="326135"/>
                </a:lnTo>
                <a:lnTo>
                  <a:pt x="1909572" y="0"/>
                </a:lnTo>
                <a:close/>
              </a:path>
            </a:pathLst>
          </a:custGeom>
          <a:solidFill>
            <a:srgbClr val="F1F1F1"/>
          </a:solidFill>
        </p:spPr>
        <p:txBody>
          <a:bodyPr wrap="square" lIns="0" tIns="0" rIns="0" bIns="0" rtlCol="0"/>
          <a:lstStyle/>
          <a:p>
            <a:endParaRPr/>
          </a:p>
        </p:txBody>
      </p:sp>
      <p:sp>
        <p:nvSpPr>
          <p:cNvPr id="18" name="bg object 18"/>
          <p:cNvSpPr/>
          <p:nvPr/>
        </p:nvSpPr>
        <p:spPr>
          <a:xfrm>
            <a:off x="9244583" y="323088"/>
            <a:ext cx="2947670" cy="326390"/>
          </a:xfrm>
          <a:custGeom>
            <a:avLst/>
            <a:gdLst/>
            <a:ahLst/>
            <a:cxnLst/>
            <a:rect l="l" t="t" r="r" b="b"/>
            <a:pathLst>
              <a:path w="2947670" h="326390">
                <a:moveTo>
                  <a:pt x="2947416" y="0"/>
                </a:moveTo>
                <a:lnTo>
                  <a:pt x="270891" y="0"/>
                </a:lnTo>
                <a:lnTo>
                  <a:pt x="0" y="320166"/>
                </a:lnTo>
                <a:lnTo>
                  <a:pt x="0" y="326135"/>
                </a:lnTo>
                <a:lnTo>
                  <a:pt x="2947416" y="326135"/>
                </a:lnTo>
                <a:lnTo>
                  <a:pt x="2947416" y="0"/>
                </a:lnTo>
                <a:close/>
              </a:path>
            </a:pathLst>
          </a:custGeom>
          <a:solidFill>
            <a:srgbClr val="1C81C5"/>
          </a:solidFill>
        </p:spPr>
        <p:txBody>
          <a:bodyPr wrap="square" lIns="0" tIns="0" rIns="0" bIns="0" rtlCol="0"/>
          <a:lstStyle/>
          <a:p>
            <a:endParaRPr/>
          </a:p>
        </p:txBody>
      </p:sp>
      <p:sp>
        <p:nvSpPr>
          <p:cNvPr id="19" name="bg object 19"/>
          <p:cNvSpPr/>
          <p:nvPr/>
        </p:nvSpPr>
        <p:spPr>
          <a:xfrm>
            <a:off x="8906255" y="323088"/>
            <a:ext cx="1024255" cy="326390"/>
          </a:xfrm>
          <a:custGeom>
            <a:avLst/>
            <a:gdLst/>
            <a:ahLst/>
            <a:cxnLst/>
            <a:rect l="l" t="t" r="r" b="b"/>
            <a:pathLst>
              <a:path w="1024254" h="326390">
                <a:moveTo>
                  <a:pt x="1024127" y="0"/>
                </a:moveTo>
                <a:lnTo>
                  <a:pt x="594614" y="0"/>
                </a:lnTo>
                <a:lnTo>
                  <a:pt x="0" y="326135"/>
                </a:lnTo>
                <a:lnTo>
                  <a:pt x="429514" y="326135"/>
                </a:lnTo>
                <a:lnTo>
                  <a:pt x="1024127" y="0"/>
                </a:lnTo>
                <a:close/>
              </a:path>
            </a:pathLst>
          </a:custGeom>
          <a:solidFill>
            <a:srgbClr val="D42F38"/>
          </a:solidFill>
        </p:spPr>
        <p:txBody>
          <a:bodyPr wrap="square" lIns="0" tIns="0" rIns="0" bIns="0" rtlCol="0"/>
          <a:lstStyle/>
          <a:p>
            <a:endParaRPr/>
          </a:p>
        </p:txBody>
      </p:sp>
      <p:sp>
        <p:nvSpPr>
          <p:cNvPr id="20" name="bg object 20"/>
          <p:cNvSpPr/>
          <p:nvPr/>
        </p:nvSpPr>
        <p:spPr>
          <a:xfrm>
            <a:off x="8587740" y="320040"/>
            <a:ext cx="1024255" cy="329565"/>
          </a:xfrm>
          <a:custGeom>
            <a:avLst/>
            <a:gdLst/>
            <a:ahLst/>
            <a:cxnLst/>
            <a:rect l="l" t="t" r="r" b="b"/>
            <a:pathLst>
              <a:path w="1024254" h="329565">
                <a:moveTo>
                  <a:pt x="1024127" y="0"/>
                </a:moveTo>
                <a:lnTo>
                  <a:pt x="600201" y="0"/>
                </a:lnTo>
                <a:lnTo>
                  <a:pt x="0" y="329183"/>
                </a:lnTo>
                <a:lnTo>
                  <a:pt x="423925" y="329183"/>
                </a:lnTo>
                <a:lnTo>
                  <a:pt x="1024127" y="0"/>
                </a:lnTo>
                <a:close/>
              </a:path>
            </a:pathLst>
          </a:custGeom>
          <a:solidFill>
            <a:srgbClr val="FFC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rgbClr val="CE2C2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5" name="Holder 5"/>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4" name="Holder 4"/>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694931"/>
            <a:ext cx="12192000" cy="163195"/>
          </a:xfrm>
          <a:custGeom>
            <a:avLst/>
            <a:gdLst/>
            <a:ahLst/>
            <a:cxnLst/>
            <a:rect l="l" t="t" r="r" b="b"/>
            <a:pathLst>
              <a:path w="12192000" h="163195">
                <a:moveTo>
                  <a:pt x="12192000" y="0"/>
                </a:moveTo>
                <a:lnTo>
                  <a:pt x="0" y="0"/>
                </a:lnTo>
                <a:lnTo>
                  <a:pt x="0" y="163066"/>
                </a:lnTo>
                <a:lnTo>
                  <a:pt x="12192000" y="163066"/>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8153400" y="323088"/>
            <a:ext cx="1910080" cy="326390"/>
          </a:xfrm>
          <a:custGeom>
            <a:avLst/>
            <a:gdLst/>
            <a:ahLst/>
            <a:cxnLst/>
            <a:rect l="l" t="t" r="r" b="b"/>
            <a:pathLst>
              <a:path w="1910079" h="326390">
                <a:moveTo>
                  <a:pt x="1909572" y="0"/>
                </a:moveTo>
                <a:lnTo>
                  <a:pt x="0" y="0"/>
                </a:lnTo>
                <a:lnTo>
                  <a:pt x="0" y="326135"/>
                </a:lnTo>
                <a:lnTo>
                  <a:pt x="1909572" y="326135"/>
                </a:lnTo>
                <a:lnTo>
                  <a:pt x="1909572" y="0"/>
                </a:lnTo>
                <a:close/>
              </a:path>
            </a:pathLst>
          </a:custGeom>
          <a:solidFill>
            <a:srgbClr val="F1F1F1"/>
          </a:solidFill>
        </p:spPr>
        <p:txBody>
          <a:bodyPr wrap="square" lIns="0" tIns="0" rIns="0" bIns="0" rtlCol="0"/>
          <a:lstStyle/>
          <a:p>
            <a:endParaRPr/>
          </a:p>
        </p:txBody>
      </p:sp>
      <p:sp>
        <p:nvSpPr>
          <p:cNvPr id="18" name="bg object 18"/>
          <p:cNvSpPr/>
          <p:nvPr/>
        </p:nvSpPr>
        <p:spPr>
          <a:xfrm>
            <a:off x="9244583" y="323088"/>
            <a:ext cx="2947670" cy="326390"/>
          </a:xfrm>
          <a:custGeom>
            <a:avLst/>
            <a:gdLst/>
            <a:ahLst/>
            <a:cxnLst/>
            <a:rect l="l" t="t" r="r" b="b"/>
            <a:pathLst>
              <a:path w="2947670" h="326390">
                <a:moveTo>
                  <a:pt x="2947416" y="0"/>
                </a:moveTo>
                <a:lnTo>
                  <a:pt x="270891" y="0"/>
                </a:lnTo>
                <a:lnTo>
                  <a:pt x="0" y="320166"/>
                </a:lnTo>
                <a:lnTo>
                  <a:pt x="0" y="326135"/>
                </a:lnTo>
                <a:lnTo>
                  <a:pt x="2947416" y="326135"/>
                </a:lnTo>
                <a:lnTo>
                  <a:pt x="2947416" y="0"/>
                </a:lnTo>
                <a:close/>
              </a:path>
            </a:pathLst>
          </a:custGeom>
          <a:solidFill>
            <a:srgbClr val="1C81C5"/>
          </a:solidFill>
        </p:spPr>
        <p:txBody>
          <a:bodyPr wrap="square" lIns="0" tIns="0" rIns="0" bIns="0" rtlCol="0"/>
          <a:lstStyle/>
          <a:p>
            <a:endParaRPr/>
          </a:p>
        </p:txBody>
      </p:sp>
      <p:sp>
        <p:nvSpPr>
          <p:cNvPr id="19" name="bg object 19"/>
          <p:cNvSpPr/>
          <p:nvPr/>
        </p:nvSpPr>
        <p:spPr>
          <a:xfrm>
            <a:off x="8906255" y="323088"/>
            <a:ext cx="1024255" cy="326390"/>
          </a:xfrm>
          <a:custGeom>
            <a:avLst/>
            <a:gdLst/>
            <a:ahLst/>
            <a:cxnLst/>
            <a:rect l="l" t="t" r="r" b="b"/>
            <a:pathLst>
              <a:path w="1024254" h="326390">
                <a:moveTo>
                  <a:pt x="1024127" y="0"/>
                </a:moveTo>
                <a:lnTo>
                  <a:pt x="594614" y="0"/>
                </a:lnTo>
                <a:lnTo>
                  <a:pt x="0" y="326135"/>
                </a:lnTo>
                <a:lnTo>
                  <a:pt x="429514" y="326135"/>
                </a:lnTo>
                <a:lnTo>
                  <a:pt x="1024127" y="0"/>
                </a:lnTo>
                <a:close/>
              </a:path>
            </a:pathLst>
          </a:custGeom>
          <a:solidFill>
            <a:srgbClr val="D42F38"/>
          </a:solidFill>
        </p:spPr>
        <p:txBody>
          <a:bodyPr wrap="square" lIns="0" tIns="0" rIns="0" bIns="0" rtlCol="0"/>
          <a:lstStyle/>
          <a:p>
            <a:endParaRPr/>
          </a:p>
        </p:txBody>
      </p:sp>
      <p:sp>
        <p:nvSpPr>
          <p:cNvPr id="20" name="bg object 20"/>
          <p:cNvSpPr/>
          <p:nvPr/>
        </p:nvSpPr>
        <p:spPr>
          <a:xfrm>
            <a:off x="8587740" y="320040"/>
            <a:ext cx="1024255" cy="329565"/>
          </a:xfrm>
          <a:custGeom>
            <a:avLst/>
            <a:gdLst/>
            <a:ahLst/>
            <a:cxnLst/>
            <a:rect l="l" t="t" r="r" b="b"/>
            <a:pathLst>
              <a:path w="1024254" h="329565">
                <a:moveTo>
                  <a:pt x="1024127" y="0"/>
                </a:moveTo>
                <a:lnTo>
                  <a:pt x="600201" y="0"/>
                </a:lnTo>
                <a:lnTo>
                  <a:pt x="0" y="329183"/>
                </a:lnTo>
                <a:lnTo>
                  <a:pt x="423925" y="329183"/>
                </a:lnTo>
                <a:lnTo>
                  <a:pt x="1024127" y="0"/>
                </a:lnTo>
                <a:close/>
              </a:path>
            </a:pathLst>
          </a:custGeom>
          <a:solidFill>
            <a:srgbClr val="FFC000"/>
          </a:solidFill>
        </p:spPr>
        <p:txBody>
          <a:bodyPr wrap="square" lIns="0" tIns="0" rIns="0" bIns="0" rtlCol="0"/>
          <a:lstStyle/>
          <a:p>
            <a:endParaRPr/>
          </a:p>
        </p:txBody>
      </p:sp>
      <p:pic>
        <p:nvPicPr>
          <p:cNvPr id="21" name="bg object 21"/>
          <p:cNvPicPr/>
          <p:nvPr/>
        </p:nvPicPr>
        <p:blipFill>
          <a:blip r:embed="rId7" cstate="print"/>
          <a:stretch>
            <a:fillRect/>
          </a:stretch>
        </p:blipFill>
        <p:spPr>
          <a:xfrm>
            <a:off x="884176" y="224295"/>
            <a:ext cx="464730" cy="514995"/>
          </a:xfrm>
          <a:prstGeom prst="rect">
            <a:avLst/>
          </a:prstGeom>
        </p:spPr>
      </p:pic>
      <p:sp>
        <p:nvSpPr>
          <p:cNvPr id="2" name="Holder 2"/>
          <p:cNvSpPr>
            <a:spLocks noGrp="1"/>
          </p:cNvSpPr>
          <p:nvPr>
            <p:ph type="title"/>
          </p:nvPr>
        </p:nvSpPr>
        <p:spPr>
          <a:xfrm>
            <a:off x="1437258" y="35813"/>
            <a:ext cx="6100064" cy="695071"/>
          </a:xfrm>
          <a:prstGeom prst="rect">
            <a:avLst/>
          </a:prstGeom>
        </p:spPr>
        <p:txBody>
          <a:bodyPr wrap="square" lIns="0" tIns="0" rIns="0" bIns="0">
            <a:spAutoFit/>
          </a:bodyPr>
          <a:lstStyle>
            <a:lvl1pPr>
              <a:defRPr sz="2000" b="1" i="0">
                <a:solidFill>
                  <a:srgbClr val="CE2C2C"/>
                </a:solidFill>
                <a:latin typeface="Arial"/>
                <a:cs typeface="Arial"/>
              </a:defRPr>
            </a:lvl1pPr>
          </a:lstStyle>
          <a:p>
            <a:endParaRPr/>
          </a:p>
        </p:txBody>
      </p:sp>
      <p:sp>
        <p:nvSpPr>
          <p:cNvPr id="3" name="Holder 3"/>
          <p:cNvSpPr>
            <a:spLocks noGrp="1"/>
          </p:cNvSpPr>
          <p:nvPr>
            <p:ph type="body" idx="1"/>
          </p:nvPr>
        </p:nvSpPr>
        <p:spPr>
          <a:xfrm>
            <a:off x="213156" y="3138043"/>
            <a:ext cx="7921625" cy="2762885"/>
          </a:xfrm>
          <a:prstGeom prst="rect">
            <a:avLst/>
          </a:prstGeom>
        </p:spPr>
        <p:txBody>
          <a:bodyPr wrap="square" lIns="0" tIns="0" rIns="0" bIns="0">
            <a:spAutoFit/>
          </a:bodyPr>
          <a:lstStyle>
            <a:lvl1pPr>
              <a:defRPr sz="2000" b="1" i="0">
                <a:solidFill>
                  <a:srgbClr val="C00000"/>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6" name="Holder 6"/>
          <p:cNvSpPr>
            <a:spLocks noGrp="1"/>
          </p:cNvSpPr>
          <p:nvPr>
            <p:ph type="sldNum" sz="quarter" idx="7"/>
          </p:nvPr>
        </p:nvSpPr>
        <p:spPr>
          <a:xfrm>
            <a:off x="11891771" y="6725200"/>
            <a:ext cx="259715" cy="184784"/>
          </a:xfrm>
          <a:prstGeom prst="rect">
            <a:avLst/>
          </a:prstGeom>
        </p:spPr>
        <p:txBody>
          <a:bodyPr wrap="square" lIns="0" tIns="0" rIns="0" bIns="0">
            <a:spAutoFit/>
          </a:bodyPr>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
        <p:nvSpPr>
          <p:cNvPr id="8" name="TextBox 7">
            <a:extLst>
              <a:ext uri="{FF2B5EF4-FFF2-40B4-BE49-F238E27FC236}">
                <a16:creationId xmlns:a16="http://schemas.microsoft.com/office/drawing/2014/main" id="{17B4527F-BB2F-F09E-EBA3-74D913CD1B79}"/>
              </a:ext>
            </a:extLst>
          </p:cNvPr>
          <p:cNvSpPr txBox="1"/>
          <p:nvPr userDrawn="1">
            <p:extLst>
              <p:ext uri="{1162E1C5-73C7-4A58-AE30-91384D911F3F}">
                <p184:classification xmlns:p184="http://schemas.microsoft.com/office/powerpoint/2018/4/main" xmlns="" val="ftr"/>
              </p:ext>
            </p:extLst>
          </p:nvPr>
        </p:nvSpPr>
        <p:spPr>
          <a:xfrm>
            <a:off x="5838000" y="6642100"/>
            <a:ext cx="544512"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fathelbab.github.io/cnpc/computer-basics-soft-skills/day2/quiz.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fathelbab.github.io/cnpc/computer-basics-soft-skills/day1/quiz.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hyperlink" Target="https://afathelbab.github.io/cnpc/computer-basics-soft-skills/workshops/" TargetMode="Externa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494833"/>
            <a:ext cx="12191999" cy="4363164"/>
          </a:xfrm>
          <a:prstGeom prst="rect">
            <a:avLst/>
          </a:prstGeom>
        </p:spPr>
      </p:pic>
      <p:sp>
        <p:nvSpPr>
          <p:cNvPr id="3" name="object 3"/>
          <p:cNvSpPr/>
          <p:nvPr/>
        </p:nvSpPr>
        <p:spPr>
          <a:xfrm>
            <a:off x="0" y="10667"/>
            <a:ext cx="12192000" cy="6847840"/>
          </a:xfrm>
          <a:custGeom>
            <a:avLst/>
            <a:gdLst/>
            <a:ahLst/>
            <a:cxnLst/>
            <a:rect l="l" t="t" r="r" b="b"/>
            <a:pathLst>
              <a:path w="12192000" h="6847840">
                <a:moveTo>
                  <a:pt x="12192000" y="0"/>
                </a:moveTo>
                <a:lnTo>
                  <a:pt x="0" y="0"/>
                </a:lnTo>
                <a:lnTo>
                  <a:pt x="0" y="6847330"/>
                </a:lnTo>
                <a:lnTo>
                  <a:pt x="12192000" y="6847330"/>
                </a:lnTo>
                <a:lnTo>
                  <a:pt x="12192000" y="0"/>
                </a:lnTo>
                <a:close/>
              </a:path>
            </a:pathLst>
          </a:custGeom>
          <a:solidFill>
            <a:srgbClr val="FFFFFF">
              <a:alpha val="74900"/>
            </a:srgbClr>
          </a:solidFill>
        </p:spPr>
        <p:txBody>
          <a:bodyPr wrap="square" lIns="0" tIns="0" rIns="0" bIns="0" rtlCol="0"/>
          <a:lstStyle/>
          <a:p>
            <a:endParaRPr/>
          </a:p>
        </p:txBody>
      </p:sp>
      <p:sp>
        <p:nvSpPr>
          <p:cNvPr id="4" name="object 4"/>
          <p:cNvSpPr txBox="1"/>
          <p:nvPr/>
        </p:nvSpPr>
        <p:spPr>
          <a:xfrm>
            <a:off x="4608957" y="4249673"/>
            <a:ext cx="3016250" cy="848360"/>
          </a:xfrm>
          <a:prstGeom prst="rect">
            <a:avLst/>
          </a:prstGeom>
        </p:spPr>
        <p:txBody>
          <a:bodyPr vert="horz" wrap="square" lIns="0" tIns="12700" rIns="0" bIns="0" rtlCol="0">
            <a:spAutoFit/>
          </a:bodyPr>
          <a:lstStyle/>
          <a:p>
            <a:pPr marL="12700" marR="5080" indent="154940">
              <a:lnSpc>
                <a:spcPct val="150000"/>
              </a:lnSpc>
              <a:spcBef>
                <a:spcPts val="100"/>
              </a:spcBef>
            </a:pPr>
            <a:r>
              <a:rPr sz="1800" dirty="0">
                <a:latin typeface="Tahoma"/>
                <a:cs typeface="Tahoma"/>
              </a:rPr>
              <a:t>CNPC</a:t>
            </a:r>
            <a:r>
              <a:rPr sz="1800" spc="-20" dirty="0">
                <a:latin typeface="Tahoma"/>
                <a:cs typeface="Tahoma"/>
              </a:rPr>
              <a:t> </a:t>
            </a:r>
            <a:r>
              <a:rPr sz="1800" dirty="0">
                <a:latin typeface="Tahoma"/>
                <a:cs typeface="Tahoma"/>
              </a:rPr>
              <a:t>Niger </a:t>
            </a:r>
            <a:r>
              <a:rPr sz="1800" spc="-10" dirty="0">
                <a:latin typeface="Tahoma"/>
                <a:cs typeface="Tahoma"/>
              </a:rPr>
              <a:t>Petroleum</a:t>
            </a:r>
            <a:r>
              <a:rPr sz="1800" spc="-35" dirty="0">
                <a:latin typeface="Tahoma"/>
                <a:cs typeface="Tahoma"/>
              </a:rPr>
              <a:t> </a:t>
            </a:r>
            <a:r>
              <a:rPr sz="1800" spc="-20" dirty="0">
                <a:latin typeface="Tahoma"/>
                <a:cs typeface="Tahoma"/>
              </a:rPr>
              <a:t>S.A. </a:t>
            </a:r>
            <a:r>
              <a:rPr sz="1800" dirty="0">
                <a:latin typeface="Tahoma"/>
                <a:cs typeface="Tahoma"/>
              </a:rPr>
              <a:t>CNPC</a:t>
            </a:r>
            <a:r>
              <a:rPr sz="1800" spc="-50" dirty="0">
                <a:latin typeface="Tahoma"/>
                <a:cs typeface="Tahoma"/>
              </a:rPr>
              <a:t> </a:t>
            </a:r>
            <a:r>
              <a:rPr sz="1800" dirty="0">
                <a:latin typeface="Tahoma"/>
                <a:cs typeface="Tahoma"/>
              </a:rPr>
              <a:t>Global</a:t>
            </a:r>
            <a:r>
              <a:rPr sz="1800" spc="-50" dirty="0">
                <a:latin typeface="Tahoma"/>
                <a:cs typeface="Tahoma"/>
              </a:rPr>
              <a:t> </a:t>
            </a:r>
            <a:r>
              <a:rPr sz="1800" spc="-20" dirty="0">
                <a:latin typeface="Tahoma"/>
                <a:cs typeface="Tahoma"/>
              </a:rPr>
              <a:t>Solutions</a:t>
            </a:r>
            <a:r>
              <a:rPr sz="1800" spc="-55" dirty="0">
                <a:latin typeface="Tahoma"/>
                <a:cs typeface="Tahoma"/>
              </a:rPr>
              <a:t> </a:t>
            </a:r>
            <a:r>
              <a:rPr sz="1800" spc="-10" dirty="0">
                <a:latin typeface="Tahoma"/>
                <a:cs typeface="Tahoma"/>
              </a:rPr>
              <a:t>Co.</a:t>
            </a:r>
            <a:r>
              <a:rPr sz="1800" spc="-25" dirty="0">
                <a:latin typeface="Tahoma"/>
                <a:cs typeface="Tahoma"/>
              </a:rPr>
              <a:t> Ltd</a:t>
            </a:r>
            <a:endParaRPr sz="1800">
              <a:latin typeface="Tahoma"/>
              <a:cs typeface="Tahoma"/>
            </a:endParaRPr>
          </a:p>
        </p:txBody>
      </p:sp>
      <p:sp>
        <p:nvSpPr>
          <p:cNvPr id="5" name="object 5"/>
          <p:cNvSpPr txBox="1">
            <a:spLocks noGrp="1"/>
          </p:cNvSpPr>
          <p:nvPr>
            <p:ph type="title"/>
          </p:nvPr>
        </p:nvSpPr>
        <p:spPr>
          <a:prstGeom prst="rect">
            <a:avLst/>
          </a:prstGeom>
        </p:spPr>
        <p:txBody>
          <a:bodyPr vert="horz" wrap="square" lIns="0" tIns="288544" rIns="0" bIns="0" rtlCol="0">
            <a:spAutoFit/>
          </a:bodyPr>
          <a:lstStyle/>
          <a:p>
            <a:pPr marL="59055">
              <a:lnSpc>
                <a:spcPct val="100000"/>
              </a:lnSpc>
              <a:spcBef>
                <a:spcPts val="100"/>
              </a:spcBef>
            </a:pPr>
            <a:r>
              <a:rPr sz="2400" dirty="0">
                <a:solidFill>
                  <a:srgbClr val="CD1C1C"/>
                </a:solidFill>
              </a:rPr>
              <a:t>CNPC</a:t>
            </a:r>
            <a:r>
              <a:rPr sz="2400" spc="-55" dirty="0">
                <a:solidFill>
                  <a:srgbClr val="CD1C1C"/>
                </a:solidFill>
              </a:rPr>
              <a:t> </a:t>
            </a:r>
            <a:r>
              <a:rPr sz="2400" dirty="0">
                <a:solidFill>
                  <a:srgbClr val="CD1C1C"/>
                </a:solidFill>
              </a:rPr>
              <a:t>Niger</a:t>
            </a:r>
            <a:r>
              <a:rPr sz="2400" spc="-65" dirty="0">
                <a:solidFill>
                  <a:srgbClr val="CD1C1C"/>
                </a:solidFill>
              </a:rPr>
              <a:t> </a:t>
            </a:r>
            <a:r>
              <a:rPr sz="2400" dirty="0">
                <a:solidFill>
                  <a:srgbClr val="CD1C1C"/>
                </a:solidFill>
              </a:rPr>
              <a:t>Petroleum</a:t>
            </a:r>
            <a:r>
              <a:rPr sz="2400" spc="-65" dirty="0">
                <a:solidFill>
                  <a:srgbClr val="CD1C1C"/>
                </a:solidFill>
              </a:rPr>
              <a:t> </a:t>
            </a:r>
            <a:r>
              <a:rPr sz="2400" spc="-20" dirty="0">
                <a:solidFill>
                  <a:srgbClr val="CD1C1C"/>
                </a:solidFill>
              </a:rPr>
              <a:t>S.A.</a:t>
            </a:r>
            <a:endParaRPr sz="2400" dirty="0"/>
          </a:p>
        </p:txBody>
      </p:sp>
      <p:pic>
        <p:nvPicPr>
          <p:cNvPr id="6" name="object 6"/>
          <p:cNvPicPr/>
          <p:nvPr/>
        </p:nvPicPr>
        <p:blipFill>
          <a:blip r:embed="rId3" cstate="print"/>
          <a:stretch>
            <a:fillRect/>
          </a:stretch>
        </p:blipFill>
        <p:spPr>
          <a:xfrm>
            <a:off x="871727" y="211836"/>
            <a:ext cx="493776" cy="544068"/>
          </a:xfrm>
          <a:prstGeom prst="rect">
            <a:avLst/>
          </a:prstGeom>
        </p:spPr>
      </p:pic>
      <p:sp>
        <p:nvSpPr>
          <p:cNvPr id="7" name="object 7"/>
          <p:cNvSpPr txBox="1"/>
          <p:nvPr/>
        </p:nvSpPr>
        <p:spPr>
          <a:xfrm>
            <a:off x="1714499" y="1927501"/>
            <a:ext cx="8763000" cy="566822"/>
          </a:xfrm>
          <a:prstGeom prst="rect">
            <a:avLst/>
          </a:prstGeom>
        </p:spPr>
        <p:txBody>
          <a:bodyPr vert="horz" wrap="square" lIns="0" tIns="12700" rIns="0" bIns="0" rtlCol="0">
            <a:spAutoFit/>
          </a:bodyPr>
          <a:lstStyle/>
          <a:p>
            <a:pPr marL="12700">
              <a:lnSpc>
                <a:spcPct val="100000"/>
              </a:lnSpc>
              <a:spcBef>
                <a:spcPts val="100"/>
              </a:spcBef>
            </a:pPr>
            <a:r>
              <a:rPr lang="en-US" sz="3600" b="1" spc="-25" dirty="0" smtClean="0">
                <a:solidFill>
                  <a:srgbClr val="2D5395"/>
                </a:solidFill>
                <a:latin typeface="Arial"/>
                <a:cs typeface="Arial"/>
              </a:rPr>
              <a:t>Computer Basics &amp; Practical Soft Skills</a:t>
            </a:r>
            <a:endParaRPr sz="3600" dirty="0">
              <a:latin typeface="Arial"/>
              <a:cs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2156" rIns="0" bIns="0" rtlCol="0">
            <a:spAutoFit/>
          </a:bodyPr>
          <a:lstStyle/>
          <a:p>
            <a:pPr marL="2454275">
              <a:lnSpc>
                <a:spcPct val="100000"/>
              </a:lnSpc>
              <a:spcBef>
                <a:spcPts val="95"/>
              </a:spcBef>
            </a:pPr>
            <a:r>
              <a:rPr sz="2800" spc="-30" dirty="0"/>
              <a:t>Training</a:t>
            </a:r>
            <a:r>
              <a:rPr sz="2800" spc="-135" dirty="0"/>
              <a:t> </a:t>
            </a:r>
            <a:r>
              <a:rPr sz="2800" spc="-10" dirty="0"/>
              <a:t>Agenda</a:t>
            </a:r>
            <a:endParaRPr sz="2800"/>
          </a:p>
        </p:txBody>
      </p:sp>
      <p:sp>
        <p:nvSpPr>
          <p:cNvPr id="3" name="object 3"/>
          <p:cNvSpPr txBox="1"/>
          <p:nvPr/>
        </p:nvSpPr>
        <p:spPr>
          <a:xfrm>
            <a:off x="925474" y="1886559"/>
            <a:ext cx="6846926" cy="1286891"/>
          </a:xfrm>
          <a:prstGeom prst="rect">
            <a:avLst/>
          </a:prstGeom>
        </p:spPr>
        <p:txBody>
          <a:bodyPr vert="horz" wrap="square" lIns="0" tIns="131445" rIns="0" bIns="0" rtlCol="0">
            <a:spAutoFit/>
          </a:bodyPr>
          <a:lstStyle/>
          <a:p>
            <a:pPr marL="355600" indent="-342900">
              <a:lnSpc>
                <a:spcPct val="100000"/>
              </a:lnSpc>
              <a:spcBef>
                <a:spcPts val="935"/>
              </a:spcBef>
              <a:buClr>
                <a:srgbClr val="44536A"/>
              </a:buClr>
              <a:buChar char="-"/>
              <a:tabLst>
                <a:tab pos="355600" algn="l"/>
              </a:tabLst>
            </a:pPr>
            <a:r>
              <a:rPr sz="2000" dirty="0" smtClean="0">
                <a:solidFill>
                  <a:srgbClr val="00B050"/>
                </a:solidFill>
                <a:latin typeface="Arial MT"/>
                <a:cs typeface="Arial MT"/>
              </a:rPr>
              <a:t>Lecture</a:t>
            </a:r>
            <a:r>
              <a:rPr sz="2000" spc="-60" dirty="0" smtClean="0">
                <a:solidFill>
                  <a:srgbClr val="00B050"/>
                </a:solidFill>
                <a:latin typeface="Arial MT"/>
                <a:cs typeface="Arial MT"/>
              </a:rPr>
              <a:t> </a:t>
            </a:r>
            <a:r>
              <a:rPr sz="2000" dirty="0">
                <a:solidFill>
                  <a:srgbClr val="00B050"/>
                </a:solidFill>
                <a:latin typeface="Arial MT"/>
                <a:cs typeface="Arial MT"/>
              </a:rPr>
              <a:t>1</a:t>
            </a:r>
            <a:r>
              <a:rPr sz="2000" spc="-20" dirty="0">
                <a:solidFill>
                  <a:srgbClr val="00B050"/>
                </a:solidFill>
                <a:latin typeface="Arial MT"/>
                <a:cs typeface="Arial MT"/>
              </a:rPr>
              <a:t> </a:t>
            </a:r>
            <a:r>
              <a:rPr sz="2000" dirty="0">
                <a:solidFill>
                  <a:srgbClr val="00B050"/>
                </a:solidFill>
                <a:latin typeface="Arial MT"/>
                <a:cs typeface="Arial MT"/>
              </a:rPr>
              <a:t>:</a:t>
            </a:r>
            <a:r>
              <a:rPr lang="en-US" sz="2000" dirty="0">
                <a:solidFill>
                  <a:srgbClr val="00B050"/>
                </a:solidFill>
                <a:latin typeface="Arial MT"/>
                <a:cs typeface="Arial MT"/>
              </a:rPr>
              <a:t> </a:t>
            </a:r>
            <a:r>
              <a:rPr lang="en-US" sz="2000" dirty="0" smtClean="0">
                <a:solidFill>
                  <a:srgbClr val="00B050"/>
                </a:solidFill>
                <a:latin typeface="Arial MT"/>
                <a:cs typeface="Arial MT"/>
              </a:rPr>
              <a:t>Foundations &amp; Professional Communication</a:t>
            </a:r>
            <a:endParaRPr lang="ar-EG" sz="2000" dirty="0" smtClean="0">
              <a:solidFill>
                <a:srgbClr val="00B050"/>
              </a:solidFill>
              <a:latin typeface="Arial MT"/>
              <a:cs typeface="Arial MT"/>
            </a:endParaRPr>
          </a:p>
          <a:p>
            <a:pPr marL="355600" indent="-342900">
              <a:lnSpc>
                <a:spcPct val="100000"/>
              </a:lnSpc>
              <a:spcBef>
                <a:spcPts val="935"/>
              </a:spcBef>
              <a:buClr>
                <a:srgbClr val="44536A"/>
              </a:buClr>
              <a:buChar char="-"/>
              <a:tabLst>
                <a:tab pos="355600" algn="l"/>
              </a:tabLst>
            </a:pPr>
            <a:r>
              <a:rPr sz="2000" dirty="0" smtClean="0">
                <a:solidFill>
                  <a:srgbClr val="C00000"/>
                </a:solidFill>
                <a:latin typeface="Arial MT"/>
                <a:cs typeface="Arial MT"/>
              </a:rPr>
              <a:t>Lecture</a:t>
            </a:r>
            <a:r>
              <a:rPr sz="2000" spc="-60" dirty="0" smtClean="0">
                <a:solidFill>
                  <a:srgbClr val="C00000"/>
                </a:solidFill>
                <a:latin typeface="Arial MT"/>
                <a:cs typeface="Arial MT"/>
              </a:rPr>
              <a:t> </a:t>
            </a:r>
            <a:r>
              <a:rPr sz="2000" dirty="0" smtClean="0">
                <a:solidFill>
                  <a:srgbClr val="C00000"/>
                </a:solidFill>
                <a:latin typeface="Arial MT"/>
                <a:cs typeface="Arial MT"/>
              </a:rPr>
              <a:t>2</a:t>
            </a:r>
            <a:r>
              <a:rPr sz="2000" spc="-20" dirty="0" smtClean="0">
                <a:solidFill>
                  <a:srgbClr val="C00000"/>
                </a:solidFill>
                <a:latin typeface="Arial MT"/>
                <a:cs typeface="Arial MT"/>
              </a:rPr>
              <a:t> </a:t>
            </a:r>
            <a:r>
              <a:rPr sz="2000" dirty="0" smtClean="0">
                <a:solidFill>
                  <a:srgbClr val="C00000"/>
                </a:solidFill>
                <a:latin typeface="Arial MT"/>
                <a:cs typeface="Arial MT"/>
              </a:rPr>
              <a:t>:</a:t>
            </a:r>
            <a:r>
              <a:rPr sz="2000" spc="-40" dirty="0" smtClean="0">
                <a:solidFill>
                  <a:srgbClr val="C00000"/>
                </a:solidFill>
                <a:latin typeface="Arial MT"/>
                <a:cs typeface="Arial MT"/>
              </a:rPr>
              <a:t> </a:t>
            </a:r>
            <a:r>
              <a:rPr lang="en-US" sz="2000" dirty="0" smtClean="0">
                <a:solidFill>
                  <a:srgbClr val="C00000"/>
                </a:solidFill>
                <a:latin typeface="Arial MT"/>
                <a:cs typeface="Arial MT"/>
              </a:rPr>
              <a:t>Data, Presentation &amp; Productivity</a:t>
            </a:r>
            <a:endParaRPr sz="2000" dirty="0" smtClean="0">
              <a:solidFill>
                <a:srgbClr val="C00000"/>
              </a:solidFill>
              <a:latin typeface="Arial MT"/>
              <a:cs typeface="Arial MT"/>
            </a:endParaRPr>
          </a:p>
          <a:p>
            <a:pPr marL="355600" indent="-342900">
              <a:lnSpc>
                <a:spcPct val="100000"/>
              </a:lnSpc>
              <a:spcBef>
                <a:spcPts val="935"/>
              </a:spcBef>
              <a:buClr>
                <a:srgbClr val="44536A"/>
              </a:buClr>
              <a:buChar char="-"/>
              <a:tabLst>
                <a:tab pos="355600" algn="l"/>
              </a:tabLst>
            </a:pPr>
            <a:r>
              <a:rPr sz="2000" dirty="0" smtClean="0">
                <a:solidFill>
                  <a:schemeClr val="bg1">
                    <a:lumMod val="75000"/>
                  </a:schemeClr>
                </a:solidFill>
                <a:latin typeface="Arial MT"/>
                <a:cs typeface="Arial MT"/>
              </a:rPr>
              <a:t>Lecture</a:t>
            </a:r>
            <a:r>
              <a:rPr sz="2000" spc="-55" dirty="0" smtClean="0">
                <a:solidFill>
                  <a:schemeClr val="bg1">
                    <a:lumMod val="75000"/>
                  </a:schemeClr>
                </a:solidFill>
                <a:latin typeface="Arial MT"/>
                <a:cs typeface="Arial MT"/>
              </a:rPr>
              <a:t> </a:t>
            </a:r>
            <a:r>
              <a:rPr sz="2000" dirty="0">
                <a:solidFill>
                  <a:schemeClr val="bg1">
                    <a:lumMod val="75000"/>
                  </a:schemeClr>
                </a:solidFill>
                <a:latin typeface="Arial MT"/>
                <a:cs typeface="Arial MT"/>
              </a:rPr>
              <a:t>3</a:t>
            </a:r>
            <a:r>
              <a:rPr sz="2000" spc="-10" dirty="0">
                <a:solidFill>
                  <a:schemeClr val="bg1">
                    <a:lumMod val="75000"/>
                  </a:schemeClr>
                </a:solidFill>
                <a:latin typeface="Arial MT"/>
                <a:cs typeface="Arial MT"/>
              </a:rPr>
              <a:t> </a:t>
            </a:r>
            <a:r>
              <a:rPr sz="2000" dirty="0">
                <a:solidFill>
                  <a:schemeClr val="bg1">
                    <a:lumMod val="75000"/>
                  </a:schemeClr>
                </a:solidFill>
                <a:latin typeface="Arial MT"/>
                <a:cs typeface="Arial MT"/>
              </a:rPr>
              <a:t>:</a:t>
            </a:r>
            <a:r>
              <a:rPr sz="2000" spc="-75" dirty="0">
                <a:solidFill>
                  <a:schemeClr val="bg1">
                    <a:lumMod val="75000"/>
                  </a:schemeClr>
                </a:solidFill>
                <a:latin typeface="Arial MT"/>
                <a:cs typeface="Arial MT"/>
              </a:rPr>
              <a:t> </a:t>
            </a:r>
            <a:r>
              <a:rPr lang="en-US" sz="2000" dirty="0" smtClean="0">
                <a:solidFill>
                  <a:schemeClr val="bg1">
                    <a:lumMod val="75000"/>
                  </a:schemeClr>
                </a:solidFill>
                <a:latin typeface="Arial MT"/>
                <a:cs typeface="Arial MT"/>
              </a:rPr>
              <a:t>Business Systems &amp; Problem Solving</a:t>
            </a:r>
            <a:endParaRPr sz="2000" dirty="0">
              <a:solidFill>
                <a:schemeClr val="bg1">
                  <a:lumMod val="75000"/>
                </a:schemeClr>
              </a:solidFill>
              <a:latin typeface="Arial MT"/>
              <a:cs typeface="Arial MT"/>
            </a:endParaRPr>
          </a:p>
        </p:txBody>
      </p:sp>
      <p:pic>
        <p:nvPicPr>
          <p:cNvPr id="4" name="object 4"/>
          <p:cNvPicPr/>
          <p:nvPr/>
        </p:nvPicPr>
        <p:blipFill>
          <a:blip r:embed="rId2" cstate="print"/>
          <a:stretch>
            <a:fillRect/>
          </a:stretch>
        </p:blipFill>
        <p:spPr>
          <a:xfrm>
            <a:off x="8868156" y="1973579"/>
            <a:ext cx="2581655" cy="309829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a:t>
            </a:fld>
            <a:endParaRPr spc="-25"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4088" rIns="0" bIns="0" rtlCol="0">
            <a:spAutoFit/>
          </a:bodyPr>
          <a:lstStyle/>
          <a:p>
            <a:pPr marL="175895">
              <a:lnSpc>
                <a:spcPct val="100000"/>
              </a:lnSpc>
              <a:spcBef>
                <a:spcPts val="95"/>
              </a:spcBef>
            </a:pPr>
            <a:r>
              <a:rPr sz="2800" spc="-10" dirty="0"/>
              <a:t>Training</a:t>
            </a:r>
            <a:r>
              <a:rPr sz="2800" spc="-180" dirty="0"/>
              <a:t> </a:t>
            </a:r>
            <a:r>
              <a:rPr sz="2800" spc="-10" dirty="0"/>
              <a:t>Objectives</a:t>
            </a:r>
            <a:endParaRPr sz="2800"/>
          </a:p>
        </p:txBody>
      </p:sp>
      <p:sp>
        <p:nvSpPr>
          <p:cNvPr id="3" name="object 3"/>
          <p:cNvSpPr txBox="1"/>
          <p:nvPr/>
        </p:nvSpPr>
        <p:spPr>
          <a:xfrm>
            <a:off x="402742" y="1102308"/>
            <a:ext cx="5986145" cy="3314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00000"/>
                </a:solidFill>
                <a:latin typeface="Arial"/>
                <a:cs typeface="Arial"/>
              </a:rPr>
              <a:t>After</a:t>
            </a:r>
            <a:r>
              <a:rPr sz="2000" b="1" spc="-55" dirty="0">
                <a:solidFill>
                  <a:srgbClr val="C00000"/>
                </a:solidFill>
                <a:latin typeface="Arial"/>
                <a:cs typeface="Arial"/>
              </a:rPr>
              <a:t> </a:t>
            </a:r>
            <a:r>
              <a:rPr sz="2000" b="1" dirty="0">
                <a:solidFill>
                  <a:srgbClr val="C00000"/>
                </a:solidFill>
                <a:latin typeface="Arial"/>
                <a:cs typeface="Arial"/>
              </a:rPr>
              <a:t>finalizing</a:t>
            </a:r>
            <a:r>
              <a:rPr sz="2000" b="1" spc="-50" dirty="0">
                <a:solidFill>
                  <a:srgbClr val="C00000"/>
                </a:solidFill>
                <a:latin typeface="Arial"/>
                <a:cs typeface="Arial"/>
              </a:rPr>
              <a:t> </a:t>
            </a:r>
            <a:r>
              <a:rPr sz="2000" b="1" dirty="0">
                <a:solidFill>
                  <a:srgbClr val="C00000"/>
                </a:solidFill>
                <a:latin typeface="Arial"/>
                <a:cs typeface="Arial"/>
              </a:rPr>
              <a:t>this</a:t>
            </a:r>
            <a:r>
              <a:rPr sz="2000" b="1" spc="-40" dirty="0">
                <a:solidFill>
                  <a:srgbClr val="C00000"/>
                </a:solidFill>
                <a:latin typeface="Arial"/>
                <a:cs typeface="Arial"/>
              </a:rPr>
              <a:t> </a:t>
            </a:r>
            <a:r>
              <a:rPr sz="2000" b="1" dirty="0">
                <a:solidFill>
                  <a:srgbClr val="C00000"/>
                </a:solidFill>
                <a:latin typeface="Arial"/>
                <a:cs typeface="Arial"/>
              </a:rPr>
              <a:t>training</a:t>
            </a:r>
            <a:r>
              <a:rPr sz="2000" b="1" spc="-50" dirty="0">
                <a:solidFill>
                  <a:srgbClr val="C00000"/>
                </a:solidFill>
                <a:latin typeface="Arial"/>
                <a:cs typeface="Arial"/>
              </a:rPr>
              <a:t> </a:t>
            </a:r>
            <a:r>
              <a:rPr sz="2000" b="1" dirty="0">
                <a:solidFill>
                  <a:srgbClr val="C00000"/>
                </a:solidFill>
                <a:latin typeface="Arial"/>
                <a:cs typeface="Arial"/>
              </a:rPr>
              <a:t>you</a:t>
            </a:r>
            <a:r>
              <a:rPr sz="2000" b="1" spc="10" dirty="0">
                <a:solidFill>
                  <a:srgbClr val="C00000"/>
                </a:solidFill>
                <a:latin typeface="Arial"/>
                <a:cs typeface="Arial"/>
              </a:rPr>
              <a:t> </a:t>
            </a:r>
            <a:r>
              <a:rPr sz="2000" b="1" dirty="0">
                <a:solidFill>
                  <a:srgbClr val="C00000"/>
                </a:solidFill>
                <a:latin typeface="Arial"/>
                <a:cs typeface="Arial"/>
              </a:rPr>
              <a:t>should</a:t>
            </a:r>
            <a:r>
              <a:rPr sz="2000" b="1" spc="-35" dirty="0">
                <a:solidFill>
                  <a:srgbClr val="C00000"/>
                </a:solidFill>
                <a:latin typeface="Arial"/>
                <a:cs typeface="Arial"/>
              </a:rPr>
              <a:t> </a:t>
            </a:r>
            <a:r>
              <a:rPr sz="2000" b="1" dirty="0">
                <a:solidFill>
                  <a:srgbClr val="C00000"/>
                </a:solidFill>
                <a:latin typeface="Arial"/>
                <a:cs typeface="Arial"/>
              </a:rPr>
              <a:t>be</a:t>
            </a:r>
            <a:r>
              <a:rPr sz="2000" b="1" spc="-25" dirty="0">
                <a:solidFill>
                  <a:srgbClr val="C00000"/>
                </a:solidFill>
                <a:latin typeface="Arial"/>
                <a:cs typeface="Arial"/>
              </a:rPr>
              <a:t> </a:t>
            </a:r>
            <a:r>
              <a:rPr sz="2000" b="1" dirty="0">
                <a:solidFill>
                  <a:srgbClr val="C00000"/>
                </a:solidFill>
                <a:latin typeface="Arial"/>
                <a:cs typeface="Arial"/>
              </a:rPr>
              <a:t>able</a:t>
            </a:r>
            <a:r>
              <a:rPr sz="2000" b="1" spc="-35" dirty="0">
                <a:solidFill>
                  <a:srgbClr val="C00000"/>
                </a:solidFill>
                <a:latin typeface="Arial"/>
                <a:cs typeface="Arial"/>
              </a:rPr>
              <a:t> </a:t>
            </a:r>
            <a:r>
              <a:rPr sz="2000" b="1" spc="-25" dirty="0">
                <a:solidFill>
                  <a:srgbClr val="C00000"/>
                </a:solidFill>
                <a:latin typeface="Arial"/>
                <a:cs typeface="Arial"/>
              </a:rPr>
              <a:t>to</a:t>
            </a:r>
            <a:endParaRPr sz="2000" dirty="0">
              <a:latin typeface="Arial"/>
              <a:cs typeface="Arial"/>
            </a:endParaRPr>
          </a:p>
        </p:txBody>
      </p:sp>
      <p:sp>
        <p:nvSpPr>
          <p:cNvPr id="4" name="object 4"/>
          <p:cNvSpPr txBox="1"/>
          <p:nvPr/>
        </p:nvSpPr>
        <p:spPr>
          <a:xfrm>
            <a:off x="380623" y="1805202"/>
            <a:ext cx="10896977" cy="3525965"/>
          </a:xfrm>
          <a:prstGeom prst="rect">
            <a:avLst/>
          </a:prstGeom>
        </p:spPr>
        <p:txBody>
          <a:bodyPr vert="horz" wrap="square" lIns="0" tIns="12065" rIns="0" bIns="0" rtlCol="0">
            <a:spAutoFit/>
          </a:bodyPr>
          <a:lstStyle/>
          <a:p>
            <a:pPr marL="354965" indent="-342265">
              <a:lnSpc>
                <a:spcPct val="100000"/>
              </a:lnSpc>
              <a:spcBef>
                <a:spcPts val="95"/>
              </a:spcBef>
              <a:buFont typeface="Wingdings"/>
              <a:buChar char=""/>
              <a:tabLst>
                <a:tab pos="354965" algn="l"/>
              </a:tabLst>
            </a:pPr>
            <a:r>
              <a:rPr lang="en-US" sz="2000" b="1" dirty="0">
                <a:solidFill>
                  <a:srgbClr val="00B050"/>
                </a:solidFill>
                <a:latin typeface="Calibri"/>
                <a:cs typeface="Calibri"/>
              </a:rPr>
              <a:t>Computer Hardware</a:t>
            </a:r>
            <a:r>
              <a:rPr lang="en-US" sz="2000" dirty="0">
                <a:solidFill>
                  <a:srgbClr val="00B050"/>
                </a:solidFill>
                <a:latin typeface="Calibri"/>
                <a:cs typeface="Calibri"/>
              </a:rPr>
              <a:t>: Identify components, connect peripherals, and perform basic troubleshooting.</a:t>
            </a:r>
          </a:p>
          <a:p>
            <a:pPr marL="354965" indent="-342265">
              <a:lnSpc>
                <a:spcPct val="100000"/>
              </a:lnSpc>
              <a:spcBef>
                <a:spcPts val="95"/>
              </a:spcBef>
              <a:buFont typeface="Wingdings"/>
              <a:buChar char=""/>
              <a:tabLst>
                <a:tab pos="354965" algn="l"/>
              </a:tabLst>
            </a:pPr>
            <a:r>
              <a:rPr lang="en-US" sz="2000" b="1" dirty="0">
                <a:solidFill>
                  <a:srgbClr val="2D5395"/>
                </a:solidFill>
                <a:latin typeface="Calibri"/>
                <a:cs typeface="Calibri"/>
              </a:rPr>
              <a:t>Excel</a:t>
            </a:r>
            <a:r>
              <a:rPr lang="en-US" sz="2000" dirty="0">
                <a:solidFill>
                  <a:srgbClr val="2D5395"/>
                </a:solidFill>
                <a:latin typeface="Calibri"/>
                <a:cs typeface="Calibri"/>
              </a:rPr>
              <a:t>: Use essential formulas, sort/filter data, and create basic charts.</a:t>
            </a:r>
          </a:p>
          <a:p>
            <a:pPr marL="354965" indent="-342265">
              <a:lnSpc>
                <a:spcPct val="100000"/>
              </a:lnSpc>
              <a:spcBef>
                <a:spcPts val="95"/>
              </a:spcBef>
              <a:buFont typeface="Wingdings"/>
              <a:buChar char=""/>
              <a:tabLst>
                <a:tab pos="354965" algn="l"/>
              </a:tabLst>
            </a:pPr>
            <a:r>
              <a:rPr lang="en-US" sz="2000" b="1" dirty="0">
                <a:solidFill>
                  <a:srgbClr val="2D5395"/>
                </a:solidFill>
                <a:latin typeface="Calibri"/>
                <a:cs typeface="Calibri"/>
              </a:rPr>
              <a:t>PowerPoint</a:t>
            </a:r>
            <a:r>
              <a:rPr lang="en-US" sz="2000" dirty="0">
                <a:solidFill>
                  <a:srgbClr val="2D5395"/>
                </a:solidFill>
                <a:latin typeface="Calibri"/>
                <a:cs typeface="Calibri"/>
              </a:rPr>
              <a:t>: Create clean, professional slides and insert objects (images, charts).</a:t>
            </a:r>
          </a:p>
          <a:p>
            <a:pPr marL="354965" indent="-342265">
              <a:lnSpc>
                <a:spcPct val="100000"/>
              </a:lnSpc>
              <a:spcBef>
                <a:spcPts val="95"/>
              </a:spcBef>
              <a:buFont typeface="Wingdings"/>
              <a:buChar char=""/>
              <a:tabLst>
                <a:tab pos="354965" algn="l"/>
              </a:tabLst>
            </a:pPr>
            <a:r>
              <a:rPr lang="en-US" sz="2000" b="1" dirty="0">
                <a:solidFill>
                  <a:srgbClr val="2D5395"/>
                </a:solidFill>
                <a:latin typeface="Calibri"/>
                <a:cs typeface="Calibri"/>
              </a:rPr>
              <a:t>Word</a:t>
            </a:r>
            <a:r>
              <a:rPr lang="en-US" sz="2000" dirty="0">
                <a:solidFill>
                  <a:srgbClr val="2D5395"/>
                </a:solidFill>
                <a:latin typeface="Calibri"/>
                <a:cs typeface="Calibri"/>
              </a:rPr>
              <a:t>: Apply consistent formatting (styles, headers) and use Track Changes.</a:t>
            </a:r>
          </a:p>
          <a:p>
            <a:pPr marL="354965" indent="-342265">
              <a:lnSpc>
                <a:spcPct val="100000"/>
              </a:lnSpc>
              <a:spcBef>
                <a:spcPts val="95"/>
              </a:spcBef>
              <a:buFont typeface="Wingdings"/>
              <a:buChar char=""/>
              <a:tabLst>
                <a:tab pos="354965" algn="l"/>
              </a:tabLst>
            </a:pPr>
            <a:r>
              <a:rPr lang="en-US" sz="2000" b="1" dirty="0">
                <a:solidFill>
                  <a:srgbClr val="00B050"/>
                </a:solidFill>
                <a:latin typeface="Calibri"/>
                <a:cs typeface="Calibri"/>
              </a:rPr>
              <a:t>Outlook</a:t>
            </a:r>
            <a:r>
              <a:rPr lang="en-US" sz="2000" dirty="0">
                <a:solidFill>
                  <a:srgbClr val="00B050"/>
                </a:solidFill>
                <a:latin typeface="Calibri"/>
                <a:cs typeface="Calibri"/>
              </a:rPr>
              <a:t>: Write professional emails, organize their inbox, and manage their calendar.</a:t>
            </a:r>
          </a:p>
          <a:p>
            <a:pPr marL="354965" indent="-342265">
              <a:lnSpc>
                <a:spcPct val="100000"/>
              </a:lnSpc>
              <a:spcBef>
                <a:spcPts val="95"/>
              </a:spcBef>
              <a:buFont typeface="Wingdings"/>
              <a:buChar char=""/>
              <a:tabLst>
                <a:tab pos="354965" algn="l"/>
              </a:tabLst>
            </a:pPr>
            <a:r>
              <a:rPr lang="en-US" sz="2000" b="1" dirty="0">
                <a:solidFill>
                  <a:srgbClr val="585858"/>
                </a:solidFill>
                <a:latin typeface="Calibri"/>
                <a:cs typeface="Calibri"/>
              </a:rPr>
              <a:t>ERP</a:t>
            </a:r>
            <a:r>
              <a:rPr lang="en-US" sz="2000" dirty="0">
                <a:solidFill>
                  <a:srgbClr val="585858"/>
                </a:solidFill>
                <a:latin typeface="Calibri"/>
                <a:cs typeface="Calibri"/>
              </a:rPr>
              <a:t>: Define what an ERP system is and explain its purpose in the business.</a:t>
            </a:r>
          </a:p>
          <a:p>
            <a:pPr marL="354965" indent="-342265">
              <a:lnSpc>
                <a:spcPct val="100000"/>
              </a:lnSpc>
              <a:spcBef>
                <a:spcPts val="95"/>
              </a:spcBef>
              <a:buFont typeface="Wingdings"/>
              <a:buChar char=""/>
              <a:tabLst>
                <a:tab pos="354965" algn="l"/>
              </a:tabLst>
            </a:pPr>
            <a:r>
              <a:rPr lang="en-US" sz="2000" b="1" dirty="0">
                <a:solidFill>
                  <a:srgbClr val="00B050"/>
                </a:solidFill>
                <a:latin typeface="Calibri"/>
                <a:cs typeface="Calibri"/>
              </a:rPr>
              <a:t>Workplace Etiquette</a:t>
            </a:r>
            <a:r>
              <a:rPr lang="en-US" sz="2000" dirty="0">
                <a:solidFill>
                  <a:srgbClr val="00B050"/>
                </a:solidFill>
                <a:latin typeface="Calibri"/>
                <a:cs typeface="Calibri"/>
              </a:rPr>
              <a:t>: Demonstrate professional conduct in physical and virtual settings.</a:t>
            </a:r>
          </a:p>
          <a:p>
            <a:pPr marL="354965" indent="-342265">
              <a:lnSpc>
                <a:spcPct val="100000"/>
              </a:lnSpc>
              <a:spcBef>
                <a:spcPts val="95"/>
              </a:spcBef>
              <a:buFont typeface="Wingdings"/>
              <a:buChar char=""/>
              <a:tabLst>
                <a:tab pos="354965" algn="l"/>
              </a:tabLst>
            </a:pPr>
            <a:r>
              <a:rPr lang="en-US" sz="2000" b="1" dirty="0">
                <a:solidFill>
                  <a:srgbClr val="00B050"/>
                </a:solidFill>
                <a:latin typeface="Calibri"/>
                <a:cs typeface="Calibri"/>
              </a:rPr>
              <a:t>Communication</a:t>
            </a:r>
            <a:r>
              <a:rPr lang="en-US" sz="2000" dirty="0">
                <a:solidFill>
                  <a:srgbClr val="00B050"/>
                </a:solidFill>
                <a:latin typeface="Calibri"/>
                <a:cs typeface="Calibri"/>
              </a:rPr>
              <a:t>: Practice active listening and communicate ideas clearly.</a:t>
            </a:r>
          </a:p>
          <a:p>
            <a:pPr marL="354965" indent="-342265">
              <a:lnSpc>
                <a:spcPct val="100000"/>
              </a:lnSpc>
              <a:spcBef>
                <a:spcPts val="95"/>
              </a:spcBef>
              <a:buFont typeface="Wingdings"/>
              <a:buChar char=""/>
              <a:tabLst>
                <a:tab pos="354965" algn="l"/>
              </a:tabLst>
            </a:pPr>
            <a:r>
              <a:rPr lang="en-US" sz="2000" b="1" dirty="0">
                <a:solidFill>
                  <a:srgbClr val="00B050"/>
                </a:solidFill>
                <a:latin typeface="Calibri"/>
                <a:cs typeface="Calibri"/>
              </a:rPr>
              <a:t>Professional Ethics</a:t>
            </a:r>
            <a:r>
              <a:rPr lang="en-US" sz="2000" dirty="0">
                <a:solidFill>
                  <a:srgbClr val="00B050"/>
                </a:solidFill>
                <a:latin typeface="Calibri"/>
                <a:cs typeface="Calibri"/>
              </a:rPr>
              <a:t>: Understand the importance of integrity, confidentiality, and accountability.</a:t>
            </a:r>
          </a:p>
          <a:p>
            <a:pPr marL="354965" indent="-342265">
              <a:lnSpc>
                <a:spcPct val="100000"/>
              </a:lnSpc>
              <a:spcBef>
                <a:spcPts val="95"/>
              </a:spcBef>
              <a:buFont typeface="Wingdings"/>
              <a:buChar char=""/>
              <a:tabLst>
                <a:tab pos="354965" algn="l"/>
              </a:tabLst>
            </a:pPr>
            <a:r>
              <a:rPr lang="en-US" sz="2000" b="1" dirty="0">
                <a:solidFill>
                  <a:srgbClr val="2D5395"/>
                </a:solidFill>
                <a:latin typeface="Calibri"/>
                <a:cs typeface="Calibri"/>
              </a:rPr>
              <a:t>Time Management</a:t>
            </a:r>
            <a:r>
              <a:rPr lang="en-US" sz="2000" dirty="0">
                <a:solidFill>
                  <a:srgbClr val="2D5395"/>
                </a:solidFill>
                <a:latin typeface="Calibri"/>
                <a:cs typeface="Calibri"/>
              </a:rPr>
              <a:t>: Prioritize tasks effectively and plan their workday.</a:t>
            </a:r>
          </a:p>
          <a:p>
            <a:pPr marL="354965" indent="-342265">
              <a:lnSpc>
                <a:spcPct val="100000"/>
              </a:lnSpc>
              <a:spcBef>
                <a:spcPts val="95"/>
              </a:spcBef>
              <a:buFont typeface="Wingdings"/>
              <a:buChar char=""/>
              <a:tabLst>
                <a:tab pos="354965" algn="l"/>
              </a:tabLst>
            </a:pPr>
            <a:r>
              <a:rPr lang="en-US" sz="2000" b="1" dirty="0">
                <a:solidFill>
                  <a:srgbClr val="585858"/>
                </a:solidFill>
                <a:latin typeface="Calibri"/>
                <a:cs typeface="Calibri"/>
              </a:rPr>
              <a:t>Problem Solving</a:t>
            </a:r>
            <a:r>
              <a:rPr lang="en-US" sz="2000" dirty="0">
                <a:solidFill>
                  <a:srgbClr val="585858"/>
                </a:solidFill>
                <a:latin typeface="Calibri"/>
                <a:cs typeface="Calibri"/>
              </a:rPr>
              <a:t>: Apply a structured approach to identify and solve workplace problems.</a:t>
            </a:r>
            <a:endParaRPr sz="2000" dirty="0">
              <a:solidFill>
                <a:srgbClr val="585858"/>
              </a:solidFill>
              <a:latin typeface="Calibri"/>
              <a:cs typeface="Calibri"/>
            </a:endParaRPr>
          </a:p>
        </p:txBody>
      </p:sp>
      <p:pic>
        <p:nvPicPr>
          <p:cNvPr id="5" name="object 5"/>
          <p:cNvPicPr/>
          <p:nvPr/>
        </p:nvPicPr>
        <p:blipFill>
          <a:blip r:embed="rId2" cstate="print"/>
          <a:stretch>
            <a:fillRect/>
          </a:stretch>
        </p:blipFill>
        <p:spPr>
          <a:xfrm>
            <a:off x="9601200" y="2286000"/>
            <a:ext cx="2410147" cy="158115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3</a:t>
            </a:fld>
            <a:endParaRPr spc="-25"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8792"/>
            <a:ext cx="6781800" cy="677826"/>
          </a:xfrm>
          <a:prstGeom prst="rect">
            <a:avLst/>
          </a:prstGeom>
        </p:spPr>
        <p:txBody>
          <a:bodyPr vert="horz" wrap="square" lIns="0" tIns="244551" rIns="0" bIns="0" rtlCol="0" anchor="ctr">
            <a:spAutoFit/>
          </a:bodyPr>
          <a:lstStyle/>
          <a:p>
            <a:pPr marL="2667000" algn="l">
              <a:lnSpc>
                <a:spcPct val="100000"/>
              </a:lnSpc>
              <a:spcBef>
                <a:spcPts val="95"/>
              </a:spcBef>
            </a:pPr>
            <a:r>
              <a:rPr lang="en-US" sz="2800" dirty="0" smtClean="0"/>
              <a:t>Test your Knowledge</a:t>
            </a:r>
            <a:endParaRPr sz="2800" dirty="0"/>
          </a:p>
        </p:txBody>
      </p:sp>
      <p:sp>
        <p:nvSpPr>
          <p:cNvPr id="3" name="object 3"/>
          <p:cNvSpPr txBox="1"/>
          <p:nvPr/>
        </p:nvSpPr>
        <p:spPr>
          <a:xfrm>
            <a:off x="824890" y="2358593"/>
            <a:ext cx="5905500" cy="1911421"/>
          </a:xfrm>
          <a:prstGeom prst="rect">
            <a:avLst/>
          </a:prstGeom>
        </p:spPr>
        <p:txBody>
          <a:bodyPr vert="horz" wrap="square" lIns="0" tIns="13335" rIns="0" bIns="0" rtlCol="0">
            <a:spAutoFit/>
          </a:bodyPr>
          <a:lstStyle/>
          <a:p>
            <a:pPr marL="24765">
              <a:lnSpc>
                <a:spcPct val="100000"/>
              </a:lnSpc>
              <a:spcBef>
                <a:spcPts val="105"/>
              </a:spcBef>
            </a:pPr>
            <a:r>
              <a:rPr sz="2000" dirty="0">
                <a:latin typeface="Arial MT"/>
                <a:cs typeface="Arial MT"/>
              </a:rPr>
              <a:t>Please</a:t>
            </a:r>
            <a:r>
              <a:rPr sz="2000" spc="-45" dirty="0">
                <a:latin typeface="Arial MT"/>
                <a:cs typeface="Arial MT"/>
              </a:rPr>
              <a:t> </a:t>
            </a:r>
            <a:r>
              <a:rPr lang="en-US" sz="2000" dirty="0" smtClean="0">
                <a:latin typeface="Arial MT"/>
                <a:cs typeface="Arial MT"/>
              </a:rPr>
              <a:t>scan the QR code here or go to the below website:</a:t>
            </a:r>
            <a:endParaRPr sz="2000" dirty="0">
              <a:latin typeface="Arial MT"/>
              <a:cs typeface="Arial MT"/>
            </a:endParaRPr>
          </a:p>
          <a:p>
            <a:pPr>
              <a:lnSpc>
                <a:spcPct val="100000"/>
              </a:lnSpc>
            </a:pPr>
            <a:endParaRPr sz="2000" dirty="0">
              <a:latin typeface="Arial MT"/>
              <a:cs typeface="Arial MT"/>
            </a:endParaRPr>
          </a:p>
          <a:p>
            <a:pPr>
              <a:lnSpc>
                <a:spcPct val="100000"/>
              </a:lnSpc>
              <a:spcBef>
                <a:spcPts val="405"/>
              </a:spcBef>
            </a:pPr>
            <a:endParaRPr sz="2000" dirty="0">
              <a:latin typeface="Arial MT"/>
              <a:cs typeface="Arial MT"/>
            </a:endParaRPr>
          </a:p>
          <a:p>
            <a:pPr marL="12700">
              <a:lnSpc>
                <a:spcPct val="100000"/>
              </a:lnSpc>
            </a:pPr>
            <a:r>
              <a:rPr lang="en-US" sz="2000" u="sng" spc="-10" dirty="0" smtClean="0">
                <a:solidFill>
                  <a:srgbClr val="0462C1"/>
                </a:solidFill>
                <a:uFill>
                  <a:solidFill>
                    <a:srgbClr val="0462C1"/>
                  </a:solidFill>
                </a:uFill>
                <a:latin typeface="Arial MT"/>
                <a:cs typeface="Arial MT"/>
                <a:hlinkClick r:id="rId2"/>
              </a:rPr>
              <a:t>https://afathelbab.github.io/cnpc/computer-basics-soft-skills/day2/quiz.html</a:t>
            </a:r>
            <a:endParaRPr sz="2000" dirty="0">
              <a:latin typeface="Arial MT"/>
              <a:cs typeface="Arial MT"/>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4</a:t>
            </a:fld>
            <a:endParaRPr spc="-25"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1600200"/>
            <a:ext cx="3973398" cy="397339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228600"/>
            <a:ext cx="3465195" cy="452120"/>
          </a:xfrm>
          <a:prstGeom prst="rect">
            <a:avLst/>
          </a:prstGeom>
        </p:spPr>
        <p:txBody>
          <a:bodyPr vert="horz" wrap="square" lIns="0" tIns="12065" rIns="0" bIns="0" rtlCol="0">
            <a:spAutoFit/>
          </a:bodyPr>
          <a:lstStyle/>
          <a:p>
            <a:pPr marL="12700">
              <a:lnSpc>
                <a:spcPct val="100000"/>
              </a:lnSpc>
              <a:spcBef>
                <a:spcPts val="95"/>
              </a:spcBef>
              <a:tabLst>
                <a:tab pos="1731645" algn="l"/>
              </a:tabLst>
            </a:pPr>
            <a:r>
              <a:rPr lang="en-US" sz="2800" dirty="0" smtClean="0"/>
              <a:t>Quiz </a:t>
            </a:r>
            <a:r>
              <a:rPr sz="2800" spc="-10" dirty="0" smtClean="0"/>
              <a:t>Reflection</a:t>
            </a:r>
            <a:endParaRPr sz="2800" dirty="0"/>
          </a:p>
        </p:txBody>
      </p:sp>
      <p:sp>
        <p:nvSpPr>
          <p:cNvPr id="3" name="object 3"/>
          <p:cNvSpPr txBox="1"/>
          <p:nvPr/>
        </p:nvSpPr>
        <p:spPr>
          <a:xfrm>
            <a:off x="837082" y="2358593"/>
            <a:ext cx="5652135" cy="2947602"/>
          </a:xfrm>
          <a:prstGeom prst="rect">
            <a:avLst/>
          </a:prstGeom>
        </p:spPr>
        <p:txBody>
          <a:bodyPr vert="horz" wrap="square" lIns="0" tIns="13335" rIns="0" bIns="0" rtlCol="0">
            <a:spAutoFit/>
          </a:bodyPr>
          <a:lstStyle/>
          <a:p>
            <a:pPr marL="12700">
              <a:lnSpc>
                <a:spcPct val="100000"/>
              </a:lnSpc>
              <a:spcBef>
                <a:spcPts val="105"/>
              </a:spcBef>
            </a:pPr>
            <a:r>
              <a:rPr lang="en-US" sz="2000" dirty="0" smtClean="0">
                <a:latin typeface="Arial MT"/>
                <a:cs typeface="Arial MT"/>
              </a:rPr>
              <a:t>How many got the full mark?</a:t>
            </a:r>
            <a:r>
              <a:rPr lang="ar-EG" sz="2000" dirty="0" smtClean="0">
                <a:latin typeface="Arial MT"/>
                <a:cs typeface="Arial MT"/>
              </a:rPr>
              <a:t>  </a:t>
            </a:r>
          </a:p>
          <a:p>
            <a:pPr marL="12700">
              <a:lnSpc>
                <a:spcPct val="100000"/>
              </a:lnSpc>
              <a:spcBef>
                <a:spcPts val="105"/>
              </a:spcBef>
            </a:pPr>
            <a:endParaRPr lang="ar-EG" sz="2000" dirty="0">
              <a:latin typeface="Arial MT"/>
              <a:cs typeface="Arial MT"/>
            </a:endParaRPr>
          </a:p>
          <a:p>
            <a:pPr marL="12700">
              <a:lnSpc>
                <a:spcPct val="100000"/>
              </a:lnSpc>
              <a:spcBef>
                <a:spcPts val="105"/>
              </a:spcBef>
            </a:pPr>
            <a:r>
              <a:rPr lang="en-US" sz="2000" dirty="0" smtClean="0">
                <a:latin typeface="Arial MT"/>
                <a:cs typeface="Arial MT"/>
              </a:rPr>
              <a:t>How got more than 50% correct?</a:t>
            </a:r>
          </a:p>
          <a:p>
            <a:pPr marL="12700">
              <a:lnSpc>
                <a:spcPct val="100000"/>
              </a:lnSpc>
              <a:spcBef>
                <a:spcPts val="105"/>
              </a:spcBef>
            </a:pPr>
            <a:endParaRPr lang="en-US" sz="2000" dirty="0">
              <a:latin typeface="Arial MT"/>
              <a:cs typeface="Arial MT"/>
            </a:endParaRPr>
          </a:p>
          <a:p>
            <a:pPr marL="12700">
              <a:lnSpc>
                <a:spcPct val="100000"/>
              </a:lnSpc>
              <a:spcBef>
                <a:spcPts val="105"/>
              </a:spcBef>
            </a:pPr>
            <a:r>
              <a:rPr lang="en-US" sz="2000" dirty="0" smtClean="0">
                <a:latin typeface="Arial MT"/>
                <a:cs typeface="Arial MT"/>
              </a:rPr>
              <a:t>How many got them all wrong?</a:t>
            </a:r>
          </a:p>
          <a:p>
            <a:pPr marL="12700">
              <a:lnSpc>
                <a:spcPct val="100000"/>
              </a:lnSpc>
              <a:spcBef>
                <a:spcPts val="105"/>
              </a:spcBef>
            </a:pPr>
            <a:endParaRPr lang="en-US" sz="2000" dirty="0">
              <a:latin typeface="Arial MT"/>
              <a:cs typeface="Arial MT"/>
            </a:endParaRPr>
          </a:p>
          <a:p>
            <a:pPr marL="12700">
              <a:lnSpc>
                <a:spcPct val="100000"/>
              </a:lnSpc>
              <a:spcBef>
                <a:spcPts val="105"/>
              </a:spcBef>
            </a:pPr>
            <a:endParaRPr lang="en-US" sz="2000" dirty="0" smtClean="0">
              <a:latin typeface="Arial MT"/>
              <a:cs typeface="Arial MT"/>
            </a:endParaRPr>
          </a:p>
          <a:p>
            <a:pPr marL="12700">
              <a:lnSpc>
                <a:spcPct val="100000"/>
              </a:lnSpc>
              <a:spcBef>
                <a:spcPts val="105"/>
              </a:spcBef>
            </a:pPr>
            <a:endParaRPr lang="en-US" sz="2000" dirty="0">
              <a:latin typeface="Arial MT"/>
              <a:cs typeface="Arial MT"/>
            </a:endParaRPr>
          </a:p>
          <a:p>
            <a:pPr marL="12700">
              <a:lnSpc>
                <a:spcPct val="100000"/>
              </a:lnSpc>
              <a:spcBef>
                <a:spcPts val="105"/>
              </a:spcBef>
            </a:pPr>
            <a:r>
              <a:rPr lang="en-US" sz="2000" dirty="0" smtClean="0">
                <a:latin typeface="Arial MT"/>
                <a:cs typeface="Arial MT"/>
              </a:rPr>
              <a:t>It’s </a:t>
            </a:r>
            <a:r>
              <a:rPr lang="en-US" sz="2400" b="1" dirty="0" smtClean="0">
                <a:solidFill>
                  <a:srgbClr val="00B050"/>
                </a:solidFill>
                <a:latin typeface="Arial MT"/>
                <a:cs typeface="Arial MT"/>
              </a:rPr>
              <a:t>OK</a:t>
            </a:r>
            <a:r>
              <a:rPr lang="en-US" sz="2000" dirty="0" smtClean="0">
                <a:latin typeface="Arial MT"/>
                <a:cs typeface="Arial MT"/>
              </a:rPr>
              <a:t> either way </a:t>
            </a:r>
            <a:endParaRPr sz="2000" dirty="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5</a:t>
            </a:fld>
            <a:endParaRPr spc="-25"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7795" y="2743200"/>
            <a:ext cx="6633058" cy="20574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549098"/>
            <a:ext cx="7467600" cy="1908933"/>
          </a:xfrm>
          <a:prstGeom prst="rect">
            <a:avLst/>
          </a:prstGeom>
        </p:spPr>
        <p:txBody>
          <a:bodyPr vert="horz" wrap="square" lIns="0" tIns="244551" rIns="0" bIns="0" rtlCol="0" anchor="ctr">
            <a:spAutoFit/>
          </a:bodyPr>
          <a:lstStyle/>
          <a:p>
            <a:pPr algn="ctr"/>
            <a:r>
              <a:rPr lang="en-US" sz="5400" dirty="0"/>
              <a:t>Module 1: </a:t>
            </a:r>
            <a:r>
              <a:rPr lang="en-US" sz="5400" dirty="0" smtClean="0"/>
              <a:t/>
            </a:r>
            <a:br>
              <a:rPr lang="en-US" sz="5400" dirty="0" smtClean="0"/>
            </a:br>
            <a:r>
              <a:rPr lang="en-US" sz="5400" dirty="0"/>
              <a:t>Excel Essentials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6</a:t>
            </a:fld>
            <a:endParaRPr spc="-25" dirty="0"/>
          </a:p>
        </p:txBody>
      </p:sp>
    </p:spTree>
    <p:extLst>
      <p:ext uri="{BB962C8B-B14F-4D97-AF65-F5344CB8AC3E}">
        <p14:creationId xmlns:p14="http://schemas.microsoft.com/office/powerpoint/2010/main" val="21304053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Excel Essentials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7</a:t>
            </a:fld>
            <a:endParaRPr spc="-25" dirty="0"/>
          </a:p>
        </p:txBody>
      </p:sp>
      <p:sp>
        <p:nvSpPr>
          <p:cNvPr id="6" name="TextBox 5"/>
          <p:cNvSpPr txBox="1"/>
          <p:nvPr/>
        </p:nvSpPr>
        <p:spPr>
          <a:xfrm>
            <a:off x="901761" y="1905000"/>
            <a:ext cx="2249334" cy="646331"/>
          </a:xfrm>
          <a:prstGeom prst="rect">
            <a:avLst/>
          </a:prstGeom>
          <a:noFill/>
        </p:spPr>
        <p:txBody>
          <a:bodyPr wrap="none" rtlCol="1">
            <a:spAutoFit/>
          </a:bodyPr>
          <a:lstStyle/>
          <a:p>
            <a:r>
              <a:rPr lang="en-US" b="1" dirty="0" smtClean="0">
                <a:solidFill>
                  <a:srgbClr val="C00000"/>
                </a:solidFill>
              </a:rPr>
              <a:t>What is Excel For?</a:t>
            </a:r>
          </a:p>
          <a:p>
            <a:endParaRPr lang="ar-EG" dirty="0"/>
          </a:p>
        </p:txBody>
      </p:sp>
      <p:sp>
        <p:nvSpPr>
          <p:cNvPr id="7" name="TextBox 6"/>
          <p:cNvSpPr txBox="1"/>
          <p:nvPr/>
        </p:nvSpPr>
        <p:spPr>
          <a:xfrm>
            <a:off x="1110679" y="2971800"/>
            <a:ext cx="4733274" cy="2585323"/>
          </a:xfrm>
          <a:prstGeom prst="rect">
            <a:avLst/>
          </a:prstGeom>
          <a:noFill/>
        </p:spPr>
        <p:txBody>
          <a:bodyPr wrap="square" rtlCol="1">
            <a:spAutoFit/>
          </a:bodyPr>
          <a:lstStyle/>
          <a:p>
            <a:r>
              <a:rPr lang="en-US" dirty="0" smtClean="0"/>
              <a:t>Excel is a spreadsheet program. You'll use it for:</a:t>
            </a:r>
            <a:endParaRPr lang="ar-EG" dirty="0" smtClean="0"/>
          </a:p>
          <a:p>
            <a:endParaRPr lang="en-US" dirty="0" smtClean="0"/>
          </a:p>
          <a:p>
            <a:pPr marL="285750" indent="-285750">
              <a:buFont typeface="Wingdings" panose="05000000000000000000" pitchFamily="2" charset="2"/>
              <a:buChar char="Ø"/>
            </a:pPr>
            <a:r>
              <a:rPr lang="en-US" dirty="0" smtClean="0"/>
              <a:t>Organizing data</a:t>
            </a:r>
            <a:endParaRPr lang="ar-EG" dirty="0" smtClean="0"/>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smtClean="0"/>
              <a:t>Performing calculations</a:t>
            </a:r>
            <a:endParaRPr lang="ar-EG" dirty="0" smtClean="0"/>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smtClean="0"/>
              <a:t>Visualizing trends</a:t>
            </a:r>
          </a:p>
          <a:p>
            <a:endParaRPr lang="ar-E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1752600"/>
            <a:ext cx="4038600" cy="4038600"/>
          </a:xfrm>
          <a:prstGeom prst="rect">
            <a:avLst/>
          </a:prstGeom>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Excel Essentials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8</a:t>
            </a:fld>
            <a:endParaRPr spc="-25" dirty="0"/>
          </a:p>
        </p:txBody>
      </p:sp>
      <p:sp>
        <p:nvSpPr>
          <p:cNvPr id="6" name="TextBox 5"/>
          <p:cNvSpPr txBox="1"/>
          <p:nvPr/>
        </p:nvSpPr>
        <p:spPr>
          <a:xfrm>
            <a:off x="901761" y="1905000"/>
            <a:ext cx="2300630" cy="369332"/>
          </a:xfrm>
          <a:prstGeom prst="rect">
            <a:avLst/>
          </a:prstGeom>
          <a:noFill/>
        </p:spPr>
        <p:txBody>
          <a:bodyPr wrap="none" rtlCol="1">
            <a:spAutoFit/>
          </a:bodyPr>
          <a:lstStyle/>
          <a:p>
            <a:r>
              <a:rPr lang="en-US" b="1" dirty="0" smtClean="0">
                <a:solidFill>
                  <a:srgbClr val="C00000"/>
                </a:solidFill>
              </a:rPr>
              <a:t>Essential Formulas</a:t>
            </a:r>
            <a:endParaRPr lang="ar-EG" dirty="0"/>
          </a:p>
        </p:txBody>
      </p:sp>
      <p:sp>
        <p:nvSpPr>
          <p:cNvPr id="7" name="TextBox 6"/>
          <p:cNvSpPr txBox="1"/>
          <p:nvPr/>
        </p:nvSpPr>
        <p:spPr>
          <a:xfrm>
            <a:off x="884176" y="2590800"/>
            <a:ext cx="7355966" cy="2308324"/>
          </a:xfrm>
          <a:prstGeom prst="rect">
            <a:avLst/>
          </a:prstGeom>
          <a:noFill/>
        </p:spPr>
        <p:txBody>
          <a:bodyPr wrap="square" rtlCol="1">
            <a:spAutoFit/>
          </a:bodyPr>
          <a:lstStyle/>
          <a:p>
            <a:r>
              <a:rPr lang="en-US" sz="1600" dirty="0" smtClean="0"/>
              <a:t>Formulas are the heart of Excel. They always start with an equals sign (=)</a:t>
            </a:r>
          </a:p>
          <a:p>
            <a:endParaRPr lang="en-US" sz="1600" dirty="0" smtClean="0"/>
          </a:p>
          <a:p>
            <a:pPr marL="285750" indent="-285750">
              <a:buFont typeface="Wingdings" panose="05000000000000000000" pitchFamily="2" charset="2"/>
              <a:buChar char="q"/>
            </a:pPr>
            <a:r>
              <a:rPr lang="en-US" sz="1600" i="1" dirty="0" smtClean="0">
                <a:solidFill>
                  <a:srgbClr val="0070C0"/>
                </a:solidFill>
              </a:rPr>
              <a:t>=SUM(A1:A10): </a:t>
            </a:r>
            <a:r>
              <a:rPr lang="en-US" sz="1600" dirty="0" smtClean="0"/>
              <a:t>Adds all the numbers in a range of cells (from A1 to A10)</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i="1" dirty="0" smtClean="0">
                <a:solidFill>
                  <a:srgbClr val="0070C0"/>
                </a:solidFill>
              </a:rPr>
              <a:t>=AVERAGE(B1:B10): </a:t>
            </a:r>
            <a:r>
              <a:rPr lang="en-US" sz="1600" dirty="0" smtClean="0"/>
              <a:t>Calculates the average of the numbers in that range</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i="1" dirty="0" smtClean="0">
                <a:solidFill>
                  <a:srgbClr val="0070C0"/>
                </a:solidFill>
              </a:rPr>
              <a:t>=COUNT(C1:C10): </a:t>
            </a:r>
            <a:r>
              <a:rPr lang="en-US" sz="1600" dirty="0" smtClean="0"/>
              <a:t>Counts how many cells in that range contain numbers</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i="1" dirty="0" smtClean="0">
                <a:solidFill>
                  <a:srgbClr val="0070C0"/>
                </a:solidFill>
              </a:rPr>
              <a:t>=IF(condition, </a:t>
            </a:r>
            <a:r>
              <a:rPr lang="en-US" sz="1600" i="1" dirty="0" err="1" smtClean="0">
                <a:solidFill>
                  <a:srgbClr val="0070C0"/>
                </a:solidFill>
              </a:rPr>
              <a:t>value_if_true</a:t>
            </a:r>
            <a:r>
              <a:rPr lang="en-US" sz="1600" i="1" dirty="0" smtClean="0">
                <a:solidFill>
                  <a:srgbClr val="0070C0"/>
                </a:solidFill>
              </a:rPr>
              <a:t>, </a:t>
            </a:r>
            <a:r>
              <a:rPr lang="en-US" sz="1600" i="1" dirty="0" err="1" smtClean="0">
                <a:solidFill>
                  <a:srgbClr val="0070C0"/>
                </a:solidFill>
              </a:rPr>
              <a:t>value_if_false</a:t>
            </a:r>
            <a:r>
              <a:rPr lang="en-US" sz="1600" i="1" dirty="0" smtClean="0">
                <a:solidFill>
                  <a:srgbClr val="0070C0"/>
                </a:solidFill>
              </a:rPr>
              <a:t>): </a:t>
            </a:r>
            <a:r>
              <a:rPr lang="en-US" sz="1600" dirty="0" smtClean="0"/>
              <a:t>Performs a logical test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12248" y="2877235"/>
            <a:ext cx="2982962" cy="2982962"/>
          </a:xfrm>
          <a:prstGeom prst="rect">
            <a:avLst/>
          </a:prstGeom>
          <a:effectLst>
            <a:outerShdw blurRad="50800" dist="38100" dir="2700000" algn="tl" rotWithShape="0">
              <a:prstClr val="black">
                <a:alpha val="40000"/>
              </a:prstClr>
            </a:outerShdw>
          </a:effectLst>
        </p:spPr>
      </p:pic>
      <p:sp>
        <p:nvSpPr>
          <p:cNvPr id="8" name="TextBox 7"/>
          <p:cNvSpPr txBox="1"/>
          <p:nvPr/>
        </p:nvSpPr>
        <p:spPr>
          <a:xfrm>
            <a:off x="1303276" y="5029200"/>
            <a:ext cx="7355966" cy="830997"/>
          </a:xfrm>
          <a:prstGeom prst="rect">
            <a:avLst/>
          </a:prstGeom>
          <a:noFill/>
        </p:spPr>
        <p:txBody>
          <a:bodyPr wrap="square" rtlCol="1">
            <a:spAutoFit/>
          </a:bodyPr>
          <a:lstStyle/>
          <a:p>
            <a:pPr marL="285750" indent="-285750">
              <a:buFont typeface="Wingdings" panose="05000000000000000000" pitchFamily="2" charset="2"/>
              <a:buChar char="Ø"/>
            </a:pPr>
            <a:r>
              <a:rPr lang="en-US" sz="1600" dirty="0" smtClean="0"/>
              <a:t>Example: =IF(A2 &gt; 100, "Yes", "No")</a:t>
            </a:r>
          </a:p>
          <a:p>
            <a:pPr marL="285750" indent="-285750">
              <a:buFont typeface="Wingdings" panose="05000000000000000000" pitchFamily="2" charset="2"/>
              <a:buChar char="Ø"/>
            </a:pPr>
            <a:r>
              <a:rPr lang="en-US" sz="1600" dirty="0" smtClean="0"/>
              <a:t>Translation: If the value in cell A2 is greater than 100, show "Yes". Otherwise, show "No".</a:t>
            </a:r>
            <a:endParaRPr lang="ar-EG" sz="1600" dirty="0"/>
          </a:p>
        </p:txBody>
      </p:sp>
      <p:pic>
        <p:nvPicPr>
          <p:cNvPr id="9" name="Picture 8"/>
          <p:cNvPicPr>
            <a:picLocks noChangeAspect="1"/>
          </p:cNvPicPr>
          <p:nvPr/>
        </p:nvPicPr>
        <p:blipFill>
          <a:blip r:embed="rId4"/>
          <a:stretch>
            <a:fillRect/>
          </a:stretch>
        </p:blipFill>
        <p:spPr>
          <a:xfrm>
            <a:off x="8534400" y="1582787"/>
            <a:ext cx="2943225" cy="942975"/>
          </a:xfrm>
          <a:prstGeom prst="rect">
            <a:avLst/>
          </a:prstGeom>
          <a:effectLst>
            <a:glow rad="139700">
              <a:schemeClr val="accent3">
                <a:satMod val="175000"/>
                <a:alpha val="40000"/>
              </a:schemeClr>
            </a:glow>
          </a:effectLst>
        </p:spPr>
      </p:pic>
    </p:spTree>
    <p:extLst>
      <p:ext uri="{BB962C8B-B14F-4D97-AF65-F5344CB8AC3E}">
        <p14:creationId xmlns:p14="http://schemas.microsoft.com/office/powerpoint/2010/main" val="17156298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Excel Essentials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9</a:t>
            </a:fld>
            <a:endParaRPr spc="-25" dirty="0"/>
          </a:p>
        </p:txBody>
      </p:sp>
      <p:sp>
        <p:nvSpPr>
          <p:cNvPr id="6" name="TextBox 5"/>
          <p:cNvSpPr txBox="1"/>
          <p:nvPr/>
        </p:nvSpPr>
        <p:spPr>
          <a:xfrm>
            <a:off x="901761" y="1905000"/>
            <a:ext cx="2300630" cy="369332"/>
          </a:xfrm>
          <a:prstGeom prst="rect">
            <a:avLst/>
          </a:prstGeom>
          <a:noFill/>
        </p:spPr>
        <p:txBody>
          <a:bodyPr wrap="none" rtlCol="1">
            <a:spAutoFit/>
          </a:bodyPr>
          <a:lstStyle/>
          <a:p>
            <a:r>
              <a:rPr lang="en-US" b="1" dirty="0" smtClean="0">
                <a:solidFill>
                  <a:srgbClr val="C00000"/>
                </a:solidFill>
              </a:rPr>
              <a:t>Essential Formulas</a:t>
            </a:r>
            <a:endParaRPr lang="ar-EG" dirty="0"/>
          </a:p>
        </p:txBody>
      </p:sp>
      <p:sp>
        <p:nvSpPr>
          <p:cNvPr id="7" name="TextBox 6"/>
          <p:cNvSpPr txBox="1"/>
          <p:nvPr/>
        </p:nvSpPr>
        <p:spPr>
          <a:xfrm>
            <a:off x="884176" y="2590800"/>
            <a:ext cx="5897624" cy="2554545"/>
          </a:xfrm>
          <a:prstGeom prst="rect">
            <a:avLst/>
          </a:prstGeom>
          <a:noFill/>
        </p:spPr>
        <p:txBody>
          <a:bodyPr wrap="square" rtlCol="1">
            <a:spAutoFit/>
          </a:bodyPr>
          <a:lstStyle/>
          <a:p>
            <a:r>
              <a:rPr lang="en-US" sz="1600" dirty="0" smtClean="0"/>
              <a:t>This helps you find what you need in large datasets.</a:t>
            </a:r>
          </a:p>
          <a:p>
            <a:endParaRPr lang="en-US" sz="1600" dirty="0" smtClean="0"/>
          </a:p>
          <a:p>
            <a:pPr marL="285750" indent="-285750">
              <a:buFont typeface="Wingdings" panose="05000000000000000000" pitchFamily="2" charset="2"/>
              <a:buChar char="q"/>
            </a:pPr>
            <a:r>
              <a:rPr lang="en-US" sz="1600" b="1" dirty="0" smtClean="0"/>
              <a:t>Sort</a:t>
            </a:r>
            <a:r>
              <a:rPr lang="en-US" sz="1600" dirty="0" smtClean="0"/>
              <a:t>: Select your data, go to the </a:t>
            </a:r>
            <a:r>
              <a:rPr lang="en-US" sz="1600" u="sng" dirty="0" smtClean="0"/>
              <a:t>Data</a:t>
            </a:r>
            <a:r>
              <a:rPr lang="en-US" sz="1600" dirty="0" smtClean="0"/>
              <a:t> tab, and click </a:t>
            </a:r>
            <a:r>
              <a:rPr lang="en-US" sz="1600" u="sng" dirty="0" smtClean="0"/>
              <a:t>Sort</a:t>
            </a:r>
            <a:r>
              <a:rPr lang="en-US" sz="1600" dirty="0" smtClean="0"/>
              <a:t>. You can organize your data alphabetically (A-Z), numerically (Smallest to Largest), etc.</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Filter</a:t>
            </a:r>
            <a:r>
              <a:rPr lang="en-US" sz="1600" dirty="0" smtClean="0"/>
              <a:t>: Select your data, go to the </a:t>
            </a:r>
            <a:r>
              <a:rPr lang="en-US" sz="1600" u="sng" dirty="0" smtClean="0"/>
              <a:t>Data</a:t>
            </a:r>
            <a:r>
              <a:rPr lang="en-US" sz="1600" dirty="0" smtClean="0"/>
              <a:t> tab, and click </a:t>
            </a:r>
            <a:r>
              <a:rPr lang="en-US" sz="1600" u="sng" dirty="0" smtClean="0"/>
              <a:t>Filter</a:t>
            </a:r>
            <a:r>
              <a:rPr lang="en-US" sz="1600" dirty="0" smtClean="0"/>
              <a:t>. This adds a small dropdown arrow to each column header, allowing you to show only the rows that meet your criteria (e.g., show only equipment in a specific unit).</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8999" y="3101069"/>
            <a:ext cx="4877317" cy="4088644"/>
          </a:xfrm>
          <a:prstGeom prst="rect">
            <a:avLst/>
          </a:prstGeom>
        </p:spPr>
      </p:pic>
      <p:pic>
        <p:nvPicPr>
          <p:cNvPr id="12" name="Picture 11"/>
          <p:cNvPicPr>
            <a:picLocks noChangeAspect="1"/>
          </p:cNvPicPr>
          <p:nvPr/>
        </p:nvPicPr>
        <p:blipFill>
          <a:blip r:embed="rId4"/>
          <a:stretch>
            <a:fillRect/>
          </a:stretch>
        </p:blipFill>
        <p:spPr>
          <a:xfrm>
            <a:off x="6516961" y="762000"/>
            <a:ext cx="986878" cy="1866486"/>
          </a:xfrm>
          <a:prstGeom prst="rect">
            <a:avLst/>
          </a:prstGeom>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pic>
    </p:spTree>
    <p:extLst>
      <p:ext uri="{BB962C8B-B14F-4D97-AF65-F5344CB8AC3E}">
        <p14:creationId xmlns:p14="http://schemas.microsoft.com/office/powerpoint/2010/main" val="29213847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Excel Essentials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10</a:t>
            </a:fld>
            <a:endParaRPr spc="-25" dirty="0"/>
          </a:p>
        </p:txBody>
      </p:sp>
      <p:sp>
        <p:nvSpPr>
          <p:cNvPr id="6" name="TextBox 5"/>
          <p:cNvSpPr txBox="1"/>
          <p:nvPr/>
        </p:nvSpPr>
        <p:spPr>
          <a:xfrm>
            <a:off x="762000" y="1905000"/>
            <a:ext cx="2595582" cy="369332"/>
          </a:xfrm>
          <a:prstGeom prst="rect">
            <a:avLst/>
          </a:prstGeom>
          <a:noFill/>
        </p:spPr>
        <p:txBody>
          <a:bodyPr wrap="none" rtlCol="1">
            <a:spAutoFit/>
          </a:bodyPr>
          <a:lstStyle/>
          <a:p>
            <a:r>
              <a:rPr lang="en-US" b="1" dirty="0" smtClean="0">
                <a:solidFill>
                  <a:srgbClr val="C00000"/>
                </a:solidFill>
              </a:rPr>
              <a:t>Creating Basic Charts</a:t>
            </a:r>
            <a:endParaRPr lang="ar-EG" dirty="0"/>
          </a:p>
        </p:txBody>
      </p:sp>
      <p:sp>
        <p:nvSpPr>
          <p:cNvPr id="7" name="TextBox 6"/>
          <p:cNvSpPr txBox="1"/>
          <p:nvPr/>
        </p:nvSpPr>
        <p:spPr>
          <a:xfrm>
            <a:off x="884176" y="2590800"/>
            <a:ext cx="5897624" cy="3293209"/>
          </a:xfrm>
          <a:prstGeom prst="rect">
            <a:avLst/>
          </a:prstGeom>
          <a:noFill/>
        </p:spPr>
        <p:txBody>
          <a:bodyPr wrap="square" rtlCol="1">
            <a:spAutoFit/>
          </a:bodyPr>
          <a:lstStyle/>
          <a:p>
            <a:r>
              <a:rPr lang="en-US" sz="1600" dirty="0" smtClean="0"/>
              <a:t>Visualizing data makes it much easier to understand.</a:t>
            </a:r>
          </a:p>
          <a:p>
            <a:endParaRPr lang="en-US" sz="1600" dirty="0" smtClean="0"/>
          </a:p>
          <a:p>
            <a:pPr marL="342900" indent="-342900">
              <a:buFont typeface="+mj-lt"/>
              <a:buAutoNum type="arabicParenR"/>
            </a:pPr>
            <a:r>
              <a:rPr lang="en-US" sz="1600" b="1" dirty="0" smtClean="0"/>
              <a:t>Select Your Data</a:t>
            </a:r>
            <a:r>
              <a:rPr lang="en-US" sz="1600" dirty="0" smtClean="0"/>
              <a:t>: Highlight the cells you want to include (e.g., a column of dates and a column of sales figures).</a:t>
            </a:r>
            <a:endParaRPr lang="ar-BH" sz="1600" dirty="0" smtClean="0"/>
          </a:p>
          <a:p>
            <a:pPr marL="342900" indent="-342900">
              <a:buFont typeface="+mj-lt"/>
              <a:buAutoNum type="arabicParenR"/>
            </a:pPr>
            <a:endParaRPr lang="en-US" sz="1600" dirty="0" smtClean="0"/>
          </a:p>
          <a:p>
            <a:pPr marL="342900" indent="-342900">
              <a:buFont typeface="+mj-lt"/>
              <a:buAutoNum type="arabicParenR"/>
            </a:pPr>
            <a:r>
              <a:rPr lang="en-US" sz="1600" b="1" dirty="0" smtClean="0"/>
              <a:t>Go to Insert</a:t>
            </a:r>
            <a:r>
              <a:rPr lang="en-US" sz="1600" dirty="0" smtClean="0"/>
              <a:t>: Click the Insert tab.</a:t>
            </a:r>
          </a:p>
          <a:p>
            <a:pPr marL="342900" indent="-342900">
              <a:buFont typeface="+mj-lt"/>
              <a:buAutoNum type="arabicParenR"/>
            </a:pPr>
            <a:endParaRPr lang="en-US" sz="1600" dirty="0" smtClean="0"/>
          </a:p>
          <a:p>
            <a:pPr marL="342900" indent="-342900">
              <a:buFont typeface="+mj-lt"/>
              <a:buAutoNum type="arabicParenR"/>
            </a:pPr>
            <a:r>
              <a:rPr lang="en-US" sz="1600" b="1" dirty="0" smtClean="0"/>
              <a:t>Choose a Chart</a:t>
            </a:r>
            <a:r>
              <a:rPr lang="en-US" sz="1600" dirty="0" smtClean="0"/>
              <a:t>: Select a Bar Chart, Pie Chart, or Line Chart from the "Charts" section. Excel will create it for you instantly.</a:t>
            </a:r>
          </a:p>
          <a:p>
            <a:r>
              <a:rPr lang="en-US" sz="1600" dirty="0" smtClean="0"/>
              <a:t> </a:t>
            </a:r>
          </a:p>
          <a:p>
            <a:pPr marL="342900" indent="-342900">
              <a:buFont typeface="+mj-lt"/>
              <a:buAutoNum type="arabicParenR" startAt="4"/>
            </a:pPr>
            <a:r>
              <a:rPr lang="en-US" sz="1600" b="1" dirty="0" smtClean="0"/>
              <a:t>Add Titles</a:t>
            </a:r>
            <a:r>
              <a:rPr lang="en-US" sz="1600" dirty="0" smtClean="0"/>
              <a:t>: Always give your chart a clear title and label your axes (what the horizontal and vertical lines represent).</a:t>
            </a:r>
          </a:p>
        </p:txBody>
      </p:sp>
      <p:pic>
        <p:nvPicPr>
          <p:cNvPr id="4" name="Picture 3"/>
          <p:cNvPicPr>
            <a:picLocks noChangeAspect="1"/>
          </p:cNvPicPr>
          <p:nvPr/>
        </p:nvPicPr>
        <p:blipFill>
          <a:blip r:embed="rId3"/>
          <a:stretch>
            <a:fillRect/>
          </a:stretch>
        </p:blipFill>
        <p:spPr>
          <a:xfrm>
            <a:off x="7315200" y="3200400"/>
            <a:ext cx="3848100" cy="1465238"/>
          </a:xfrm>
          <a:prstGeom prst="rect">
            <a:avLst/>
          </a:prstGeom>
          <a:effectLst>
            <a:outerShdw blurRad="50800" dist="38100" dir="2700000" algn="tl" rotWithShape="0">
              <a:prstClr val="black">
                <a:alpha val="40000"/>
              </a:prstClr>
            </a:outerShdw>
          </a:effectLst>
        </p:spPr>
      </p:pic>
      <p:pic>
        <p:nvPicPr>
          <p:cNvPr id="8" name="Picture 7"/>
          <p:cNvPicPr>
            <a:picLocks noChangeAspect="1"/>
          </p:cNvPicPr>
          <p:nvPr/>
        </p:nvPicPr>
        <p:blipFill>
          <a:blip r:embed="rId4"/>
          <a:stretch>
            <a:fillRect/>
          </a:stretch>
        </p:blipFill>
        <p:spPr>
          <a:xfrm>
            <a:off x="7315200" y="2573215"/>
            <a:ext cx="4448175" cy="304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158956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Excel Essentials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11</a:t>
            </a:fld>
            <a:endParaRPr spc="-25" dirty="0"/>
          </a:p>
        </p:txBody>
      </p:sp>
      <p:sp>
        <p:nvSpPr>
          <p:cNvPr id="6" name="TextBox 5"/>
          <p:cNvSpPr txBox="1"/>
          <p:nvPr/>
        </p:nvSpPr>
        <p:spPr>
          <a:xfrm>
            <a:off x="762000" y="1905000"/>
            <a:ext cx="2069797" cy="369332"/>
          </a:xfrm>
          <a:prstGeom prst="rect">
            <a:avLst/>
          </a:prstGeom>
          <a:noFill/>
        </p:spPr>
        <p:txBody>
          <a:bodyPr wrap="none" rtlCol="1">
            <a:spAutoFit/>
          </a:bodyPr>
          <a:lstStyle/>
          <a:p>
            <a:r>
              <a:rPr lang="en-US" b="1" dirty="0" smtClean="0">
                <a:solidFill>
                  <a:srgbClr val="C00000"/>
                </a:solidFill>
              </a:rPr>
              <a:t>Open Discussion</a:t>
            </a:r>
            <a:endParaRPr lang="ar-EG" dirty="0"/>
          </a:p>
        </p:txBody>
      </p:sp>
      <p:sp>
        <p:nvSpPr>
          <p:cNvPr id="7" name="TextBox 6"/>
          <p:cNvSpPr txBox="1"/>
          <p:nvPr/>
        </p:nvSpPr>
        <p:spPr>
          <a:xfrm>
            <a:off x="884176" y="2590800"/>
            <a:ext cx="5897624" cy="1077218"/>
          </a:xfrm>
          <a:prstGeom prst="rect">
            <a:avLst/>
          </a:prstGeom>
          <a:noFill/>
        </p:spPr>
        <p:txBody>
          <a:bodyPr wrap="square" rtlCol="1">
            <a:spAutoFit/>
          </a:bodyPr>
          <a:lstStyle/>
          <a:p>
            <a:pPr marL="285750" indent="-285750">
              <a:buFont typeface="Wingdings" panose="05000000000000000000" pitchFamily="2" charset="2"/>
              <a:buChar char="q"/>
            </a:pPr>
            <a:r>
              <a:rPr lang="en-US" sz="1600" dirty="0" smtClean="0"/>
              <a:t>When would an </a:t>
            </a:r>
            <a:r>
              <a:rPr lang="en-US" sz="1600" b="1" dirty="0" smtClean="0"/>
              <a:t>IF</a:t>
            </a:r>
            <a:r>
              <a:rPr lang="en-US" sz="1600" dirty="0" smtClean="0"/>
              <a:t> formula be more useful than just </a:t>
            </a:r>
            <a:r>
              <a:rPr lang="en-US" sz="1600" b="1" dirty="0" smtClean="0"/>
              <a:t>SUM</a:t>
            </a:r>
            <a:r>
              <a:rPr lang="en-US" sz="1600" dirty="0" smtClean="0"/>
              <a:t>?</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Why is filtering data often more helpful than just sorting it?</a:t>
            </a:r>
          </a:p>
        </p:txBody>
      </p:sp>
      <p:pic>
        <p:nvPicPr>
          <p:cNvPr id="11" name="object 4"/>
          <p:cNvPicPr/>
          <p:nvPr/>
        </p:nvPicPr>
        <p:blipFill>
          <a:blip r:embed="rId3" cstate="print"/>
          <a:stretch>
            <a:fillRect/>
          </a:stretch>
        </p:blipFill>
        <p:spPr>
          <a:xfrm>
            <a:off x="7315200" y="1899138"/>
            <a:ext cx="3814572" cy="3733800"/>
          </a:xfrm>
          <a:prstGeom prst="rect">
            <a:avLst/>
          </a:prstGeom>
        </p:spPr>
      </p:pic>
    </p:spTree>
    <p:extLst>
      <p:ext uri="{BB962C8B-B14F-4D97-AF65-F5344CB8AC3E}">
        <p14:creationId xmlns:p14="http://schemas.microsoft.com/office/powerpoint/2010/main" val="4692144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133600"/>
            <a:ext cx="7467600" cy="2739929"/>
          </a:xfrm>
          <a:prstGeom prst="rect">
            <a:avLst/>
          </a:prstGeom>
        </p:spPr>
        <p:txBody>
          <a:bodyPr vert="horz" wrap="square" lIns="0" tIns="244551" rIns="0" bIns="0" rtlCol="0" anchor="ctr">
            <a:spAutoFit/>
          </a:bodyPr>
          <a:lstStyle/>
          <a:p>
            <a:pPr algn="ctr"/>
            <a:r>
              <a:rPr lang="en-US" sz="5400" dirty="0"/>
              <a:t>Module </a:t>
            </a:r>
            <a:r>
              <a:rPr lang="en-US" sz="5400" dirty="0" smtClean="0"/>
              <a:t>2: </a:t>
            </a:r>
            <a:br>
              <a:rPr lang="en-US" sz="5400" dirty="0" smtClean="0"/>
            </a:br>
            <a:r>
              <a:rPr lang="en-US" sz="5400" dirty="0"/>
              <a:t>PowerPoint Fundamentals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12</a:t>
            </a:fld>
            <a:endParaRPr spc="-25" dirty="0"/>
          </a:p>
        </p:txBody>
      </p:sp>
    </p:spTree>
    <p:extLst>
      <p:ext uri="{BB962C8B-B14F-4D97-AF65-F5344CB8AC3E}">
        <p14:creationId xmlns:p14="http://schemas.microsoft.com/office/powerpoint/2010/main" val="12051149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a:t>
            </a:r>
            <a:r>
              <a:rPr lang="en-US" sz="2800" dirty="0"/>
              <a:t>PowerPoint Fundamentals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13</a:t>
            </a:fld>
            <a:endParaRPr spc="-25" dirty="0"/>
          </a:p>
        </p:txBody>
      </p:sp>
      <p:sp>
        <p:nvSpPr>
          <p:cNvPr id="6" name="TextBox 5"/>
          <p:cNvSpPr txBox="1"/>
          <p:nvPr/>
        </p:nvSpPr>
        <p:spPr>
          <a:xfrm>
            <a:off x="990600" y="1447800"/>
            <a:ext cx="4237057" cy="369332"/>
          </a:xfrm>
          <a:prstGeom prst="rect">
            <a:avLst/>
          </a:prstGeom>
          <a:noFill/>
        </p:spPr>
        <p:txBody>
          <a:bodyPr wrap="none" rtlCol="1">
            <a:spAutoFit/>
          </a:bodyPr>
          <a:lstStyle/>
          <a:p>
            <a:r>
              <a:rPr lang="en-US" b="1" dirty="0" smtClean="0">
                <a:solidFill>
                  <a:srgbClr val="C00000"/>
                </a:solidFill>
              </a:rPr>
              <a:t>Creating Clean &amp; Professional Slides</a:t>
            </a:r>
            <a:endParaRPr lang="en-US" b="1" dirty="0">
              <a:solidFill>
                <a:srgbClr val="C00000"/>
              </a:solidFill>
            </a:endParaRPr>
          </a:p>
        </p:txBody>
      </p:sp>
      <p:sp>
        <p:nvSpPr>
          <p:cNvPr id="9" name="TextBox 8"/>
          <p:cNvSpPr txBox="1"/>
          <p:nvPr/>
        </p:nvSpPr>
        <p:spPr>
          <a:xfrm>
            <a:off x="990600" y="2057400"/>
            <a:ext cx="8458200" cy="3293209"/>
          </a:xfrm>
          <a:prstGeom prst="rect">
            <a:avLst/>
          </a:prstGeom>
          <a:noFill/>
        </p:spPr>
        <p:txBody>
          <a:bodyPr wrap="square" rtlCol="1">
            <a:spAutoFit/>
          </a:bodyPr>
          <a:lstStyle/>
          <a:p>
            <a:r>
              <a:rPr lang="en-US" sz="1600" dirty="0" smtClean="0"/>
              <a:t>The goal of a presentation is to support your speaking, not to be a script. Less is more.</a:t>
            </a:r>
          </a:p>
          <a:p>
            <a:endParaRPr lang="en-US" sz="1600" dirty="0" smtClean="0"/>
          </a:p>
          <a:p>
            <a:pPr marL="285750" indent="-285750">
              <a:buFont typeface="Wingdings" panose="05000000000000000000" pitchFamily="2" charset="2"/>
              <a:buChar char="q"/>
            </a:pPr>
            <a:r>
              <a:rPr lang="en-US" sz="1600" b="1" dirty="0" smtClean="0"/>
              <a:t>One Idea Per Slide</a:t>
            </a:r>
            <a:r>
              <a:rPr lang="en-US" sz="1600" dirty="0" smtClean="0"/>
              <a:t>: Don't crowd a slide with 10 different points. Keep it focused.</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Use Keywords, Not Sentences</a:t>
            </a:r>
            <a:r>
              <a:rPr lang="en-US" sz="1600" dirty="0" smtClean="0"/>
              <a:t>: Use short bullet points (3-5 per slide is a good rule). Your audience should be listening to you, not reading your slides.</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Use a Slide Master</a:t>
            </a:r>
            <a:r>
              <a:rPr lang="en-US" sz="1600" dirty="0" smtClean="0"/>
              <a:t>: (View &gt; Slide Master) This allows you to set the font, logo, and colors for all your slides at once. It ensures your presentation looks consistent and professional.</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High-Contrast &amp; Readable Font</a:t>
            </a:r>
            <a:r>
              <a:rPr lang="en-US" sz="1600" dirty="0" smtClean="0"/>
              <a:t>: Use a simple, clean font (like the one you're reading now) and make sure it's large enough. Black text on a white background is always safe.</a:t>
            </a:r>
            <a:endParaRPr lang="ar-EG" sz="1600"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2590800"/>
            <a:ext cx="2057095" cy="205709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5368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a:t>
            </a:r>
            <a:r>
              <a:rPr lang="en-US" sz="2800" dirty="0"/>
              <a:t>PowerPoint Fundamentals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14</a:t>
            </a:fld>
            <a:endParaRPr spc="-25" dirty="0"/>
          </a:p>
        </p:txBody>
      </p:sp>
      <p:sp>
        <p:nvSpPr>
          <p:cNvPr id="6" name="TextBox 5"/>
          <p:cNvSpPr txBox="1"/>
          <p:nvPr/>
        </p:nvSpPr>
        <p:spPr>
          <a:xfrm>
            <a:off x="990600" y="1447800"/>
            <a:ext cx="2069797" cy="369332"/>
          </a:xfrm>
          <a:prstGeom prst="rect">
            <a:avLst/>
          </a:prstGeom>
          <a:noFill/>
        </p:spPr>
        <p:txBody>
          <a:bodyPr wrap="none" rtlCol="1">
            <a:spAutoFit/>
          </a:bodyPr>
          <a:lstStyle/>
          <a:p>
            <a:r>
              <a:rPr lang="en-US" b="1" dirty="0" smtClean="0">
                <a:solidFill>
                  <a:srgbClr val="C00000"/>
                </a:solidFill>
              </a:rPr>
              <a:t>Inserting Objects</a:t>
            </a:r>
            <a:endParaRPr lang="en-US" b="1" dirty="0">
              <a:solidFill>
                <a:srgbClr val="C00000"/>
              </a:solidFill>
            </a:endParaRPr>
          </a:p>
        </p:txBody>
      </p:sp>
      <p:sp>
        <p:nvSpPr>
          <p:cNvPr id="9" name="TextBox 8"/>
          <p:cNvSpPr txBox="1"/>
          <p:nvPr/>
        </p:nvSpPr>
        <p:spPr>
          <a:xfrm>
            <a:off x="1066800" y="2057400"/>
            <a:ext cx="7162800" cy="2800767"/>
          </a:xfrm>
          <a:prstGeom prst="rect">
            <a:avLst/>
          </a:prstGeom>
          <a:noFill/>
        </p:spPr>
        <p:txBody>
          <a:bodyPr wrap="square" rtlCol="1">
            <a:spAutoFit/>
          </a:bodyPr>
          <a:lstStyle/>
          <a:p>
            <a:r>
              <a:rPr lang="en-US" sz="1600" dirty="0" smtClean="0"/>
              <a:t>Slides are visual. Use objects to break up text.</a:t>
            </a:r>
          </a:p>
          <a:p>
            <a:endParaRPr lang="en-US" sz="1600" dirty="0" smtClean="0"/>
          </a:p>
          <a:p>
            <a:pPr marL="285750" indent="-285750">
              <a:buFont typeface="Wingdings" panose="05000000000000000000" pitchFamily="2" charset="2"/>
              <a:buChar char="q"/>
            </a:pPr>
            <a:r>
              <a:rPr lang="en-US" sz="1600" b="1" dirty="0" smtClean="0"/>
              <a:t>Images</a:t>
            </a:r>
            <a:r>
              <a:rPr lang="en-US" sz="1600" dirty="0" smtClean="0"/>
              <a:t>: Go to Insert &gt; Pictures. Use high-quality images that are relevant to your point. Don't stretch or distort them!</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Charts from Excel</a:t>
            </a:r>
            <a:r>
              <a:rPr lang="en-US" sz="1600" dirty="0" smtClean="0"/>
              <a:t>: You can copy a chart in Excel (</a:t>
            </a:r>
            <a:r>
              <a:rPr lang="en-US" sz="1600" dirty="0" err="1" smtClean="0"/>
              <a:t>Ctrl+C</a:t>
            </a:r>
            <a:r>
              <a:rPr lang="en-US" sz="1600" dirty="0" smtClean="0"/>
              <a:t>) and paste it directly into PowerPoint (</a:t>
            </a:r>
            <a:r>
              <a:rPr lang="en-US" sz="1600" dirty="0" err="1" smtClean="0"/>
              <a:t>Ctrl+V</a:t>
            </a:r>
            <a:r>
              <a:rPr lang="en-US" sz="1600" dirty="0" smtClean="0"/>
              <a:t>). </a:t>
            </a:r>
          </a:p>
          <a:p>
            <a:pPr marL="285750" indent="-285750">
              <a:buFont typeface="Wingdings" panose="05000000000000000000" pitchFamily="2" charset="2"/>
              <a:buChar char="q"/>
            </a:pPr>
            <a:endParaRPr lang="en-US" sz="1600" dirty="0"/>
          </a:p>
          <a:p>
            <a:r>
              <a:rPr lang="en-US" sz="1600" dirty="0" smtClean="0"/>
              <a:t>It's often best to paste it "</a:t>
            </a:r>
            <a:r>
              <a:rPr lang="en-US" sz="1600" i="1" dirty="0" smtClean="0"/>
              <a:t>As Picture</a:t>
            </a:r>
            <a:r>
              <a:rPr lang="en-US" sz="1600" dirty="0" smtClean="0"/>
              <a:t>" to prevent formatting issues, or "</a:t>
            </a:r>
            <a:r>
              <a:rPr lang="en-US" sz="1600" i="1" dirty="0" smtClean="0"/>
              <a:t>Link Data</a:t>
            </a:r>
            <a:r>
              <a:rPr lang="en-US" sz="1600" dirty="0" smtClean="0"/>
              <a:t>" if you want the chart in PowerPoint to update when you change the data in Excel.</a:t>
            </a:r>
            <a:endParaRPr lang="ar-EG" sz="1600" dirty="0"/>
          </a:p>
        </p:txBody>
      </p:sp>
      <p:pic>
        <p:nvPicPr>
          <p:cNvPr id="7" name="Picture 6"/>
          <p:cNvPicPr>
            <a:picLocks noChangeAspect="1"/>
          </p:cNvPicPr>
          <p:nvPr/>
        </p:nvPicPr>
        <p:blipFill>
          <a:blip r:embed="rId3"/>
          <a:stretch>
            <a:fillRect/>
          </a:stretch>
        </p:blipFill>
        <p:spPr>
          <a:xfrm>
            <a:off x="8763000" y="2848183"/>
            <a:ext cx="2552700" cy="1219200"/>
          </a:xfrm>
          <a:prstGeom prst="rect">
            <a:avLst/>
          </a:prstGeom>
        </p:spPr>
      </p:pic>
    </p:spTree>
    <p:extLst>
      <p:ext uri="{BB962C8B-B14F-4D97-AF65-F5344CB8AC3E}">
        <p14:creationId xmlns:p14="http://schemas.microsoft.com/office/powerpoint/2010/main" val="16271514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a:t>
            </a:r>
            <a:r>
              <a:rPr lang="en-US" sz="2800" dirty="0" smtClean="0"/>
              <a:t>2: </a:t>
            </a:r>
            <a:r>
              <a:rPr lang="en-US" sz="2800" dirty="0"/>
              <a:t>PowerPoint Fundamentals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15</a:t>
            </a:fld>
            <a:endParaRPr spc="-25" dirty="0"/>
          </a:p>
        </p:txBody>
      </p:sp>
      <p:sp>
        <p:nvSpPr>
          <p:cNvPr id="6" name="TextBox 5"/>
          <p:cNvSpPr txBox="1"/>
          <p:nvPr/>
        </p:nvSpPr>
        <p:spPr>
          <a:xfrm>
            <a:off x="762000" y="1905000"/>
            <a:ext cx="2069797" cy="369332"/>
          </a:xfrm>
          <a:prstGeom prst="rect">
            <a:avLst/>
          </a:prstGeom>
          <a:noFill/>
        </p:spPr>
        <p:txBody>
          <a:bodyPr wrap="none" rtlCol="1">
            <a:spAutoFit/>
          </a:bodyPr>
          <a:lstStyle/>
          <a:p>
            <a:r>
              <a:rPr lang="en-US" b="1" dirty="0" smtClean="0">
                <a:solidFill>
                  <a:srgbClr val="C00000"/>
                </a:solidFill>
              </a:rPr>
              <a:t>Open Discussion</a:t>
            </a:r>
            <a:endParaRPr lang="ar-EG" dirty="0"/>
          </a:p>
        </p:txBody>
      </p:sp>
      <p:sp>
        <p:nvSpPr>
          <p:cNvPr id="7" name="TextBox 6"/>
          <p:cNvSpPr txBox="1"/>
          <p:nvPr/>
        </p:nvSpPr>
        <p:spPr>
          <a:xfrm>
            <a:off x="884176" y="2590800"/>
            <a:ext cx="5897624" cy="1323439"/>
          </a:xfrm>
          <a:prstGeom prst="rect">
            <a:avLst/>
          </a:prstGeom>
          <a:noFill/>
        </p:spPr>
        <p:txBody>
          <a:bodyPr wrap="square" rtlCol="1">
            <a:spAutoFit/>
          </a:bodyPr>
          <a:lstStyle/>
          <a:p>
            <a:pPr marL="285750" indent="-285750">
              <a:buFont typeface="Wingdings" panose="05000000000000000000" pitchFamily="2" charset="2"/>
              <a:buChar char="q"/>
            </a:pPr>
            <a:r>
              <a:rPr lang="en-US" sz="1600" dirty="0" smtClean="0"/>
              <a:t>What's the biggest mistake you've seen in a presentation? (e.g., too much text, bad colors, unreadable font)</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Why is it important to have a consistent look (using a Slide Master) for all slides?</a:t>
            </a:r>
          </a:p>
        </p:txBody>
      </p:sp>
      <p:pic>
        <p:nvPicPr>
          <p:cNvPr id="11" name="object 4"/>
          <p:cNvPicPr/>
          <p:nvPr/>
        </p:nvPicPr>
        <p:blipFill>
          <a:blip r:embed="rId3" cstate="print"/>
          <a:stretch>
            <a:fillRect/>
          </a:stretch>
        </p:blipFill>
        <p:spPr>
          <a:xfrm>
            <a:off x="7315200" y="1899138"/>
            <a:ext cx="3814572" cy="3733800"/>
          </a:xfrm>
          <a:prstGeom prst="rect">
            <a:avLst/>
          </a:prstGeom>
        </p:spPr>
      </p:pic>
    </p:spTree>
    <p:extLst>
      <p:ext uri="{BB962C8B-B14F-4D97-AF65-F5344CB8AC3E}">
        <p14:creationId xmlns:p14="http://schemas.microsoft.com/office/powerpoint/2010/main" val="38080018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1718102"/>
            <a:ext cx="7467600" cy="3570926"/>
          </a:xfrm>
          <a:prstGeom prst="rect">
            <a:avLst/>
          </a:prstGeom>
        </p:spPr>
        <p:txBody>
          <a:bodyPr vert="horz" wrap="square" lIns="0" tIns="244551" rIns="0" bIns="0" rtlCol="0" anchor="ctr">
            <a:spAutoFit/>
          </a:bodyPr>
          <a:lstStyle/>
          <a:p>
            <a:pPr algn="ctr"/>
            <a:r>
              <a:rPr lang="en-US" sz="5400" dirty="0" smtClean="0"/>
              <a:t>Module </a:t>
            </a:r>
            <a:r>
              <a:rPr lang="en-US" sz="5400" dirty="0"/>
              <a:t>3: </a:t>
            </a:r>
            <a:r>
              <a:rPr lang="en-US" sz="5400" dirty="0" smtClean="0"/>
              <a:t/>
            </a:r>
            <a:br>
              <a:rPr lang="en-US" sz="5400" dirty="0" smtClean="0"/>
            </a:br>
            <a:r>
              <a:rPr lang="en-US" sz="5400" dirty="0"/>
              <a:t>Word for Professionals</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16</a:t>
            </a:fld>
            <a:endParaRPr spc="-25" dirty="0"/>
          </a:p>
        </p:txBody>
      </p:sp>
    </p:spTree>
    <p:extLst>
      <p:ext uri="{BB962C8B-B14F-4D97-AF65-F5344CB8AC3E}">
        <p14:creationId xmlns:p14="http://schemas.microsoft.com/office/powerpoint/2010/main" val="500857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17</a:t>
            </a:fld>
            <a:endParaRPr spc="-25" dirty="0"/>
          </a:p>
        </p:txBody>
      </p:sp>
      <p:sp>
        <p:nvSpPr>
          <p:cNvPr id="6" name="TextBox 5"/>
          <p:cNvSpPr txBox="1"/>
          <p:nvPr/>
        </p:nvSpPr>
        <p:spPr>
          <a:xfrm>
            <a:off x="990600" y="1447800"/>
            <a:ext cx="4467890" cy="369332"/>
          </a:xfrm>
          <a:prstGeom prst="rect">
            <a:avLst/>
          </a:prstGeom>
          <a:noFill/>
        </p:spPr>
        <p:txBody>
          <a:bodyPr wrap="none" rtlCol="1">
            <a:spAutoFit/>
          </a:bodyPr>
          <a:lstStyle/>
          <a:p>
            <a:r>
              <a:rPr lang="en-US" b="1" dirty="0" smtClean="0">
                <a:solidFill>
                  <a:srgbClr val="C00000"/>
                </a:solidFill>
              </a:rPr>
              <a:t>Using Styles for Consistent Formatting</a:t>
            </a:r>
            <a:endParaRPr lang="en-US" b="1" dirty="0">
              <a:solidFill>
                <a:srgbClr val="C00000"/>
              </a:solidFill>
            </a:endParaRPr>
          </a:p>
        </p:txBody>
      </p:sp>
      <p:sp>
        <p:nvSpPr>
          <p:cNvPr id="9" name="TextBox 8"/>
          <p:cNvSpPr txBox="1"/>
          <p:nvPr/>
        </p:nvSpPr>
        <p:spPr>
          <a:xfrm>
            <a:off x="1196588" y="2062877"/>
            <a:ext cx="7696200" cy="3416320"/>
          </a:xfrm>
          <a:prstGeom prst="rect">
            <a:avLst/>
          </a:prstGeom>
          <a:noFill/>
        </p:spPr>
        <p:txBody>
          <a:bodyPr wrap="square" rtlCol="1">
            <a:spAutoFit/>
          </a:bodyPr>
          <a:lstStyle/>
          <a:p>
            <a:r>
              <a:rPr lang="en-US" dirty="0" smtClean="0"/>
              <a:t>Stop manually changing font sizes and making things bold! Use the Styles pane on the Home tab.</a:t>
            </a:r>
          </a:p>
          <a:p>
            <a:endParaRPr lang="en-US" b="1" dirty="0" smtClean="0"/>
          </a:p>
          <a:p>
            <a:pPr marL="285750" indent="-285750">
              <a:buFont typeface="Wingdings" panose="05000000000000000000" pitchFamily="2" charset="2"/>
              <a:buChar char="q"/>
            </a:pPr>
            <a:r>
              <a:rPr lang="en-US" b="1" dirty="0" smtClean="0"/>
              <a:t>Normal: </a:t>
            </a:r>
            <a:r>
              <a:rPr lang="en-US" dirty="0" smtClean="0"/>
              <a:t>This is the default style for all your body paragraphs.</a:t>
            </a:r>
            <a:endParaRPr lang="ar-BH" dirty="0" smtClean="0"/>
          </a:p>
          <a:p>
            <a:pPr marL="285750" indent="-285750">
              <a:buFont typeface="Wingdings" panose="05000000000000000000" pitchFamily="2" charset="2"/>
              <a:buChar char="q"/>
            </a:pPr>
            <a:endParaRPr lang="en-US" b="1" dirty="0" smtClean="0"/>
          </a:p>
          <a:p>
            <a:pPr marL="285750" indent="-285750">
              <a:buFont typeface="Wingdings" panose="05000000000000000000" pitchFamily="2" charset="2"/>
              <a:buChar char="q"/>
            </a:pPr>
            <a:r>
              <a:rPr lang="en-US" b="1" dirty="0" smtClean="0"/>
              <a:t>Heading 1: </a:t>
            </a:r>
            <a:r>
              <a:rPr lang="en-US" dirty="0" smtClean="0"/>
              <a:t>Use this for your main document title.</a:t>
            </a:r>
          </a:p>
          <a:p>
            <a:pPr marL="285750" indent="-285750">
              <a:buFont typeface="Wingdings" panose="05000000000000000000" pitchFamily="2" charset="2"/>
              <a:buChar char="q"/>
            </a:pPr>
            <a:endParaRPr lang="en-US" b="1" dirty="0" smtClean="0"/>
          </a:p>
          <a:p>
            <a:pPr marL="285750" indent="-285750">
              <a:buFont typeface="Wingdings" panose="05000000000000000000" pitchFamily="2" charset="2"/>
              <a:buChar char="q"/>
            </a:pPr>
            <a:r>
              <a:rPr lang="en-US" b="1" dirty="0" smtClean="0"/>
              <a:t>Heading 2: </a:t>
            </a:r>
            <a:r>
              <a:rPr lang="en-US" dirty="0" smtClean="0"/>
              <a:t>Use this for your main section titles </a:t>
            </a:r>
            <a:br>
              <a:rPr lang="en-US" dirty="0" smtClean="0"/>
            </a:br>
            <a:r>
              <a:rPr lang="en-US" dirty="0" smtClean="0">
                <a:solidFill>
                  <a:schemeClr val="bg1">
                    <a:lumMod val="65000"/>
                  </a:schemeClr>
                </a:solidFill>
              </a:rPr>
              <a:t>(like "Module 3: Word for Professionals" in this document).</a:t>
            </a:r>
          </a:p>
          <a:p>
            <a:pPr marL="285750" indent="-285750">
              <a:buFont typeface="Wingdings" panose="05000000000000000000" pitchFamily="2" charset="2"/>
              <a:buChar char="q"/>
            </a:pPr>
            <a:endParaRPr lang="en-US" b="1" dirty="0" smtClean="0"/>
          </a:p>
          <a:p>
            <a:pPr marL="285750" indent="-285750">
              <a:buFont typeface="Wingdings" panose="05000000000000000000" pitchFamily="2" charset="2"/>
              <a:buChar char="q"/>
            </a:pPr>
            <a:r>
              <a:rPr lang="en-US" b="1" dirty="0" smtClean="0"/>
              <a:t>Heading 3: </a:t>
            </a:r>
            <a:r>
              <a:rPr lang="en-US" dirty="0" smtClean="0"/>
              <a:t>Use for sub-sections.</a:t>
            </a:r>
          </a:p>
          <a:p>
            <a:endParaRPr lang="en-US" b="1" dirty="0" smtClean="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7800" y="2646434"/>
            <a:ext cx="2823971" cy="282397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269064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18</a:t>
            </a:fld>
            <a:endParaRPr spc="-25" dirty="0"/>
          </a:p>
        </p:txBody>
      </p:sp>
      <p:sp>
        <p:nvSpPr>
          <p:cNvPr id="6" name="TextBox 5"/>
          <p:cNvSpPr txBox="1"/>
          <p:nvPr/>
        </p:nvSpPr>
        <p:spPr>
          <a:xfrm>
            <a:off x="990600" y="1447800"/>
            <a:ext cx="4467890" cy="369332"/>
          </a:xfrm>
          <a:prstGeom prst="rect">
            <a:avLst/>
          </a:prstGeom>
          <a:noFill/>
        </p:spPr>
        <p:txBody>
          <a:bodyPr wrap="none" rtlCol="1">
            <a:spAutoFit/>
          </a:bodyPr>
          <a:lstStyle/>
          <a:p>
            <a:r>
              <a:rPr lang="en-US" b="1" dirty="0" smtClean="0">
                <a:solidFill>
                  <a:srgbClr val="C00000"/>
                </a:solidFill>
              </a:rPr>
              <a:t>Using Styles for Consistent Formatting</a:t>
            </a:r>
            <a:endParaRPr lang="en-US" b="1" dirty="0">
              <a:solidFill>
                <a:srgbClr val="C00000"/>
              </a:solidFill>
            </a:endParaRPr>
          </a:p>
        </p:txBody>
      </p:sp>
      <p:sp>
        <p:nvSpPr>
          <p:cNvPr id="9" name="TextBox 8"/>
          <p:cNvSpPr txBox="1"/>
          <p:nvPr/>
        </p:nvSpPr>
        <p:spPr>
          <a:xfrm>
            <a:off x="1222965" y="2895600"/>
            <a:ext cx="5711235" cy="2308324"/>
          </a:xfrm>
          <a:prstGeom prst="rect">
            <a:avLst/>
          </a:prstGeom>
          <a:noFill/>
        </p:spPr>
        <p:txBody>
          <a:bodyPr wrap="square" rtlCol="1">
            <a:spAutoFit/>
          </a:bodyPr>
          <a:lstStyle/>
          <a:p>
            <a:r>
              <a:rPr lang="en-US" b="1" dirty="0" smtClean="0"/>
              <a:t>Why use styles? </a:t>
            </a:r>
          </a:p>
          <a:p>
            <a:endParaRPr lang="en-US" dirty="0" smtClean="0"/>
          </a:p>
          <a:p>
            <a:r>
              <a:rPr lang="en-US" dirty="0" smtClean="0"/>
              <a:t>If you decide you want all "Heading 2" titles to be blue, you just modify the style once, and every "Heading 2" in your entire document updates automatically. It also lets Word build an automatic Table of Contents for you.</a:t>
            </a:r>
          </a:p>
          <a:p>
            <a:endParaRPr lang="en-US" b="1" dirty="0" smtClean="0"/>
          </a:p>
        </p:txBody>
      </p:sp>
      <p:pic>
        <p:nvPicPr>
          <p:cNvPr id="4" name="Picture 3"/>
          <p:cNvPicPr>
            <a:picLocks noChangeAspect="1"/>
          </p:cNvPicPr>
          <p:nvPr/>
        </p:nvPicPr>
        <p:blipFill>
          <a:blip r:embed="rId3"/>
          <a:stretch>
            <a:fillRect/>
          </a:stretch>
        </p:blipFill>
        <p:spPr>
          <a:xfrm>
            <a:off x="7315200" y="3268494"/>
            <a:ext cx="5105400" cy="1303506"/>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Tree>
    <p:extLst>
      <p:ext uri="{BB962C8B-B14F-4D97-AF65-F5344CB8AC3E}">
        <p14:creationId xmlns:p14="http://schemas.microsoft.com/office/powerpoint/2010/main" val="33600888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19</a:t>
            </a:fld>
            <a:endParaRPr spc="-25" dirty="0"/>
          </a:p>
        </p:txBody>
      </p:sp>
      <p:sp>
        <p:nvSpPr>
          <p:cNvPr id="6" name="TextBox 5"/>
          <p:cNvSpPr txBox="1"/>
          <p:nvPr/>
        </p:nvSpPr>
        <p:spPr>
          <a:xfrm>
            <a:off x="990600" y="1447800"/>
            <a:ext cx="2236510" cy="369332"/>
          </a:xfrm>
          <a:prstGeom prst="rect">
            <a:avLst/>
          </a:prstGeom>
          <a:noFill/>
        </p:spPr>
        <p:txBody>
          <a:bodyPr wrap="none" rtlCol="1">
            <a:spAutoFit/>
          </a:bodyPr>
          <a:lstStyle/>
          <a:p>
            <a:r>
              <a:rPr lang="en-US" b="1" dirty="0" smtClean="0">
                <a:solidFill>
                  <a:srgbClr val="C00000"/>
                </a:solidFill>
              </a:rPr>
              <a:t>Headers &amp; Footers</a:t>
            </a:r>
            <a:endParaRPr lang="en-US" b="1" dirty="0">
              <a:solidFill>
                <a:srgbClr val="C00000"/>
              </a:solidFill>
            </a:endParaRPr>
          </a:p>
        </p:txBody>
      </p:sp>
      <p:sp>
        <p:nvSpPr>
          <p:cNvPr id="9" name="TextBox 8"/>
          <p:cNvSpPr txBox="1"/>
          <p:nvPr/>
        </p:nvSpPr>
        <p:spPr>
          <a:xfrm>
            <a:off x="1222965" y="3581400"/>
            <a:ext cx="8685966" cy="2585323"/>
          </a:xfrm>
          <a:prstGeom prst="rect">
            <a:avLst/>
          </a:prstGeom>
          <a:noFill/>
        </p:spPr>
        <p:txBody>
          <a:bodyPr wrap="square" rtlCol="1">
            <a:spAutoFit/>
          </a:bodyPr>
          <a:lstStyle/>
          <a:p>
            <a:r>
              <a:rPr lang="en-US" dirty="0" smtClean="0"/>
              <a:t>This is the area at the very top (header) and bottom (footer) of each page. </a:t>
            </a:r>
          </a:p>
          <a:p>
            <a:endParaRPr lang="en-US" dirty="0" smtClean="0"/>
          </a:p>
          <a:p>
            <a:r>
              <a:rPr lang="en-US" dirty="0" smtClean="0"/>
              <a:t>Go to Insert &gt; Header (or Footer).</a:t>
            </a:r>
          </a:p>
          <a:p>
            <a:endParaRPr lang="en-US" dirty="0" smtClean="0"/>
          </a:p>
          <a:p>
            <a:r>
              <a:rPr lang="en-US" dirty="0" smtClean="0"/>
              <a:t>Use this for information that should be on every page:</a:t>
            </a:r>
          </a:p>
          <a:p>
            <a:endParaRPr lang="en-US" dirty="0" smtClean="0"/>
          </a:p>
          <a:p>
            <a:pPr marL="285750" indent="-285750">
              <a:buFont typeface="Wingdings" panose="05000000000000000000" pitchFamily="2" charset="2"/>
              <a:buChar char="Ø"/>
            </a:pPr>
            <a:r>
              <a:rPr lang="en-US" dirty="0" smtClean="0"/>
              <a:t>Page Numbers</a:t>
            </a:r>
          </a:p>
          <a:p>
            <a:pPr marL="285750" indent="-285750">
              <a:buFont typeface="Wingdings" panose="05000000000000000000" pitchFamily="2" charset="2"/>
              <a:buChar char="Ø"/>
            </a:pPr>
            <a:r>
              <a:rPr lang="en-US" dirty="0" smtClean="0"/>
              <a:t>Document Title</a:t>
            </a:r>
          </a:p>
          <a:p>
            <a:pPr marL="285750" indent="-285750">
              <a:buFont typeface="Wingdings" panose="05000000000000000000" pitchFamily="2" charset="2"/>
              <a:buChar char="Ø"/>
            </a:pPr>
            <a:r>
              <a:rPr lang="en-US" dirty="0" smtClean="0"/>
              <a:t>"Confidential" stamp</a:t>
            </a:r>
          </a:p>
        </p:txBody>
      </p:sp>
      <p:pic>
        <p:nvPicPr>
          <p:cNvPr id="7" name="Picture 6"/>
          <p:cNvPicPr>
            <a:picLocks noChangeAspect="1"/>
          </p:cNvPicPr>
          <p:nvPr/>
        </p:nvPicPr>
        <p:blipFill>
          <a:blip r:embed="rId3"/>
          <a:stretch>
            <a:fillRect/>
          </a:stretch>
        </p:blipFill>
        <p:spPr>
          <a:xfrm>
            <a:off x="838200" y="1905787"/>
            <a:ext cx="10772775" cy="151447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3974319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20</a:t>
            </a:fld>
            <a:endParaRPr spc="-25" dirty="0"/>
          </a:p>
        </p:txBody>
      </p:sp>
      <p:sp>
        <p:nvSpPr>
          <p:cNvPr id="6" name="TextBox 5"/>
          <p:cNvSpPr txBox="1"/>
          <p:nvPr/>
        </p:nvSpPr>
        <p:spPr>
          <a:xfrm>
            <a:off x="990600" y="1447800"/>
            <a:ext cx="3762568" cy="369332"/>
          </a:xfrm>
          <a:prstGeom prst="rect">
            <a:avLst/>
          </a:prstGeom>
          <a:noFill/>
        </p:spPr>
        <p:txBody>
          <a:bodyPr wrap="none" rtlCol="1">
            <a:spAutoFit/>
          </a:bodyPr>
          <a:lstStyle/>
          <a:p>
            <a:r>
              <a:rPr lang="en-US" b="1" dirty="0" smtClean="0">
                <a:solidFill>
                  <a:srgbClr val="C00000"/>
                </a:solidFill>
              </a:rPr>
              <a:t>Track Changes for Collaboration</a:t>
            </a:r>
            <a:endParaRPr lang="en-US" b="1" dirty="0">
              <a:solidFill>
                <a:srgbClr val="C00000"/>
              </a:solidFill>
            </a:endParaRPr>
          </a:p>
        </p:txBody>
      </p:sp>
      <p:sp>
        <p:nvSpPr>
          <p:cNvPr id="9" name="TextBox 8"/>
          <p:cNvSpPr txBox="1"/>
          <p:nvPr/>
        </p:nvSpPr>
        <p:spPr>
          <a:xfrm>
            <a:off x="838200" y="3276600"/>
            <a:ext cx="10901171" cy="3139321"/>
          </a:xfrm>
          <a:prstGeom prst="rect">
            <a:avLst/>
          </a:prstGeom>
          <a:noFill/>
        </p:spPr>
        <p:txBody>
          <a:bodyPr wrap="square" rtlCol="1">
            <a:spAutoFit/>
          </a:bodyPr>
          <a:lstStyle/>
          <a:p>
            <a:r>
              <a:rPr lang="en-US" dirty="0" smtClean="0"/>
              <a:t>When you need to edit someone else's document or have someone review yours, use Track Changes.</a:t>
            </a:r>
            <a:endParaRPr lang="ar-BH" dirty="0" smtClean="0"/>
          </a:p>
          <a:p>
            <a:endParaRPr lang="en-US" dirty="0" smtClean="0"/>
          </a:p>
          <a:p>
            <a:pPr marL="342900" indent="-342900">
              <a:buFont typeface="+mj-lt"/>
              <a:buAutoNum type="arabicParenR"/>
            </a:pPr>
            <a:r>
              <a:rPr lang="en-US" dirty="0" smtClean="0"/>
              <a:t>Go to the </a:t>
            </a:r>
            <a:r>
              <a:rPr lang="en-US" u="sng" dirty="0" smtClean="0"/>
              <a:t>Review</a:t>
            </a:r>
            <a:r>
              <a:rPr lang="en-US" dirty="0" smtClean="0"/>
              <a:t> tab and click </a:t>
            </a:r>
            <a:r>
              <a:rPr lang="en-US" u="sng" dirty="0" smtClean="0"/>
              <a:t>Track Changes</a:t>
            </a:r>
            <a:r>
              <a:rPr lang="en-US" dirty="0" smtClean="0"/>
              <a:t>.</a:t>
            </a:r>
          </a:p>
          <a:p>
            <a:pPr marL="342900" indent="-342900">
              <a:buFont typeface="+mj-lt"/>
              <a:buAutoNum type="arabicParenR"/>
            </a:pPr>
            <a:endParaRPr lang="en-US" dirty="0" smtClean="0"/>
          </a:p>
          <a:p>
            <a:pPr marL="342900" indent="-342900">
              <a:buFont typeface="+mj-lt"/>
              <a:buAutoNum type="arabicParenR"/>
            </a:pPr>
            <a:r>
              <a:rPr lang="en-US" dirty="0" smtClean="0"/>
              <a:t>Now, any change you make (deleting text, adding text, formatting) will be recorded as a "suggestion" in a different color.</a:t>
            </a:r>
          </a:p>
          <a:p>
            <a:pPr marL="342900" indent="-342900">
              <a:buFont typeface="+mj-lt"/>
              <a:buAutoNum type="arabicParenR"/>
            </a:pPr>
            <a:endParaRPr lang="en-US" dirty="0" smtClean="0"/>
          </a:p>
          <a:p>
            <a:pPr marL="342900" indent="-342900">
              <a:buFont typeface="+mj-lt"/>
              <a:buAutoNum type="arabicParenR"/>
            </a:pPr>
            <a:r>
              <a:rPr lang="en-US" dirty="0" smtClean="0"/>
              <a:t>The original author can then review your changes and </a:t>
            </a:r>
            <a:r>
              <a:rPr lang="en-US" u="sng" dirty="0" smtClean="0"/>
              <a:t>Accept</a:t>
            </a:r>
            <a:r>
              <a:rPr lang="en-US" dirty="0" smtClean="0"/>
              <a:t> or </a:t>
            </a:r>
            <a:r>
              <a:rPr lang="en-US" u="sng" dirty="0" smtClean="0"/>
              <a:t>Reject</a:t>
            </a:r>
            <a:r>
              <a:rPr lang="en-US" dirty="0" smtClean="0"/>
              <a:t> each one.</a:t>
            </a:r>
          </a:p>
          <a:p>
            <a:pPr marL="342900" indent="-342900">
              <a:buFont typeface="+mj-lt"/>
              <a:buAutoNum type="arabicParenR"/>
            </a:pPr>
            <a:endParaRPr lang="en-US" dirty="0" smtClean="0"/>
          </a:p>
          <a:p>
            <a:r>
              <a:rPr lang="en-US" dirty="0" smtClean="0"/>
              <a:t>This is essential for professional collaboration. Never just start deleting and re-writing someone's work without it.</a:t>
            </a:r>
          </a:p>
        </p:txBody>
      </p:sp>
      <p:pic>
        <p:nvPicPr>
          <p:cNvPr id="4" name="Picture 3"/>
          <p:cNvPicPr>
            <a:picLocks noChangeAspect="1"/>
          </p:cNvPicPr>
          <p:nvPr/>
        </p:nvPicPr>
        <p:blipFill>
          <a:blip r:embed="rId3"/>
          <a:stretch>
            <a:fillRect/>
          </a:stretch>
        </p:blipFill>
        <p:spPr>
          <a:xfrm>
            <a:off x="5743575" y="1482969"/>
            <a:ext cx="4972050" cy="149542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8040920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21</a:t>
            </a:fld>
            <a:endParaRPr spc="-25" dirty="0"/>
          </a:p>
        </p:txBody>
      </p:sp>
      <p:sp>
        <p:nvSpPr>
          <p:cNvPr id="6" name="TextBox 5"/>
          <p:cNvSpPr txBox="1"/>
          <p:nvPr/>
        </p:nvSpPr>
        <p:spPr>
          <a:xfrm>
            <a:off x="762000" y="1905000"/>
            <a:ext cx="2069797" cy="369332"/>
          </a:xfrm>
          <a:prstGeom prst="rect">
            <a:avLst/>
          </a:prstGeom>
          <a:noFill/>
        </p:spPr>
        <p:txBody>
          <a:bodyPr wrap="none" rtlCol="1">
            <a:spAutoFit/>
          </a:bodyPr>
          <a:lstStyle/>
          <a:p>
            <a:r>
              <a:rPr lang="en-US" b="1" dirty="0" smtClean="0">
                <a:solidFill>
                  <a:srgbClr val="C00000"/>
                </a:solidFill>
              </a:rPr>
              <a:t>Open Discussion</a:t>
            </a:r>
            <a:endParaRPr lang="ar-EG" dirty="0"/>
          </a:p>
        </p:txBody>
      </p:sp>
      <p:sp>
        <p:nvSpPr>
          <p:cNvPr id="7" name="TextBox 6"/>
          <p:cNvSpPr txBox="1"/>
          <p:nvPr/>
        </p:nvSpPr>
        <p:spPr>
          <a:xfrm>
            <a:off x="884176" y="2590800"/>
            <a:ext cx="5897624" cy="1569660"/>
          </a:xfrm>
          <a:prstGeom prst="rect">
            <a:avLst/>
          </a:prstGeom>
          <a:noFill/>
        </p:spPr>
        <p:txBody>
          <a:bodyPr wrap="square" rtlCol="1">
            <a:spAutoFit/>
          </a:bodyPr>
          <a:lstStyle/>
          <a:p>
            <a:pPr marL="285750" indent="-285750">
              <a:buFont typeface="Wingdings" panose="05000000000000000000" pitchFamily="2" charset="2"/>
              <a:buChar char="q"/>
            </a:pPr>
            <a:r>
              <a:rPr lang="en-US" sz="1600" dirty="0" smtClean="0"/>
              <a:t>Why is using "Styles" better than just making text bold or larger by hand?</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Have you ever been in a situation where "Track Changes" would have been useful?</a:t>
            </a:r>
          </a:p>
        </p:txBody>
      </p:sp>
      <p:pic>
        <p:nvPicPr>
          <p:cNvPr id="11" name="object 4"/>
          <p:cNvPicPr/>
          <p:nvPr/>
        </p:nvPicPr>
        <p:blipFill>
          <a:blip r:embed="rId3" cstate="print"/>
          <a:stretch>
            <a:fillRect/>
          </a:stretch>
        </p:blipFill>
        <p:spPr>
          <a:xfrm>
            <a:off x="7315200" y="1899138"/>
            <a:ext cx="3814572" cy="3733800"/>
          </a:xfrm>
          <a:prstGeom prst="rect">
            <a:avLst/>
          </a:prstGeom>
        </p:spPr>
      </p:pic>
    </p:spTree>
    <p:extLst>
      <p:ext uri="{BB962C8B-B14F-4D97-AF65-F5344CB8AC3E}">
        <p14:creationId xmlns:p14="http://schemas.microsoft.com/office/powerpoint/2010/main" val="13171575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1718102"/>
            <a:ext cx="7467600" cy="3570926"/>
          </a:xfrm>
          <a:prstGeom prst="rect">
            <a:avLst/>
          </a:prstGeom>
        </p:spPr>
        <p:txBody>
          <a:bodyPr vert="horz" wrap="square" lIns="0" tIns="244551" rIns="0" bIns="0" rtlCol="0" anchor="ctr">
            <a:spAutoFit/>
          </a:bodyPr>
          <a:lstStyle/>
          <a:p>
            <a:pPr algn="ctr"/>
            <a:r>
              <a:rPr lang="en-US" sz="5400" dirty="0" smtClean="0"/>
              <a:t>Module 4: </a:t>
            </a:r>
            <a:br>
              <a:rPr lang="en-US" sz="5400" dirty="0" smtClean="0"/>
            </a:br>
            <a:r>
              <a:rPr lang="en-US" sz="5400" dirty="0"/>
              <a:t>Time Management &amp; Productivity</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22</a:t>
            </a:fld>
            <a:endParaRPr spc="-25" dirty="0"/>
          </a:p>
        </p:txBody>
      </p:sp>
    </p:spTree>
    <p:extLst>
      <p:ext uri="{BB962C8B-B14F-4D97-AF65-F5344CB8AC3E}">
        <p14:creationId xmlns:p14="http://schemas.microsoft.com/office/powerpoint/2010/main" val="28426479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7543800" cy="616271"/>
          </a:xfrm>
          <a:prstGeom prst="rect">
            <a:avLst/>
          </a:prstGeom>
        </p:spPr>
        <p:txBody>
          <a:bodyPr vert="horz" wrap="square" lIns="0" tIns="244551" rIns="0" bIns="0" rtlCol="0">
            <a:spAutoFit/>
          </a:bodyPr>
          <a:lstStyle/>
          <a:p>
            <a:r>
              <a:rPr lang="en-US" sz="2400" dirty="0"/>
              <a:t>Module </a:t>
            </a:r>
            <a:r>
              <a:rPr lang="en-US" sz="2400" dirty="0" smtClean="0"/>
              <a:t>4</a:t>
            </a:r>
            <a:r>
              <a:rPr lang="en-US" sz="2400" dirty="0"/>
              <a:t>: Time Management &amp; Productivity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23</a:t>
            </a:fld>
            <a:endParaRPr spc="-25" dirty="0"/>
          </a:p>
        </p:txBody>
      </p:sp>
      <p:sp>
        <p:nvSpPr>
          <p:cNvPr id="6" name="TextBox 5"/>
          <p:cNvSpPr txBox="1"/>
          <p:nvPr/>
        </p:nvSpPr>
        <p:spPr>
          <a:xfrm>
            <a:off x="990600" y="1447800"/>
            <a:ext cx="4249881" cy="369332"/>
          </a:xfrm>
          <a:prstGeom prst="rect">
            <a:avLst/>
          </a:prstGeom>
          <a:noFill/>
        </p:spPr>
        <p:txBody>
          <a:bodyPr wrap="none" rtlCol="1">
            <a:spAutoFit/>
          </a:bodyPr>
          <a:lstStyle/>
          <a:p>
            <a:r>
              <a:rPr lang="en-US" b="1" dirty="0" smtClean="0">
                <a:solidFill>
                  <a:srgbClr val="C00000"/>
                </a:solidFill>
              </a:rPr>
              <a:t>Prioritization: The Eisenhower Matrix</a:t>
            </a:r>
            <a:endParaRPr lang="en-US" b="1" dirty="0">
              <a:solidFill>
                <a:srgbClr val="C00000"/>
              </a:solidFill>
            </a:endParaRPr>
          </a:p>
        </p:txBody>
      </p:sp>
      <p:sp>
        <p:nvSpPr>
          <p:cNvPr id="11" name="Rectangle 5"/>
          <p:cNvSpPr>
            <a:spLocks noChangeArrowheads="1"/>
          </p:cNvSpPr>
          <p:nvPr/>
        </p:nvSpPr>
        <p:spPr bwMode="auto">
          <a:xfrm>
            <a:off x="1064703" y="2971800"/>
            <a:ext cx="415499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smtClean="0"/>
              <a:t>You can't do everything at once. </a:t>
            </a:r>
          </a:p>
          <a:p>
            <a:r>
              <a:rPr lang="en-US" sz="1600" dirty="0" smtClean="0"/>
              <a:t>You must prioritize. </a:t>
            </a:r>
          </a:p>
          <a:p>
            <a:r>
              <a:rPr lang="en-US" sz="1600" dirty="0" smtClean="0"/>
              <a:t>A simple method is the </a:t>
            </a:r>
            <a:r>
              <a:rPr lang="en-US" sz="1600" b="1" dirty="0" smtClean="0"/>
              <a:t>Eisenhower Matrix</a:t>
            </a:r>
            <a:r>
              <a:rPr lang="en-US" sz="1600" dirty="0" smtClean="0"/>
              <a:t>, which divides tasks into four categories:</a:t>
            </a:r>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1776724"/>
            <a:ext cx="5040868" cy="5040868"/>
          </a:xfrm>
          <a:prstGeom prst="rect">
            <a:avLst/>
          </a:prstGeom>
        </p:spPr>
      </p:pic>
    </p:spTree>
    <p:extLst>
      <p:ext uri="{BB962C8B-B14F-4D97-AF65-F5344CB8AC3E}">
        <p14:creationId xmlns:p14="http://schemas.microsoft.com/office/powerpoint/2010/main" val="12035463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7543800" cy="616271"/>
          </a:xfrm>
          <a:prstGeom prst="rect">
            <a:avLst/>
          </a:prstGeom>
        </p:spPr>
        <p:txBody>
          <a:bodyPr vert="horz" wrap="square" lIns="0" tIns="244551" rIns="0" bIns="0" rtlCol="0">
            <a:spAutoFit/>
          </a:bodyPr>
          <a:lstStyle/>
          <a:p>
            <a:r>
              <a:rPr lang="en-US" sz="2400" dirty="0"/>
              <a:t>Module </a:t>
            </a:r>
            <a:r>
              <a:rPr lang="en-US" sz="2400" dirty="0" smtClean="0"/>
              <a:t>4</a:t>
            </a:r>
            <a:r>
              <a:rPr lang="en-US" sz="2400" dirty="0"/>
              <a:t>: Time Management &amp; Productivity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24</a:t>
            </a:fld>
            <a:endParaRPr spc="-25" dirty="0"/>
          </a:p>
        </p:txBody>
      </p:sp>
      <p:sp>
        <p:nvSpPr>
          <p:cNvPr id="6" name="TextBox 5"/>
          <p:cNvSpPr txBox="1"/>
          <p:nvPr/>
        </p:nvSpPr>
        <p:spPr>
          <a:xfrm>
            <a:off x="990600" y="1447800"/>
            <a:ext cx="4249881" cy="369332"/>
          </a:xfrm>
          <a:prstGeom prst="rect">
            <a:avLst/>
          </a:prstGeom>
          <a:noFill/>
        </p:spPr>
        <p:txBody>
          <a:bodyPr wrap="none" rtlCol="1">
            <a:spAutoFit/>
          </a:bodyPr>
          <a:lstStyle/>
          <a:p>
            <a:r>
              <a:rPr lang="en-US" b="1" dirty="0" smtClean="0">
                <a:solidFill>
                  <a:srgbClr val="C00000"/>
                </a:solidFill>
              </a:rPr>
              <a:t>Prioritization: The Eisenhower Matrix</a:t>
            </a:r>
            <a:endParaRPr lang="en-US" b="1" dirty="0">
              <a:solidFill>
                <a:srgbClr val="C00000"/>
              </a:solidFill>
            </a:endParaRPr>
          </a:p>
        </p:txBody>
      </p:sp>
      <p:sp>
        <p:nvSpPr>
          <p:cNvPr id="11" name="Rectangle 5"/>
          <p:cNvSpPr>
            <a:spLocks noChangeArrowheads="1"/>
          </p:cNvSpPr>
          <p:nvPr/>
        </p:nvSpPr>
        <p:spPr bwMode="auto">
          <a:xfrm>
            <a:off x="1102803" y="2133600"/>
            <a:ext cx="534319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smtClean="0">
                <a:solidFill>
                  <a:srgbClr val="0070C0"/>
                </a:solidFill>
              </a:rPr>
              <a:t>Quadrant 1: Urgent &amp; Important (DO): </a:t>
            </a:r>
            <a:br>
              <a:rPr lang="en-US" sz="1600" b="1" dirty="0" smtClean="0">
                <a:solidFill>
                  <a:srgbClr val="0070C0"/>
                </a:solidFill>
              </a:rPr>
            </a:br>
            <a:r>
              <a:rPr lang="en-US" sz="1600" dirty="0" smtClean="0"/>
              <a:t>Crises, deadlines, immediate problems. Do these first.</a:t>
            </a:r>
          </a:p>
          <a:p>
            <a:endParaRPr lang="en-US" sz="1600" dirty="0" smtClean="0"/>
          </a:p>
          <a:p>
            <a:r>
              <a:rPr lang="en-US" sz="1600" b="1" dirty="0" smtClean="0">
                <a:solidFill>
                  <a:srgbClr val="0070C0"/>
                </a:solidFill>
              </a:rPr>
              <a:t>Quadrant 2: Not Urgent &amp; Important (SCHEDULE): </a:t>
            </a:r>
            <a:br>
              <a:rPr lang="en-US" sz="1600" b="1" dirty="0" smtClean="0">
                <a:solidFill>
                  <a:srgbClr val="0070C0"/>
                </a:solidFill>
              </a:rPr>
            </a:br>
            <a:r>
              <a:rPr lang="en-US" sz="1600" dirty="0" smtClean="0"/>
              <a:t>Long-term planning, relationship building, professional development. This is where you should spend most of your time. Schedule it on your calendar.</a:t>
            </a:r>
            <a:endParaRPr lang="ar-BH" sz="1600" dirty="0" smtClean="0"/>
          </a:p>
          <a:p>
            <a:endParaRPr lang="en-US" sz="1600" dirty="0" smtClean="0"/>
          </a:p>
          <a:p>
            <a:r>
              <a:rPr lang="en-US" sz="1600" b="1" dirty="0" smtClean="0">
                <a:solidFill>
                  <a:srgbClr val="0070C0"/>
                </a:solidFill>
              </a:rPr>
              <a:t>Quadrant 3: Urgent &amp; Not Important (DELEGATE): </a:t>
            </a:r>
            <a:r>
              <a:rPr lang="en-US" sz="1600" b="1" dirty="0" smtClean="0"/>
              <a:t/>
            </a:r>
            <a:br>
              <a:rPr lang="en-US" sz="1600" b="1" dirty="0" smtClean="0"/>
            </a:br>
            <a:r>
              <a:rPr lang="en-US" sz="1600" dirty="0" smtClean="0"/>
              <a:t>Interruptions, some emails, certain meetings. These feel urgent but don't help you reach your goals. Can you delegate or politely decline?</a:t>
            </a:r>
            <a:endParaRPr lang="ar-BH" sz="1600" dirty="0" smtClean="0"/>
          </a:p>
          <a:p>
            <a:endParaRPr lang="en-US" sz="1600" dirty="0" smtClean="0"/>
          </a:p>
          <a:p>
            <a:r>
              <a:rPr lang="en-US" sz="1600" b="1" dirty="0" smtClean="0">
                <a:solidFill>
                  <a:srgbClr val="0070C0"/>
                </a:solidFill>
              </a:rPr>
              <a:t>Quadrant 4: Not Urgent &amp; Not Important (DELETE): </a:t>
            </a:r>
            <a:r>
              <a:rPr lang="en-US" sz="1600" b="1" dirty="0" smtClean="0"/>
              <a:t/>
            </a:r>
            <a:br>
              <a:rPr lang="en-US" sz="1600" b="1" dirty="0" smtClean="0"/>
            </a:br>
            <a:r>
              <a:rPr lang="en-US" sz="1600" dirty="0" smtClean="0"/>
              <a:t>Trivial tasks, time-wasters. Avoid or delete these.</a:t>
            </a:r>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1776724"/>
            <a:ext cx="5040868" cy="5040868"/>
          </a:xfrm>
          <a:prstGeom prst="rect">
            <a:avLst/>
          </a:prstGeom>
        </p:spPr>
      </p:pic>
    </p:spTree>
    <p:extLst>
      <p:ext uri="{BB962C8B-B14F-4D97-AF65-F5344CB8AC3E}">
        <p14:creationId xmlns:p14="http://schemas.microsoft.com/office/powerpoint/2010/main" val="39446498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7543800" cy="616271"/>
          </a:xfrm>
          <a:prstGeom prst="rect">
            <a:avLst/>
          </a:prstGeom>
        </p:spPr>
        <p:txBody>
          <a:bodyPr vert="horz" wrap="square" lIns="0" tIns="244551" rIns="0" bIns="0" rtlCol="0">
            <a:spAutoFit/>
          </a:bodyPr>
          <a:lstStyle/>
          <a:p>
            <a:r>
              <a:rPr lang="en-US" sz="2400" dirty="0"/>
              <a:t>Module </a:t>
            </a:r>
            <a:r>
              <a:rPr lang="en-US" sz="2400" dirty="0" smtClean="0"/>
              <a:t>4</a:t>
            </a:r>
            <a:r>
              <a:rPr lang="en-US" sz="2400" dirty="0"/>
              <a:t>: Time Management &amp; Productivity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25</a:t>
            </a:fld>
            <a:endParaRPr spc="-25" dirty="0"/>
          </a:p>
        </p:txBody>
      </p:sp>
      <p:sp>
        <p:nvSpPr>
          <p:cNvPr id="6" name="TextBox 5"/>
          <p:cNvSpPr txBox="1"/>
          <p:nvPr/>
        </p:nvSpPr>
        <p:spPr>
          <a:xfrm>
            <a:off x="990600" y="1447800"/>
            <a:ext cx="2236510" cy="369332"/>
          </a:xfrm>
          <a:prstGeom prst="rect">
            <a:avLst/>
          </a:prstGeom>
          <a:noFill/>
        </p:spPr>
        <p:txBody>
          <a:bodyPr wrap="none" rtlCol="1">
            <a:spAutoFit/>
          </a:bodyPr>
          <a:lstStyle/>
          <a:p>
            <a:r>
              <a:rPr lang="en-US" b="1" dirty="0" smtClean="0">
                <a:solidFill>
                  <a:srgbClr val="C00000"/>
                </a:solidFill>
              </a:rPr>
              <a:t>Planning Your Day</a:t>
            </a:r>
            <a:endParaRPr lang="en-US" b="1" dirty="0">
              <a:solidFill>
                <a:srgbClr val="C00000"/>
              </a:solidFill>
            </a:endParaRPr>
          </a:p>
        </p:txBody>
      </p:sp>
      <p:sp>
        <p:nvSpPr>
          <p:cNvPr id="11" name="Rectangle 5"/>
          <p:cNvSpPr>
            <a:spLocks noChangeArrowheads="1"/>
          </p:cNvSpPr>
          <p:nvPr/>
        </p:nvSpPr>
        <p:spPr bwMode="auto">
          <a:xfrm>
            <a:off x="1102803" y="2133601"/>
            <a:ext cx="534319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smtClean="0">
                <a:solidFill>
                  <a:schemeClr val="tx1"/>
                </a:solidFill>
              </a:rPr>
              <a:t>Don't just react to emails. Start your day with a plan.</a:t>
            </a:r>
          </a:p>
          <a:p>
            <a:endParaRPr lang="en-US" sz="1600" b="1" dirty="0">
              <a:solidFill>
                <a:srgbClr val="0070C0"/>
              </a:solidFill>
            </a:endParaRPr>
          </a:p>
          <a:p>
            <a:pPr marL="285750" indent="-285750">
              <a:buFont typeface="Wingdings" panose="05000000000000000000" pitchFamily="2" charset="2"/>
              <a:buChar char="q"/>
            </a:pPr>
            <a:r>
              <a:rPr lang="en-US" sz="1600" b="1" dirty="0" smtClean="0">
                <a:solidFill>
                  <a:srgbClr val="0070C0"/>
                </a:solidFill>
              </a:rPr>
              <a:t>Make a To-Do List: </a:t>
            </a:r>
            <a:r>
              <a:rPr lang="en-US" sz="1600" dirty="0" smtClean="0">
                <a:solidFill>
                  <a:schemeClr val="tx1"/>
                </a:solidFill>
              </a:rPr>
              <a:t>At the end of each day (or first thing in the morning), write down the 3-5 most important things you need to accomplish.</a:t>
            </a:r>
          </a:p>
          <a:p>
            <a:endParaRPr lang="en-US" sz="1600" b="1" dirty="0">
              <a:solidFill>
                <a:srgbClr val="0070C0"/>
              </a:solidFill>
            </a:endParaRPr>
          </a:p>
          <a:p>
            <a:pPr marL="285750" indent="-285750">
              <a:buFont typeface="Wingdings" panose="05000000000000000000" pitchFamily="2" charset="2"/>
              <a:buChar char="q"/>
            </a:pPr>
            <a:r>
              <a:rPr lang="en-US" sz="1600" b="1" dirty="0" smtClean="0">
                <a:solidFill>
                  <a:srgbClr val="0070C0"/>
                </a:solidFill>
              </a:rPr>
              <a:t>Time Blocking: </a:t>
            </a:r>
            <a:r>
              <a:rPr lang="en-US" sz="1600" dirty="0" smtClean="0">
                <a:solidFill>
                  <a:schemeClr val="tx1"/>
                </a:solidFill>
              </a:rPr>
              <a:t>Open your Outlook Calendar and block off time for your important tasks (from Quadrant 2).</a:t>
            </a:r>
          </a:p>
          <a:p>
            <a:pPr marL="285750" indent="-285750">
              <a:buFont typeface="Wingdings" panose="05000000000000000000" pitchFamily="2" charset="2"/>
              <a:buChar char="Ø"/>
            </a:pPr>
            <a:r>
              <a:rPr lang="en-US" sz="1600" b="1" dirty="0" smtClean="0">
                <a:solidFill>
                  <a:schemeClr val="bg1">
                    <a:lumMod val="65000"/>
                  </a:schemeClr>
                </a:solidFill>
              </a:rPr>
              <a:t>9:00 - 10:00</a:t>
            </a:r>
            <a:r>
              <a:rPr lang="en-US" sz="1600" dirty="0" smtClean="0">
                <a:solidFill>
                  <a:schemeClr val="bg1">
                    <a:lumMod val="65000"/>
                  </a:schemeClr>
                </a:solidFill>
              </a:rPr>
              <a:t>: Review and respond to urgent emails.</a:t>
            </a:r>
          </a:p>
          <a:p>
            <a:pPr marL="285750" lvl="2" indent="-285750">
              <a:buFont typeface="Wingdings" panose="05000000000000000000" pitchFamily="2" charset="2"/>
              <a:buChar char="Ø"/>
            </a:pPr>
            <a:r>
              <a:rPr lang="en-US" sz="1600" b="1" dirty="0" smtClean="0">
                <a:solidFill>
                  <a:schemeClr val="bg1">
                    <a:lumMod val="65000"/>
                  </a:schemeClr>
                </a:solidFill>
              </a:rPr>
              <a:t>10:00 - 11:30</a:t>
            </a:r>
            <a:r>
              <a:rPr lang="en-US" sz="1600" dirty="0" smtClean="0">
                <a:solidFill>
                  <a:schemeClr val="bg1">
                    <a:lumMod val="65000"/>
                  </a:schemeClr>
                </a:solidFill>
              </a:rPr>
              <a:t>: "Focus Time: Draft Project X Report“</a:t>
            </a:r>
          </a:p>
          <a:p>
            <a:pPr marL="285750" lvl="2" indent="-285750">
              <a:buFont typeface="Wingdings" panose="05000000000000000000" pitchFamily="2" charset="2"/>
              <a:buChar char="Ø"/>
            </a:pPr>
            <a:r>
              <a:rPr lang="en-US" sz="1600" b="1" dirty="0" smtClean="0">
                <a:solidFill>
                  <a:schemeClr val="bg1">
                    <a:lumMod val="65000"/>
                  </a:schemeClr>
                </a:solidFill>
              </a:rPr>
              <a:t>11:30 - 12:00</a:t>
            </a:r>
            <a:r>
              <a:rPr lang="en-US" sz="1600" dirty="0" smtClean="0">
                <a:solidFill>
                  <a:schemeClr val="bg1">
                    <a:lumMod val="65000"/>
                  </a:schemeClr>
                </a:solidFill>
              </a:rPr>
              <a:t>: Check emails again.</a:t>
            </a:r>
          </a:p>
          <a:p>
            <a:endParaRPr lang="en-US" sz="1600" b="1" dirty="0">
              <a:solidFill>
                <a:srgbClr val="0070C0"/>
              </a:solidFill>
            </a:endParaRPr>
          </a:p>
          <a:p>
            <a:pPr marL="285750" indent="-285750">
              <a:buFont typeface="Wingdings" panose="05000000000000000000" pitchFamily="2" charset="2"/>
              <a:buChar char="q"/>
            </a:pPr>
            <a:r>
              <a:rPr lang="en-US" sz="1600" b="1" dirty="0" smtClean="0">
                <a:solidFill>
                  <a:srgbClr val="0070C0"/>
                </a:solidFill>
              </a:rPr>
              <a:t>Protect Your Focus: </a:t>
            </a:r>
            <a:r>
              <a:rPr lang="en-US" sz="1600" dirty="0" smtClean="0">
                <a:solidFill>
                  <a:schemeClr val="tx1"/>
                </a:solidFill>
              </a:rPr>
              <a:t>Turn off email and chat notifications during your "Focus Time" blocks.</a:t>
            </a:r>
            <a:endParaRPr lang="en-US" sz="16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7574" y="1439008"/>
            <a:ext cx="6013218" cy="50408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7226155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16271"/>
          </a:xfrm>
          <a:prstGeom prst="rect">
            <a:avLst/>
          </a:prstGeom>
        </p:spPr>
        <p:txBody>
          <a:bodyPr vert="horz" wrap="square" lIns="0" tIns="244551" rIns="0" bIns="0" rtlCol="0">
            <a:spAutoFit/>
          </a:bodyPr>
          <a:lstStyle/>
          <a:p>
            <a:r>
              <a:rPr lang="en-US" sz="2400" dirty="0"/>
              <a:t>Module 4: Time Management &amp; Productivity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26</a:t>
            </a:fld>
            <a:endParaRPr spc="-25" dirty="0"/>
          </a:p>
        </p:txBody>
      </p:sp>
      <p:sp>
        <p:nvSpPr>
          <p:cNvPr id="6" name="TextBox 5"/>
          <p:cNvSpPr txBox="1"/>
          <p:nvPr/>
        </p:nvSpPr>
        <p:spPr>
          <a:xfrm>
            <a:off x="762000" y="1905000"/>
            <a:ext cx="2069797" cy="369332"/>
          </a:xfrm>
          <a:prstGeom prst="rect">
            <a:avLst/>
          </a:prstGeom>
          <a:noFill/>
        </p:spPr>
        <p:txBody>
          <a:bodyPr wrap="none" rtlCol="1">
            <a:spAutoFit/>
          </a:bodyPr>
          <a:lstStyle/>
          <a:p>
            <a:r>
              <a:rPr lang="en-US" b="1" dirty="0" smtClean="0">
                <a:solidFill>
                  <a:srgbClr val="C00000"/>
                </a:solidFill>
              </a:rPr>
              <a:t>Open Discussion</a:t>
            </a:r>
            <a:endParaRPr lang="ar-EG" dirty="0"/>
          </a:p>
        </p:txBody>
      </p:sp>
      <p:sp>
        <p:nvSpPr>
          <p:cNvPr id="7" name="TextBox 6"/>
          <p:cNvSpPr txBox="1"/>
          <p:nvPr/>
        </p:nvSpPr>
        <p:spPr>
          <a:xfrm>
            <a:off x="884176" y="2590800"/>
            <a:ext cx="5897624" cy="1323439"/>
          </a:xfrm>
          <a:prstGeom prst="rect">
            <a:avLst/>
          </a:prstGeom>
          <a:noFill/>
        </p:spPr>
        <p:txBody>
          <a:bodyPr wrap="square" rtlCol="1">
            <a:spAutoFit/>
          </a:bodyPr>
          <a:lstStyle/>
          <a:p>
            <a:pPr marL="285750" indent="-285750">
              <a:buFont typeface="Wingdings" panose="05000000000000000000" pitchFamily="2" charset="2"/>
              <a:buChar char="q"/>
            </a:pPr>
            <a:r>
              <a:rPr lang="en-US" sz="1600" dirty="0" smtClean="0"/>
              <a:t>Which of the four quadrants (Do, Schedule, Delegate, Delete) do you think is the hardest to manage? Why?</a:t>
            </a:r>
            <a:endParaRPr lang="en-US" sz="1600" dirty="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Why is it important to "schedule" time for your own important work, not just for meetings?</a:t>
            </a:r>
          </a:p>
        </p:txBody>
      </p:sp>
      <p:pic>
        <p:nvPicPr>
          <p:cNvPr id="11" name="object 4"/>
          <p:cNvPicPr/>
          <p:nvPr/>
        </p:nvPicPr>
        <p:blipFill>
          <a:blip r:embed="rId3" cstate="print"/>
          <a:stretch>
            <a:fillRect/>
          </a:stretch>
        </p:blipFill>
        <p:spPr>
          <a:xfrm>
            <a:off x="7315200" y="1899138"/>
            <a:ext cx="3814572" cy="3733800"/>
          </a:xfrm>
          <a:prstGeom prst="rect">
            <a:avLst/>
          </a:prstGeom>
        </p:spPr>
      </p:pic>
    </p:spTree>
    <p:extLst>
      <p:ext uri="{BB962C8B-B14F-4D97-AF65-F5344CB8AC3E}">
        <p14:creationId xmlns:p14="http://schemas.microsoft.com/office/powerpoint/2010/main" val="4073994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8792"/>
            <a:ext cx="6781800" cy="677826"/>
          </a:xfrm>
          <a:prstGeom prst="rect">
            <a:avLst/>
          </a:prstGeom>
        </p:spPr>
        <p:txBody>
          <a:bodyPr vert="horz" wrap="square" lIns="0" tIns="244551" rIns="0" bIns="0" rtlCol="0" anchor="ctr">
            <a:spAutoFit/>
          </a:bodyPr>
          <a:lstStyle/>
          <a:p>
            <a:pPr marL="2667000" algn="l">
              <a:lnSpc>
                <a:spcPct val="100000"/>
              </a:lnSpc>
              <a:spcBef>
                <a:spcPts val="95"/>
              </a:spcBef>
            </a:pPr>
            <a:r>
              <a:rPr lang="en-US" sz="2800" dirty="0" smtClean="0"/>
              <a:t>Test your Knowledge</a:t>
            </a:r>
            <a:endParaRPr sz="2800" dirty="0"/>
          </a:p>
        </p:txBody>
      </p:sp>
      <p:sp>
        <p:nvSpPr>
          <p:cNvPr id="3" name="object 3"/>
          <p:cNvSpPr txBox="1"/>
          <p:nvPr/>
        </p:nvSpPr>
        <p:spPr>
          <a:xfrm>
            <a:off x="824890" y="2358593"/>
            <a:ext cx="5905500" cy="1911421"/>
          </a:xfrm>
          <a:prstGeom prst="rect">
            <a:avLst/>
          </a:prstGeom>
        </p:spPr>
        <p:txBody>
          <a:bodyPr vert="horz" wrap="square" lIns="0" tIns="13335" rIns="0" bIns="0" rtlCol="0">
            <a:spAutoFit/>
          </a:bodyPr>
          <a:lstStyle/>
          <a:p>
            <a:pPr marL="24765">
              <a:lnSpc>
                <a:spcPct val="100000"/>
              </a:lnSpc>
              <a:spcBef>
                <a:spcPts val="105"/>
              </a:spcBef>
            </a:pPr>
            <a:r>
              <a:rPr sz="2000" dirty="0">
                <a:latin typeface="Arial MT"/>
                <a:cs typeface="Arial MT"/>
              </a:rPr>
              <a:t>Please</a:t>
            </a:r>
            <a:r>
              <a:rPr sz="2000" spc="-45" dirty="0">
                <a:latin typeface="Arial MT"/>
                <a:cs typeface="Arial MT"/>
              </a:rPr>
              <a:t> </a:t>
            </a:r>
            <a:r>
              <a:rPr lang="en-US" sz="2000" dirty="0" smtClean="0">
                <a:latin typeface="Arial MT"/>
                <a:cs typeface="Arial MT"/>
              </a:rPr>
              <a:t>scan the QR code here or go to the below website:</a:t>
            </a:r>
            <a:endParaRPr sz="2000" dirty="0">
              <a:latin typeface="Arial MT"/>
              <a:cs typeface="Arial MT"/>
            </a:endParaRPr>
          </a:p>
          <a:p>
            <a:pPr>
              <a:lnSpc>
                <a:spcPct val="100000"/>
              </a:lnSpc>
            </a:pPr>
            <a:endParaRPr sz="2000" dirty="0">
              <a:latin typeface="Arial MT"/>
              <a:cs typeface="Arial MT"/>
            </a:endParaRPr>
          </a:p>
          <a:p>
            <a:pPr>
              <a:lnSpc>
                <a:spcPct val="100000"/>
              </a:lnSpc>
              <a:spcBef>
                <a:spcPts val="405"/>
              </a:spcBef>
            </a:pPr>
            <a:endParaRPr sz="2000" dirty="0">
              <a:latin typeface="Arial MT"/>
              <a:cs typeface="Arial MT"/>
            </a:endParaRPr>
          </a:p>
          <a:p>
            <a:pPr marL="12700">
              <a:lnSpc>
                <a:spcPct val="100000"/>
              </a:lnSpc>
            </a:pPr>
            <a:r>
              <a:rPr lang="en-US" sz="2000" u="sng" spc="-10" dirty="0" smtClean="0">
                <a:solidFill>
                  <a:srgbClr val="0462C1"/>
                </a:solidFill>
                <a:uFill>
                  <a:solidFill>
                    <a:srgbClr val="0462C1"/>
                  </a:solidFill>
                </a:uFill>
                <a:latin typeface="Arial MT"/>
                <a:cs typeface="Arial MT"/>
                <a:hlinkClick r:id="rId2"/>
              </a:rPr>
              <a:t>https://afathelbab.github.io/cnpc/computer-basics-soft-skills/day2/quiz.html</a:t>
            </a:r>
            <a:endParaRPr sz="2000" dirty="0">
              <a:latin typeface="Arial MT"/>
              <a:cs typeface="Arial MT"/>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27</a:t>
            </a:fld>
            <a:endParaRPr spc="-25" dirty="0"/>
          </a:p>
        </p:txBody>
      </p:sp>
      <p:sp>
        <p:nvSpPr>
          <p:cNvPr id="7" name="object 2"/>
          <p:cNvSpPr txBox="1">
            <a:spLocks/>
          </p:cNvSpPr>
          <p:nvPr/>
        </p:nvSpPr>
        <p:spPr>
          <a:xfrm rot="19344576">
            <a:off x="3994338" y="810154"/>
            <a:ext cx="3886200" cy="677826"/>
          </a:xfrm>
          <a:prstGeom prst="rect">
            <a:avLst/>
          </a:prstGeom>
        </p:spPr>
        <p:txBody>
          <a:bodyPr vert="horz" wrap="square" lIns="0" tIns="244551" rIns="0" bIns="0" rtlCol="0" anchor="ctr">
            <a:spAutoFit/>
          </a:bodyPr>
          <a:lstStyle>
            <a:lvl1pPr>
              <a:defRPr sz="2000" b="1" i="0">
                <a:solidFill>
                  <a:srgbClr val="CE2C2C"/>
                </a:solidFill>
                <a:latin typeface="Arial"/>
                <a:ea typeface="+mj-ea"/>
                <a:cs typeface="Arial"/>
              </a:defRPr>
            </a:lvl1pPr>
          </a:lstStyle>
          <a:p>
            <a:pPr marL="2667000" algn="l">
              <a:spcBef>
                <a:spcPts val="95"/>
              </a:spcBef>
            </a:pPr>
            <a:r>
              <a:rPr lang="en-US" sz="2800" dirty="0" smtClean="0">
                <a:solidFill>
                  <a:schemeClr val="accent1">
                    <a:lumMod val="75000"/>
                  </a:schemeClr>
                </a:solidFill>
              </a:rPr>
              <a:t>Again!</a:t>
            </a:r>
            <a:endParaRPr lang="en-US" sz="2800" dirty="0">
              <a:solidFill>
                <a:schemeClr val="accent1">
                  <a:lumMod val="75000"/>
                </a:schemeClr>
              </a:solidFill>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1600200"/>
            <a:ext cx="3973398" cy="3973398"/>
          </a:xfrm>
          <a:prstGeom prst="rect">
            <a:avLst/>
          </a:prstGeom>
        </p:spPr>
      </p:pic>
    </p:spTree>
    <p:extLst>
      <p:ext uri="{BB962C8B-B14F-4D97-AF65-F5344CB8AC3E}">
        <p14:creationId xmlns:p14="http://schemas.microsoft.com/office/powerpoint/2010/main" val="26961342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549098"/>
            <a:ext cx="7467600" cy="1908933"/>
          </a:xfrm>
          <a:prstGeom prst="rect">
            <a:avLst/>
          </a:prstGeom>
        </p:spPr>
        <p:txBody>
          <a:bodyPr vert="horz" wrap="square" lIns="0" tIns="244551" rIns="0" bIns="0" rtlCol="0" anchor="ctr">
            <a:spAutoFit/>
          </a:bodyPr>
          <a:lstStyle/>
          <a:p>
            <a:pPr algn="ctr"/>
            <a:r>
              <a:rPr lang="en-US" sz="5400" dirty="0" smtClean="0"/>
              <a:t>Workshop</a:t>
            </a:r>
            <a:r>
              <a:rPr lang="en-US" sz="5400" dirty="0"/>
              <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28</a:t>
            </a:fld>
            <a:endParaRPr spc="-25" dirty="0"/>
          </a:p>
        </p:txBody>
      </p:sp>
    </p:spTree>
    <p:extLst>
      <p:ext uri="{BB962C8B-B14F-4D97-AF65-F5344CB8AC3E}">
        <p14:creationId xmlns:p14="http://schemas.microsoft.com/office/powerpoint/2010/main" val="3654563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smtClean="0"/>
              <a:t>Workshop</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29</a:t>
            </a:fld>
            <a:endParaRPr spc="-25"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447800"/>
            <a:ext cx="6477000" cy="4655344"/>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6600" y="1219200"/>
            <a:ext cx="4648200" cy="4648200"/>
          </a:xfrm>
          <a:prstGeom prst="rect">
            <a:avLst/>
          </a:prstGeom>
        </p:spPr>
      </p:pic>
      <p:sp>
        <p:nvSpPr>
          <p:cNvPr id="11" name="TextBox 10"/>
          <p:cNvSpPr txBox="1"/>
          <p:nvPr/>
        </p:nvSpPr>
        <p:spPr>
          <a:xfrm>
            <a:off x="7696200" y="5867400"/>
            <a:ext cx="3886200" cy="646331"/>
          </a:xfrm>
          <a:prstGeom prst="rect">
            <a:avLst/>
          </a:prstGeom>
          <a:noFill/>
        </p:spPr>
        <p:txBody>
          <a:bodyPr wrap="square" rtlCol="1">
            <a:spAutoFit/>
          </a:bodyPr>
          <a:lstStyle/>
          <a:p>
            <a:r>
              <a:rPr lang="en-US" dirty="0" smtClean="0">
                <a:hlinkClick r:id="rId5"/>
              </a:rPr>
              <a:t>https://afathelbab.github.io/cnpc/computer-basics-soft-skills/workshops/</a:t>
            </a:r>
            <a:endParaRPr lang="ar-EG" dirty="0"/>
          </a:p>
        </p:txBody>
      </p:sp>
    </p:spTree>
    <p:extLst>
      <p:ext uri="{BB962C8B-B14F-4D97-AF65-F5344CB8AC3E}">
        <p14:creationId xmlns:p14="http://schemas.microsoft.com/office/powerpoint/2010/main" val="26726449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789420"/>
            <a:chOff x="0" y="0"/>
            <a:chExt cx="12192000" cy="6789420"/>
          </a:xfrm>
        </p:grpSpPr>
        <p:pic>
          <p:nvPicPr>
            <p:cNvPr id="3" name="object 3"/>
            <p:cNvPicPr/>
            <p:nvPr/>
          </p:nvPicPr>
          <p:blipFill>
            <a:blip r:embed="rId2" cstate="print"/>
            <a:stretch>
              <a:fillRect/>
            </a:stretch>
          </p:blipFill>
          <p:spPr>
            <a:xfrm>
              <a:off x="838199" y="211836"/>
              <a:ext cx="540060" cy="544068"/>
            </a:xfrm>
            <a:prstGeom prst="rect">
              <a:avLst/>
            </a:prstGeom>
          </p:spPr>
        </p:pic>
        <p:pic>
          <p:nvPicPr>
            <p:cNvPr id="4" name="object 4"/>
            <p:cNvPicPr/>
            <p:nvPr/>
          </p:nvPicPr>
          <p:blipFill>
            <a:blip r:embed="rId3" cstate="print"/>
            <a:stretch>
              <a:fillRect/>
            </a:stretch>
          </p:blipFill>
          <p:spPr>
            <a:xfrm>
              <a:off x="0" y="0"/>
              <a:ext cx="12191999" cy="6789417"/>
            </a:xfrm>
            <a:prstGeom prst="rect">
              <a:avLst/>
            </a:prstGeom>
          </p:spPr>
        </p:pic>
        <p:sp>
          <p:nvSpPr>
            <p:cNvPr id="5" name="object 5"/>
            <p:cNvSpPr/>
            <p:nvPr/>
          </p:nvSpPr>
          <p:spPr>
            <a:xfrm>
              <a:off x="0" y="0"/>
              <a:ext cx="12192000" cy="6769734"/>
            </a:xfrm>
            <a:custGeom>
              <a:avLst/>
              <a:gdLst/>
              <a:ahLst/>
              <a:cxnLst/>
              <a:rect l="l" t="t" r="r" b="b"/>
              <a:pathLst>
                <a:path w="12192000" h="6769734">
                  <a:moveTo>
                    <a:pt x="0" y="6769606"/>
                  </a:moveTo>
                  <a:lnTo>
                    <a:pt x="12192000" y="6769606"/>
                  </a:lnTo>
                  <a:lnTo>
                    <a:pt x="12192000" y="0"/>
                  </a:lnTo>
                  <a:lnTo>
                    <a:pt x="0" y="0"/>
                  </a:lnTo>
                  <a:lnTo>
                    <a:pt x="0" y="6769606"/>
                  </a:lnTo>
                  <a:close/>
                </a:path>
              </a:pathLst>
            </a:custGeom>
            <a:solidFill>
              <a:srgbClr val="FFFFFF">
                <a:alpha val="59999"/>
              </a:srgbClr>
            </a:solidFill>
          </p:spPr>
          <p:txBody>
            <a:bodyPr wrap="square" lIns="0" tIns="0" rIns="0" bIns="0" rtlCol="0"/>
            <a:lstStyle/>
            <a:p>
              <a:endParaRPr/>
            </a:p>
          </p:txBody>
        </p:sp>
      </p:grpSp>
      <p:sp>
        <p:nvSpPr>
          <p:cNvPr id="6" name="object 6"/>
          <p:cNvSpPr txBox="1">
            <a:spLocks noGrp="1"/>
          </p:cNvSpPr>
          <p:nvPr>
            <p:ph type="title"/>
          </p:nvPr>
        </p:nvSpPr>
        <p:spPr>
          <a:xfrm>
            <a:off x="3198114" y="3109340"/>
            <a:ext cx="585978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rPr>
              <a:t>A</a:t>
            </a:r>
            <a:r>
              <a:rPr sz="3600" spc="-245" dirty="0">
                <a:solidFill>
                  <a:srgbClr val="000000"/>
                </a:solidFill>
              </a:rPr>
              <a:t> </a:t>
            </a:r>
            <a:r>
              <a:rPr sz="3600" spc="-70" dirty="0">
                <a:solidFill>
                  <a:srgbClr val="000000"/>
                </a:solidFill>
              </a:rPr>
              <a:t>Better</a:t>
            </a:r>
            <a:r>
              <a:rPr sz="3600" spc="-145" dirty="0">
                <a:solidFill>
                  <a:srgbClr val="000000"/>
                </a:solidFill>
              </a:rPr>
              <a:t> You,</a:t>
            </a:r>
            <a:r>
              <a:rPr sz="3600" spc="-105" dirty="0">
                <a:solidFill>
                  <a:srgbClr val="000000"/>
                </a:solidFill>
              </a:rPr>
              <a:t> </a:t>
            </a:r>
            <a:r>
              <a:rPr sz="3600" dirty="0">
                <a:solidFill>
                  <a:srgbClr val="000000"/>
                </a:solidFill>
              </a:rPr>
              <a:t>A</a:t>
            </a:r>
            <a:r>
              <a:rPr sz="3600" spc="-170" dirty="0">
                <a:solidFill>
                  <a:srgbClr val="000000"/>
                </a:solidFill>
              </a:rPr>
              <a:t> </a:t>
            </a:r>
            <a:r>
              <a:rPr sz="3600" spc="-70" dirty="0">
                <a:solidFill>
                  <a:srgbClr val="000000"/>
                </a:solidFill>
              </a:rPr>
              <a:t>Better</a:t>
            </a:r>
            <a:r>
              <a:rPr sz="3600" spc="-145" dirty="0">
                <a:solidFill>
                  <a:srgbClr val="000000"/>
                </a:solidFill>
              </a:rPr>
              <a:t> </a:t>
            </a:r>
            <a:r>
              <a:rPr sz="3600" spc="-10" dirty="0">
                <a:solidFill>
                  <a:srgbClr val="000000"/>
                </a:solidFill>
              </a:rPr>
              <a:t>Niger</a:t>
            </a:r>
            <a:endParaRPr sz="3600"/>
          </a:p>
        </p:txBody>
      </p:sp>
      <p:grpSp>
        <p:nvGrpSpPr>
          <p:cNvPr id="7" name="object 7"/>
          <p:cNvGrpSpPr/>
          <p:nvPr/>
        </p:nvGrpSpPr>
        <p:grpSpPr>
          <a:xfrm>
            <a:off x="5321808" y="1053195"/>
            <a:ext cx="1548765" cy="4386580"/>
            <a:chOff x="5321808" y="1053195"/>
            <a:chExt cx="1548765" cy="4386580"/>
          </a:xfrm>
        </p:grpSpPr>
        <p:sp>
          <p:nvSpPr>
            <p:cNvPr id="8" name="object 8"/>
            <p:cNvSpPr/>
            <p:nvPr/>
          </p:nvSpPr>
          <p:spPr>
            <a:xfrm>
              <a:off x="5321808" y="1053195"/>
              <a:ext cx="1548765" cy="1113790"/>
            </a:xfrm>
            <a:custGeom>
              <a:avLst/>
              <a:gdLst/>
              <a:ahLst/>
              <a:cxnLst/>
              <a:rect l="l" t="t" r="r" b="b"/>
              <a:pathLst>
                <a:path w="1548765" h="1113789">
                  <a:moveTo>
                    <a:pt x="634749" y="989329"/>
                  </a:moveTo>
                  <a:lnTo>
                    <a:pt x="460628" y="989329"/>
                  </a:lnTo>
                  <a:lnTo>
                    <a:pt x="449855" y="1013460"/>
                  </a:lnTo>
                  <a:lnTo>
                    <a:pt x="440737" y="1038860"/>
                  </a:lnTo>
                  <a:lnTo>
                    <a:pt x="440358" y="1065529"/>
                  </a:lnTo>
                  <a:lnTo>
                    <a:pt x="455802" y="1093469"/>
                  </a:lnTo>
                  <a:lnTo>
                    <a:pt x="488311" y="1112519"/>
                  </a:lnTo>
                  <a:lnTo>
                    <a:pt x="529653" y="1113789"/>
                  </a:lnTo>
                  <a:lnTo>
                    <a:pt x="571853" y="1101089"/>
                  </a:lnTo>
                  <a:lnTo>
                    <a:pt x="606932" y="1078229"/>
                  </a:lnTo>
                  <a:lnTo>
                    <a:pt x="629027" y="1047750"/>
                  </a:lnTo>
                  <a:lnTo>
                    <a:pt x="637952" y="1013460"/>
                  </a:lnTo>
                  <a:lnTo>
                    <a:pt x="634749" y="989329"/>
                  </a:lnTo>
                  <a:close/>
                </a:path>
                <a:path w="1548765" h="1113789">
                  <a:moveTo>
                    <a:pt x="1072659" y="533400"/>
                  </a:moveTo>
                  <a:lnTo>
                    <a:pt x="246395" y="533400"/>
                  </a:lnTo>
                  <a:lnTo>
                    <a:pt x="288628" y="538479"/>
                  </a:lnTo>
                  <a:lnTo>
                    <a:pt x="327792" y="553719"/>
                  </a:lnTo>
                  <a:lnTo>
                    <a:pt x="361314" y="579119"/>
                  </a:lnTo>
                  <a:lnTo>
                    <a:pt x="384238" y="609600"/>
                  </a:lnTo>
                  <a:lnTo>
                    <a:pt x="398399" y="645160"/>
                  </a:lnTo>
                  <a:lnTo>
                    <a:pt x="416018" y="651510"/>
                  </a:lnTo>
                  <a:lnTo>
                    <a:pt x="461899" y="683260"/>
                  </a:lnTo>
                  <a:lnTo>
                    <a:pt x="492831" y="730250"/>
                  </a:lnTo>
                  <a:lnTo>
                    <a:pt x="498855" y="749300"/>
                  </a:lnTo>
                  <a:lnTo>
                    <a:pt x="516346" y="755650"/>
                  </a:lnTo>
                  <a:lnTo>
                    <a:pt x="562101" y="787400"/>
                  </a:lnTo>
                  <a:lnTo>
                    <a:pt x="586851" y="820419"/>
                  </a:lnTo>
                  <a:lnTo>
                    <a:pt x="601217" y="859789"/>
                  </a:lnTo>
                  <a:lnTo>
                    <a:pt x="619740" y="866139"/>
                  </a:lnTo>
                  <a:lnTo>
                    <a:pt x="653117" y="885189"/>
                  </a:lnTo>
                  <a:lnTo>
                    <a:pt x="690189" y="928369"/>
                  </a:lnTo>
                  <a:lnTo>
                    <a:pt x="710287" y="996950"/>
                  </a:lnTo>
                  <a:lnTo>
                    <a:pt x="708405" y="1033779"/>
                  </a:lnTo>
                  <a:lnTo>
                    <a:pt x="712559" y="1037589"/>
                  </a:lnTo>
                  <a:lnTo>
                    <a:pt x="721693" y="1047750"/>
                  </a:lnTo>
                  <a:lnTo>
                    <a:pt x="733232" y="1060450"/>
                  </a:lnTo>
                  <a:lnTo>
                    <a:pt x="744474" y="1071879"/>
                  </a:lnTo>
                  <a:lnTo>
                    <a:pt x="766927" y="1087119"/>
                  </a:lnTo>
                  <a:lnTo>
                    <a:pt x="792559" y="1092200"/>
                  </a:lnTo>
                  <a:lnTo>
                    <a:pt x="818215" y="1087119"/>
                  </a:lnTo>
                  <a:lnTo>
                    <a:pt x="840739" y="1071879"/>
                  </a:lnTo>
                  <a:lnTo>
                    <a:pt x="855545" y="1049019"/>
                  </a:lnTo>
                  <a:lnTo>
                    <a:pt x="860504" y="1023619"/>
                  </a:lnTo>
                  <a:lnTo>
                    <a:pt x="855581" y="998219"/>
                  </a:lnTo>
                  <a:lnTo>
                    <a:pt x="840739" y="976629"/>
                  </a:lnTo>
                  <a:lnTo>
                    <a:pt x="825543" y="960119"/>
                  </a:lnTo>
                  <a:lnTo>
                    <a:pt x="793559" y="924560"/>
                  </a:lnTo>
                  <a:lnTo>
                    <a:pt x="763194" y="889000"/>
                  </a:lnTo>
                  <a:lnTo>
                    <a:pt x="752855" y="868679"/>
                  </a:lnTo>
                  <a:lnTo>
                    <a:pt x="953429" y="868679"/>
                  </a:lnTo>
                  <a:lnTo>
                    <a:pt x="952003" y="867410"/>
                  </a:lnTo>
                  <a:lnTo>
                    <a:pt x="911923" y="830579"/>
                  </a:lnTo>
                  <a:lnTo>
                    <a:pt x="873557" y="791210"/>
                  </a:lnTo>
                  <a:lnTo>
                    <a:pt x="860170" y="768350"/>
                  </a:lnTo>
                  <a:lnTo>
                    <a:pt x="1081081" y="768350"/>
                  </a:lnTo>
                  <a:lnTo>
                    <a:pt x="1059243" y="744219"/>
                  </a:lnTo>
                  <a:lnTo>
                    <a:pt x="1023028" y="701039"/>
                  </a:lnTo>
                  <a:lnTo>
                    <a:pt x="1010412" y="676910"/>
                  </a:lnTo>
                  <a:lnTo>
                    <a:pt x="1216034" y="676910"/>
                  </a:lnTo>
                  <a:lnTo>
                    <a:pt x="1072659" y="533400"/>
                  </a:lnTo>
                  <a:close/>
                </a:path>
                <a:path w="1548765" h="1113789">
                  <a:moveTo>
                    <a:pt x="953429" y="868679"/>
                  </a:moveTo>
                  <a:lnTo>
                    <a:pt x="752855" y="868679"/>
                  </a:lnTo>
                  <a:lnTo>
                    <a:pt x="776037" y="883919"/>
                  </a:lnTo>
                  <a:lnTo>
                    <a:pt x="819911" y="924560"/>
                  </a:lnTo>
                  <a:lnTo>
                    <a:pt x="883157" y="988060"/>
                  </a:lnTo>
                  <a:lnTo>
                    <a:pt x="905589" y="1003300"/>
                  </a:lnTo>
                  <a:lnTo>
                    <a:pt x="931163" y="1008379"/>
                  </a:lnTo>
                  <a:lnTo>
                    <a:pt x="956738" y="1003300"/>
                  </a:lnTo>
                  <a:lnTo>
                    <a:pt x="979169" y="988060"/>
                  </a:lnTo>
                  <a:lnTo>
                    <a:pt x="994100" y="966469"/>
                  </a:lnTo>
                  <a:lnTo>
                    <a:pt x="999077" y="941069"/>
                  </a:lnTo>
                  <a:lnTo>
                    <a:pt x="994100" y="914400"/>
                  </a:lnTo>
                  <a:lnTo>
                    <a:pt x="979169" y="892810"/>
                  </a:lnTo>
                  <a:lnTo>
                    <a:pt x="978026" y="891539"/>
                  </a:lnTo>
                  <a:lnTo>
                    <a:pt x="972692" y="886460"/>
                  </a:lnTo>
                  <a:lnTo>
                    <a:pt x="970533" y="883919"/>
                  </a:lnTo>
                  <a:lnTo>
                    <a:pt x="953429" y="868679"/>
                  </a:lnTo>
                  <a:close/>
                </a:path>
                <a:path w="1548765" h="1113789">
                  <a:moveTo>
                    <a:pt x="531101" y="887729"/>
                  </a:moveTo>
                  <a:lnTo>
                    <a:pt x="352932" y="887729"/>
                  </a:lnTo>
                  <a:lnTo>
                    <a:pt x="344779" y="909319"/>
                  </a:lnTo>
                  <a:lnTo>
                    <a:pt x="337327" y="932179"/>
                  </a:lnTo>
                  <a:lnTo>
                    <a:pt x="336948" y="956310"/>
                  </a:lnTo>
                  <a:lnTo>
                    <a:pt x="350012" y="982979"/>
                  </a:lnTo>
                  <a:lnTo>
                    <a:pt x="375386" y="1000760"/>
                  </a:lnTo>
                  <a:lnTo>
                    <a:pt x="404510" y="1003300"/>
                  </a:lnTo>
                  <a:lnTo>
                    <a:pt x="434040" y="998219"/>
                  </a:lnTo>
                  <a:lnTo>
                    <a:pt x="460628" y="989329"/>
                  </a:lnTo>
                  <a:lnTo>
                    <a:pt x="634749" y="989329"/>
                  </a:lnTo>
                  <a:lnTo>
                    <a:pt x="633400" y="979169"/>
                  </a:lnTo>
                  <a:lnTo>
                    <a:pt x="615061" y="948689"/>
                  </a:lnTo>
                  <a:lnTo>
                    <a:pt x="595760" y="934719"/>
                  </a:lnTo>
                  <a:lnTo>
                    <a:pt x="580878" y="929639"/>
                  </a:lnTo>
                  <a:lnTo>
                    <a:pt x="525144" y="929639"/>
                  </a:lnTo>
                  <a:lnTo>
                    <a:pt x="531332" y="905510"/>
                  </a:lnTo>
                  <a:lnTo>
                    <a:pt x="531101" y="887729"/>
                  </a:lnTo>
                  <a:close/>
                </a:path>
                <a:path w="1548765" h="1113789">
                  <a:moveTo>
                    <a:pt x="549445" y="925829"/>
                  </a:moveTo>
                  <a:lnTo>
                    <a:pt x="525144" y="929639"/>
                  </a:lnTo>
                  <a:lnTo>
                    <a:pt x="580878" y="929639"/>
                  </a:lnTo>
                  <a:lnTo>
                    <a:pt x="573436" y="927100"/>
                  </a:lnTo>
                  <a:lnTo>
                    <a:pt x="549445" y="925829"/>
                  </a:lnTo>
                  <a:close/>
                </a:path>
                <a:path w="1548765" h="1113789">
                  <a:moveTo>
                    <a:pt x="1081081" y="768350"/>
                  </a:moveTo>
                  <a:lnTo>
                    <a:pt x="860170" y="768350"/>
                  </a:lnTo>
                  <a:lnTo>
                    <a:pt x="888642" y="784860"/>
                  </a:lnTo>
                  <a:lnTo>
                    <a:pt x="942403" y="830579"/>
                  </a:lnTo>
                  <a:lnTo>
                    <a:pt x="994544" y="876300"/>
                  </a:lnTo>
                  <a:lnTo>
                    <a:pt x="1018158" y="897889"/>
                  </a:lnTo>
                  <a:lnTo>
                    <a:pt x="1040278" y="911860"/>
                  </a:lnTo>
                  <a:lnTo>
                    <a:pt x="1089757" y="910589"/>
                  </a:lnTo>
                  <a:lnTo>
                    <a:pt x="1125577" y="875029"/>
                  </a:lnTo>
                  <a:lnTo>
                    <a:pt x="1130776" y="850900"/>
                  </a:lnTo>
                  <a:lnTo>
                    <a:pt x="1127164" y="826769"/>
                  </a:lnTo>
                  <a:lnTo>
                    <a:pt x="1114932" y="805179"/>
                  </a:lnTo>
                  <a:lnTo>
                    <a:pt x="1097172" y="786129"/>
                  </a:lnTo>
                  <a:lnTo>
                    <a:pt x="1081081" y="768350"/>
                  </a:lnTo>
                  <a:close/>
                </a:path>
                <a:path w="1548765" h="1113789">
                  <a:moveTo>
                    <a:pt x="430004" y="783589"/>
                  </a:moveTo>
                  <a:lnTo>
                    <a:pt x="252349" y="783589"/>
                  </a:lnTo>
                  <a:lnTo>
                    <a:pt x="244236" y="805179"/>
                  </a:lnTo>
                  <a:lnTo>
                    <a:pt x="236600" y="828039"/>
                  </a:lnTo>
                  <a:lnTo>
                    <a:pt x="236204" y="852169"/>
                  </a:lnTo>
                  <a:lnTo>
                    <a:pt x="249808" y="878839"/>
                  </a:lnTo>
                  <a:lnTo>
                    <a:pt x="274655" y="897889"/>
                  </a:lnTo>
                  <a:lnTo>
                    <a:pt x="301609" y="900429"/>
                  </a:lnTo>
                  <a:lnTo>
                    <a:pt x="328443" y="894079"/>
                  </a:lnTo>
                  <a:lnTo>
                    <a:pt x="352932" y="887729"/>
                  </a:lnTo>
                  <a:lnTo>
                    <a:pt x="531101" y="887729"/>
                  </a:lnTo>
                  <a:lnTo>
                    <a:pt x="509650" y="838200"/>
                  </a:lnTo>
                  <a:lnTo>
                    <a:pt x="471455" y="816610"/>
                  </a:lnTo>
                  <a:lnTo>
                    <a:pt x="426974" y="816610"/>
                  </a:lnTo>
                  <a:lnTo>
                    <a:pt x="430748" y="795019"/>
                  </a:lnTo>
                  <a:lnTo>
                    <a:pt x="430004" y="783589"/>
                  </a:lnTo>
                  <a:close/>
                </a:path>
                <a:path w="1548765" h="1113789">
                  <a:moveTo>
                    <a:pt x="449500" y="814069"/>
                  </a:moveTo>
                  <a:lnTo>
                    <a:pt x="426974" y="816610"/>
                  </a:lnTo>
                  <a:lnTo>
                    <a:pt x="471455" y="816610"/>
                  </a:lnTo>
                  <a:lnTo>
                    <a:pt x="449500" y="814069"/>
                  </a:lnTo>
                  <a:close/>
                </a:path>
                <a:path w="1548765" h="1113789">
                  <a:moveTo>
                    <a:pt x="1216034" y="676910"/>
                  </a:moveTo>
                  <a:lnTo>
                    <a:pt x="1010412" y="676910"/>
                  </a:lnTo>
                  <a:lnTo>
                    <a:pt x="1033085" y="689610"/>
                  </a:lnTo>
                  <a:lnTo>
                    <a:pt x="1074070" y="726439"/>
                  </a:lnTo>
                  <a:lnTo>
                    <a:pt x="1131062" y="783589"/>
                  </a:lnTo>
                  <a:lnTo>
                    <a:pt x="1153497" y="797560"/>
                  </a:lnTo>
                  <a:lnTo>
                    <a:pt x="1179099" y="802639"/>
                  </a:lnTo>
                  <a:lnTo>
                    <a:pt x="1204749" y="797560"/>
                  </a:lnTo>
                  <a:lnTo>
                    <a:pt x="1227327" y="783589"/>
                  </a:lnTo>
                  <a:lnTo>
                    <a:pt x="1242115" y="760729"/>
                  </a:lnTo>
                  <a:lnTo>
                    <a:pt x="1247044" y="735329"/>
                  </a:lnTo>
                  <a:lnTo>
                    <a:pt x="1242115" y="709929"/>
                  </a:lnTo>
                  <a:lnTo>
                    <a:pt x="1227327" y="687069"/>
                  </a:lnTo>
                  <a:lnTo>
                    <a:pt x="1226185" y="687069"/>
                  </a:lnTo>
                  <a:lnTo>
                    <a:pt x="1216034" y="676910"/>
                  </a:lnTo>
                  <a:close/>
                </a:path>
                <a:path w="1548765" h="1113789">
                  <a:moveTo>
                    <a:pt x="245094" y="604519"/>
                  </a:moveTo>
                  <a:lnTo>
                    <a:pt x="178053" y="633729"/>
                  </a:lnTo>
                  <a:lnTo>
                    <a:pt x="152657" y="665479"/>
                  </a:lnTo>
                  <a:lnTo>
                    <a:pt x="136620" y="703579"/>
                  </a:lnTo>
                  <a:lnTo>
                    <a:pt x="134155" y="741679"/>
                  </a:lnTo>
                  <a:lnTo>
                    <a:pt x="149478" y="774700"/>
                  </a:lnTo>
                  <a:lnTo>
                    <a:pt x="175732" y="793750"/>
                  </a:lnTo>
                  <a:lnTo>
                    <a:pt x="202533" y="796289"/>
                  </a:lnTo>
                  <a:lnTo>
                    <a:pt x="228524" y="789939"/>
                  </a:lnTo>
                  <a:lnTo>
                    <a:pt x="252349" y="783589"/>
                  </a:lnTo>
                  <a:lnTo>
                    <a:pt x="430004" y="783589"/>
                  </a:lnTo>
                  <a:lnTo>
                    <a:pt x="409066" y="734060"/>
                  </a:lnTo>
                  <a:lnTo>
                    <a:pt x="370951" y="712469"/>
                  </a:lnTo>
                  <a:lnTo>
                    <a:pt x="326643" y="712469"/>
                  </a:lnTo>
                  <a:lnTo>
                    <a:pt x="330344" y="690879"/>
                  </a:lnTo>
                  <a:lnTo>
                    <a:pt x="328818" y="668019"/>
                  </a:lnTo>
                  <a:lnTo>
                    <a:pt x="321696" y="647700"/>
                  </a:lnTo>
                  <a:lnTo>
                    <a:pt x="308609" y="629919"/>
                  </a:lnTo>
                  <a:lnTo>
                    <a:pt x="279370" y="610869"/>
                  </a:lnTo>
                  <a:lnTo>
                    <a:pt x="245094" y="604519"/>
                  </a:lnTo>
                  <a:close/>
                </a:path>
                <a:path w="1548765" h="1113789">
                  <a:moveTo>
                    <a:pt x="349041" y="709929"/>
                  </a:moveTo>
                  <a:lnTo>
                    <a:pt x="326643" y="712469"/>
                  </a:lnTo>
                  <a:lnTo>
                    <a:pt x="370951" y="712469"/>
                  </a:lnTo>
                  <a:lnTo>
                    <a:pt x="349041" y="709929"/>
                  </a:lnTo>
                  <a:close/>
                </a:path>
                <a:path w="1548765" h="1113789">
                  <a:moveTo>
                    <a:pt x="0" y="85089"/>
                  </a:moveTo>
                  <a:lnTo>
                    <a:pt x="0" y="621029"/>
                  </a:lnTo>
                  <a:lnTo>
                    <a:pt x="7504" y="622300"/>
                  </a:lnTo>
                  <a:lnTo>
                    <a:pt x="53899" y="637539"/>
                  </a:lnTo>
                  <a:lnTo>
                    <a:pt x="83692" y="648969"/>
                  </a:lnTo>
                  <a:lnTo>
                    <a:pt x="91406" y="631189"/>
                  </a:lnTo>
                  <a:lnTo>
                    <a:pt x="101203" y="613410"/>
                  </a:lnTo>
                  <a:lnTo>
                    <a:pt x="127000" y="580389"/>
                  </a:lnTo>
                  <a:lnTo>
                    <a:pt x="163009" y="554989"/>
                  </a:lnTo>
                  <a:lnTo>
                    <a:pt x="203665" y="538479"/>
                  </a:lnTo>
                  <a:lnTo>
                    <a:pt x="246395" y="533400"/>
                  </a:lnTo>
                  <a:lnTo>
                    <a:pt x="1072659" y="533400"/>
                  </a:lnTo>
                  <a:lnTo>
                    <a:pt x="1002775" y="463550"/>
                  </a:lnTo>
                  <a:lnTo>
                    <a:pt x="599186" y="463550"/>
                  </a:lnTo>
                  <a:lnTo>
                    <a:pt x="550202" y="455929"/>
                  </a:lnTo>
                  <a:lnTo>
                    <a:pt x="507668" y="433069"/>
                  </a:lnTo>
                  <a:lnTo>
                    <a:pt x="474132" y="400050"/>
                  </a:lnTo>
                  <a:lnTo>
                    <a:pt x="452142" y="358139"/>
                  </a:lnTo>
                  <a:lnTo>
                    <a:pt x="444245" y="309879"/>
                  </a:lnTo>
                  <a:lnTo>
                    <a:pt x="449554" y="269239"/>
                  </a:lnTo>
                  <a:lnTo>
                    <a:pt x="464518" y="233679"/>
                  </a:lnTo>
                  <a:lnTo>
                    <a:pt x="487697" y="203200"/>
                  </a:lnTo>
                  <a:lnTo>
                    <a:pt x="517651" y="179070"/>
                  </a:lnTo>
                  <a:lnTo>
                    <a:pt x="559503" y="152400"/>
                  </a:lnTo>
                  <a:lnTo>
                    <a:pt x="209405" y="152400"/>
                  </a:lnTo>
                  <a:lnTo>
                    <a:pt x="154431" y="138429"/>
                  </a:lnTo>
                  <a:lnTo>
                    <a:pt x="0" y="85089"/>
                  </a:lnTo>
                  <a:close/>
                </a:path>
                <a:path w="1548765" h="1113789">
                  <a:moveTo>
                    <a:pt x="1548384" y="260350"/>
                  </a:moveTo>
                  <a:lnTo>
                    <a:pt x="898380" y="260350"/>
                  </a:lnTo>
                  <a:lnTo>
                    <a:pt x="934735" y="264159"/>
                  </a:lnTo>
                  <a:lnTo>
                    <a:pt x="957780" y="275589"/>
                  </a:lnTo>
                  <a:lnTo>
                    <a:pt x="965834" y="281939"/>
                  </a:lnTo>
                  <a:lnTo>
                    <a:pt x="1295272" y="605789"/>
                  </a:lnTo>
                  <a:lnTo>
                    <a:pt x="1332807" y="628650"/>
                  </a:lnTo>
                  <a:lnTo>
                    <a:pt x="1371234" y="635000"/>
                  </a:lnTo>
                  <a:lnTo>
                    <a:pt x="1404733" y="631189"/>
                  </a:lnTo>
                  <a:lnTo>
                    <a:pt x="1427480" y="627379"/>
                  </a:lnTo>
                  <a:lnTo>
                    <a:pt x="1495647" y="614679"/>
                  </a:lnTo>
                  <a:lnTo>
                    <a:pt x="1532385" y="608329"/>
                  </a:lnTo>
                  <a:lnTo>
                    <a:pt x="1548384" y="604519"/>
                  </a:lnTo>
                  <a:lnTo>
                    <a:pt x="1548384" y="260350"/>
                  </a:lnTo>
                  <a:close/>
                </a:path>
                <a:path w="1548765" h="1113789">
                  <a:moveTo>
                    <a:pt x="866665" y="363219"/>
                  </a:moveTo>
                  <a:lnTo>
                    <a:pt x="825500" y="372110"/>
                  </a:lnTo>
                  <a:lnTo>
                    <a:pt x="792487" y="386079"/>
                  </a:lnTo>
                  <a:lnTo>
                    <a:pt x="690117" y="434339"/>
                  </a:lnTo>
                  <a:lnTo>
                    <a:pt x="659425" y="448310"/>
                  </a:lnTo>
                  <a:lnTo>
                    <a:pt x="633745" y="457200"/>
                  </a:lnTo>
                  <a:lnTo>
                    <a:pt x="613519" y="462279"/>
                  </a:lnTo>
                  <a:lnTo>
                    <a:pt x="599186" y="463550"/>
                  </a:lnTo>
                  <a:lnTo>
                    <a:pt x="1002775" y="463550"/>
                  </a:lnTo>
                  <a:lnTo>
                    <a:pt x="954425" y="415289"/>
                  </a:lnTo>
                  <a:lnTo>
                    <a:pt x="929513" y="389889"/>
                  </a:lnTo>
                  <a:lnTo>
                    <a:pt x="921565" y="383539"/>
                  </a:lnTo>
                  <a:lnTo>
                    <a:pt x="899652" y="370839"/>
                  </a:lnTo>
                  <a:lnTo>
                    <a:pt x="866665" y="363219"/>
                  </a:lnTo>
                  <a:close/>
                </a:path>
                <a:path w="1548765" h="1113789">
                  <a:moveTo>
                    <a:pt x="1002506" y="0"/>
                  </a:moveTo>
                  <a:lnTo>
                    <a:pt x="968331" y="2539"/>
                  </a:lnTo>
                  <a:lnTo>
                    <a:pt x="933322" y="16509"/>
                  </a:lnTo>
                  <a:lnTo>
                    <a:pt x="898012" y="35559"/>
                  </a:lnTo>
                  <a:lnTo>
                    <a:pt x="854622" y="59689"/>
                  </a:lnTo>
                  <a:lnTo>
                    <a:pt x="805673" y="86359"/>
                  </a:lnTo>
                  <a:lnTo>
                    <a:pt x="701166" y="144779"/>
                  </a:lnTo>
                  <a:lnTo>
                    <a:pt x="604636" y="200659"/>
                  </a:lnTo>
                  <a:lnTo>
                    <a:pt x="565657" y="224789"/>
                  </a:lnTo>
                  <a:lnTo>
                    <a:pt x="523938" y="259079"/>
                  </a:lnTo>
                  <a:lnTo>
                    <a:pt x="507745" y="307339"/>
                  </a:lnTo>
                  <a:lnTo>
                    <a:pt x="518826" y="345439"/>
                  </a:lnTo>
                  <a:lnTo>
                    <a:pt x="548957" y="377189"/>
                  </a:lnTo>
                  <a:lnTo>
                    <a:pt x="593470" y="392429"/>
                  </a:lnTo>
                  <a:lnTo>
                    <a:pt x="647700" y="379729"/>
                  </a:lnTo>
                  <a:lnTo>
                    <a:pt x="687157" y="360679"/>
                  </a:lnTo>
                  <a:lnTo>
                    <a:pt x="739616" y="332739"/>
                  </a:lnTo>
                  <a:lnTo>
                    <a:pt x="796790" y="303529"/>
                  </a:lnTo>
                  <a:lnTo>
                    <a:pt x="850391" y="275589"/>
                  </a:lnTo>
                  <a:lnTo>
                    <a:pt x="898380" y="260350"/>
                  </a:lnTo>
                  <a:lnTo>
                    <a:pt x="1548384" y="260350"/>
                  </a:lnTo>
                  <a:lnTo>
                    <a:pt x="1548384" y="191770"/>
                  </a:lnTo>
                  <a:lnTo>
                    <a:pt x="1279415" y="191770"/>
                  </a:lnTo>
                  <a:lnTo>
                    <a:pt x="1259697" y="187959"/>
                  </a:lnTo>
                  <a:lnTo>
                    <a:pt x="1247193" y="181609"/>
                  </a:lnTo>
                  <a:lnTo>
                    <a:pt x="1242821" y="179070"/>
                  </a:lnTo>
                  <a:lnTo>
                    <a:pt x="1229953" y="167639"/>
                  </a:lnTo>
                  <a:lnTo>
                    <a:pt x="1195403" y="138429"/>
                  </a:lnTo>
                  <a:lnTo>
                    <a:pt x="1145256" y="95250"/>
                  </a:lnTo>
                  <a:lnTo>
                    <a:pt x="1085595" y="45720"/>
                  </a:lnTo>
                  <a:lnTo>
                    <a:pt x="1040157" y="12700"/>
                  </a:lnTo>
                  <a:lnTo>
                    <a:pt x="1002506" y="0"/>
                  </a:lnTo>
                  <a:close/>
                </a:path>
                <a:path w="1548765" h="1113789">
                  <a:moveTo>
                    <a:pt x="1548384" y="137159"/>
                  </a:moveTo>
                  <a:lnTo>
                    <a:pt x="1523728" y="143509"/>
                  </a:lnTo>
                  <a:lnTo>
                    <a:pt x="1462389" y="156209"/>
                  </a:lnTo>
                  <a:lnTo>
                    <a:pt x="1383309" y="173989"/>
                  </a:lnTo>
                  <a:lnTo>
                    <a:pt x="1305433" y="190500"/>
                  </a:lnTo>
                  <a:lnTo>
                    <a:pt x="1279415" y="191770"/>
                  </a:lnTo>
                  <a:lnTo>
                    <a:pt x="1548384" y="191770"/>
                  </a:lnTo>
                  <a:lnTo>
                    <a:pt x="1548384" y="137159"/>
                  </a:lnTo>
                  <a:close/>
                </a:path>
                <a:path w="1548765" h="1113789">
                  <a:moveTo>
                    <a:pt x="583183" y="6350"/>
                  </a:moveTo>
                  <a:lnTo>
                    <a:pt x="497548" y="26670"/>
                  </a:lnTo>
                  <a:lnTo>
                    <a:pt x="401399" y="71120"/>
                  </a:lnTo>
                  <a:lnTo>
                    <a:pt x="322990" y="115570"/>
                  </a:lnTo>
                  <a:lnTo>
                    <a:pt x="290575" y="135889"/>
                  </a:lnTo>
                  <a:lnTo>
                    <a:pt x="280537" y="140970"/>
                  </a:lnTo>
                  <a:lnTo>
                    <a:pt x="252460" y="149859"/>
                  </a:lnTo>
                  <a:lnTo>
                    <a:pt x="209405" y="152400"/>
                  </a:lnTo>
                  <a:lnTo>
                    <a:pt x="559503" y="152400"/>
                  </a:lnTo>
                  <a:lnTo>
                    <a:pt x="575446" y="142239"/>
                  </a:lnTo>
                  <a:lnTo>
                    <a:pt x="642540" y="104139"/>
                  </a:lnTo>
                  <a:lnTo>
                    <a:pt x="721232" y="60959"/>
                  </a:lnTo>
                  <a:lnTo>
                    <a:pt x="713021" y="52070"/>
                  </a:lnTo>
                  <a:lnTo>
                    <a:pt x="687831" y="33020"/>
                  </a:lnTo>
                  <a:lnTo>
                    <a:pt x="644830" y="15239"/>
                  </a:lnTo>
                  <a:lnTo>
                    <a:pt x="583183" y="6350"/>
                  </a:lnTo>
                  <a:close/>
                </a:path>
              </a:pathLst>
            </a:custGeom>
            <a:solidFill>
              <a:srgbClr val="2E5496"/>
            </a:solidFill>
          </p:spPr>
          <p:txBody>
            <a:bodyPr wrap="square" lIns="0" tIns="0" rIns="0" bIns="0" rtlCol="0"/>
            <a:lstStyle/>
            <a:p>
              <a:endParaRPr/>
            </a:p>
          </p:txBody>
        </p:sp>
        <p:pic>
          <p:nvPicPr>
            <p:cNvPr id="9" name="object 9"/>
            <p:cNvPicPr/>
            <p:nvPr/>
          </p:nvPicPr>
          <p:blipFill>
            <a:blip r:embed="rId4" cstate="print"/>
            <a:stretch>
              <a:fillRect/>
            </a:stretch>
          </p:blipFill>
          <p:spPr>
            <a:xfrm>
              <a:off x="5486400" y="4376927"/>
              <a:ext cx="1281683" cy="1062228"/>
            </a:xfrm>
            <a:prstGeom prst="rect">
              <a:avLst/>
            </a:prstGeom>
          </p:spPr>
        </p:pic>
      </p:grpSp>
      <p:sp>
        <p:nvSpPr>
          <p:cNvPr id="10" name="object 10"/>
          <p:cNvSpPr txBox="1"/>
          <p:nvPr/>
        </p:nvSpPr>
        <p:spPr>
          <a:xfrm>
            <a:off x="11087861" y="6425285"/>
            <a:ext cx="187325" cy="208915"/>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Tahoma"/>
                <a:cs typeface="Tahoma"/>
              </a:rPr>
              <a:t>74</a:t>
            </a:r>
            <a:endParaRPr sz="1200">
              <a:latin typeface="Tahoma"/>
              <a:cs typeface="Tahom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3519</TotalTime>
  <Words>1721</Words>
  <Application>Microsoft Office PowerPoint</Application>
  <PresentationFormat>Widescreen</PresentationFormat>
  <Paragraphs>224</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MT</vt:lpstr>
      <vt:lpstr>Calibri</vt:lpstr>
      <vt:lpstr>Tahoma</vt:lpstr>
      <vt:lpstr>Wingdings</vt:lpstr>
      <vt:lpstr>Office Theme</vt:lpstr>
      <vt:lpstr>CNPC Niger Petroleum S.A.</vt:lpstr>
      <vt:lpstr>Training Agenda</vt:lpstr>
      <vt:lpstr>Training Objectives</vt:lpstr>
      <vt:lpstr>Test your Knowledge</vt:lpstr>
      <vt:lpstr>Quiz Reflection</vt:lpstr>
      <vt:lpstr>Module 1:  Excel Essentials</vt:lpstr>
      <vt:lpstr>Module 1: Excel Essentials</vt:lpstr>
      <vt:lpstr>Module 1: Excel Essentials</vt:lpstr>
      <vt:lpstr>Module 1: Excel Essentials</vt:lpstr>
      <vt:lpstr>Module 1: Excel Essentials</vt:lpstr>
      <vt:lpstr>Module 1: Excel Essentials</vt:lpstr>
      <vt:lpstr>Module 2:  PowerPoint Fundamentals</vt:lpstr>
      <vt:lpstr>Module 2: PowerPoint Fundamentals</vt:lpstr>
      <vt:lpstr>Module 2: PowerPoint Fundamentals</vt:lpstr>
      <vt:lpstr>Module 2: PowerPoint Fundamentals</vt:lpstr>
      <vt:lpstr>Module 3:  Word for Professionals </vt:lpstr>
      <vt:lpstr>Module 3: Word for Professionals</vt:lpstr>
      <vt:lpstr>Module 3: Word for Professionals</vt:lpstr>
      <vt:lpstr>Module 3: Word for Professionals</vt:lpstr>
      <vt:lpstr>Module 3: Word for Professionals</vt:lpstr>
      <vt:lpstr>Module 3: Word for Professionals</vt:lpstr>
      <vt:lpstr>Module 4:  Time Management &amp; Productivity </vt:lpstr>
      <vt:lpstr>Module 4: Time Management &amp; Productivity</vt:lpstr>
      <vt:lpstr>Module 4: Time Management &amp; Productivity</vt:lpstr>
      <vt:lpstr>Module 4: Time Management &amp; Productivity</vt:lpstr>
      <vt:lpstr>Module 4: Time Management &amp; Productivity</vt:lpstr>
      <vt:lpstr>Test your Knowledge</vt:lpstr>
      <vt:lpstr>Workshop </vt:lpstr>
      <vt:lpstr>Workshop</vt:lpstr>
      <vt:lpstr>A Better You, A Better Niger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a.mostafa</dc:creator>
  <cp:lastModifiedBy>Ahmed Fathelbab</cp:lastModifiedBy>
  <cp:revision>39</cp:revision>
  <dcterms:created xsi:type="dcterms:W3CDTF">2024-08-12T11:19:28Z</dcterms:created>
  <dcterms:modified xsi:type="dcterms:W3CDTF">2025-11-03T12:09:21Z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2024-08-06T00:00:00Z</vt:filetime>
  </property>
  <property fmtid="{D5CDD505-2E9C-101B-9397-08002B2CF9AE}" pid="3" name="Creator">
    <vt:lpwstr>Microsoft® PowerPoint® 2019</vt:lpwstr>
  </property>
  <property fmtid="{D5CDD505-2E9C-101B-9397-08002B2CF9AE}" pid="4" name="LastSaved">
    <vt:filetime>2024-08-12T00:00:00Z</vt:filetime>
  </property>
  <property fmtid="{D5CDD505-2E9C-101B-9397-08002B2CF9AE}" pid="5" name="Producer">
    <vt:lpwstr>Microsoft® PowerPoint® 2019</vt:lpwstr>
  </property>
  <property fmtid="{D5CDD505-2E9C-101B-9397-08002B2CF9AE}" pid="6" name="MSIP_Label_60c30631-53b8-4fcf-bd6e-2fc80ac82da0_Enabled">
    <vt:lpwstr>true</vt:lpwstr>
  </property>
  <property fmtid="{D5CDD505-2E9C-101B-9397-08002B2CF9AE}" pid="7" name="MSIP_Label_60c30631-53b8-4fcf-bd6e-2fc80ac82da0_SetDate">
    <vt:lpwstr>2024-08-12T11:20:17Z</vt:lpwstr>
  </property>
  <property fmtid="{D5CDD505-2E9C-101B-9397-08002B2CF9AE}" pid="8" name="MSIP_Label_60c30631-53b8-4fcf-bd6e-2fc80ac82da0_Method">
    <vt:lpwstr>Standard</vt:lpwstr>
  </property>
  <property fmtid="{D5CDD505-2E9C-101B-9397-08002B2CF9AE}" pid="9" name="MSIP_Label_60c30631-53b8-4fcf-bd6e-2fc80ac82da0_Name">
    <vt:lpwstr>ALJ INTERNAL</vt:lpwstr>
  </property>
  <property fmtid="{D5CDD505-2E9C-101B-9397-08002B2CF9AE}" pid="10" name="MSIP_Label_60c30631-53b8-4fcf-bd6e-2fc80ac82da0_SiteId">
    <vt:lpwstr>8b5f60ac-e420-4280-b0a5-0d6fd7eaf2d7</vt:lpwstr>
  </property>
  <property fmtid="{D5CDD505-2E9C-101B-9397-08002B2CF9AE}" pid="11" name="MSIP_Label_60c30631-53b8-4fcf-bd6e-2fc80ac82da0_ActionId">
    <vt:lpwstr>b59d25a2-f112-448b-be06-388c48d376a7</vt:lpwstr>
  </property>
  <property fmtid="{D5CDD505-2E9C-101B-9397-08002B2CF9AE}" pid="12" name="MSIP_Label_60c30631-53b8-4fcf-bd6e-2fc80ac82da0_ContentBits">
    <vt:lpwstr>2</vt:lpwstr>
  </property>
  <property fmtid="{D5CDD505-2E9C-101B-9397-08002B2CF9AE}" pid="13" name="ClassificationContentMarkingFooterLocations">
    <vt:lpwstr>Office Theme:8</vt:lpwstr>
  </property>
  <property fmtid="{D5CDD505-2E9C-101B-9397-08002B2CF9AE}" pid="14" name="ClassificationContentMarkingFooterText">
    <vt:lpwstr>INTERNAL</vt:lpwstr>
  </property>
</Properties>
</file>