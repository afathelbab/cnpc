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15.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1" r:id="rId5"/>
    <p:sldId id="262" r:id="rId6"/>
    <p:sldId id="367" r:id="rId7"/>
    <p:sldId id="368" r:id="rId8"/>
    <p:sldId id="369" r:id="rId9"/>
    <p:sldId id="370" r:id="rId10"/>
    <p:sldId id="371" r:id="rId11"/>
    <p:sldId id="372" r:id="rId12"/>
    <p:sldId id="373" r:id="rId13"/>
    <p:sldId id="374" r:id="rId14"/>
    <p:sldId id="375" r:id="rId15"/>
    <p:sldId id="376" r:id="rId16"/>
    <p:sldId id="377" r:id="rId17"/>
    <p:sldId id="378" r:id="rId18"/>
    <p:sldId id="379" r:id="rId19"/>
    <p:sldId id="338" r:id="rId20"/>
    <p:sldId id="339" r:id="rId21"/>
    <p:sldId id="358" r:id="rId22"/>
    <p:sldId id="359" r:id="rId23"/>
    <p:sldId id="360" r:id="rId24"/>
    <p:sldId id="361" r:id="rId25"/>
    <p:sldId id="351" r:id="rId26"/>
    <p:sldId id="329" r:id="rId27"/>
    <p:sldId id="365" r:id="rId28"/>
    <p:sldId id="380" r:id="rId29"/>
    <p:sldId id="366" r:id="rId3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5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0" d="100"/>
          <a:sy n="60" d="100"/>
        </p:scale>
        <p:origin x="84" y="35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694433" y="190881"/>
            <a:ext cx="4539615" cy="330834"/>
          </a:xfrm>
          <a:prstGeom prst="rect">
            <a:avLst/>
          </a:prstGeom>
        </p:spPr>
        <p:txBody>
          <a:bodyPr wrap="square" lIns="0" tIns="0" rIns="0" bIns="0">
            <a:spAutoFit/>
          </a:bodyPr>
          <a:lstStyle>
            <a:lvl1pPr>
              <a:defRPr sz="2000" b="1" i="0">
                <a:solidFill>
                  <a:srgbClr val="CE2C2C"/>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1" i="0">
                <a:solidFill>
                  <a:srgbClr val="C00000"/>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6" name="Holder 6"/>
          <p:cNvSpPr>
            <a:spLocks noGrp="1"/>
          </p:cNvSpPr>
          <p:nvPr>
            <p:ph type="sldNum" sz="quarter" idx="7"/>
          </p:nvPr>
        </p:nvSpPr>
        <p:spPr/>
        <p:txBody>
          <a:bodyPr lIns="0" tIns="0" rIns="0" bIns="0"/>
          <a:lstStyle>
            <a:lvl1pPr>
              <a:defRPr sz="1200" b="1" i="0">
                <a:solidFill>
                  <a:schemeClr val="bg1"/>
                </a:solidFill>
                <a:latin typeface="Arial"/>
                <a:cs typeface="Arial"/>
              </a:defRPr>
            </a:lvl1pPr>
          </a:lstStyle>
          <a:p>
            <a:pPr marL="38100">
              <a:lnSpc>
                <a:spcPts val="131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CE2C2C"/>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1" i="0">
                <a:solidFill>
                  <a:srgbClr val="C00000"/>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6" name="Holder 6"/>
          <p:cNvSpPr>
            <a:spLocks noGrp="1"/>
          </p:cNvSpPr>
          <p:nvPr>
            <p:ph type="sldNum" sz="quarter" idx="7"/>
          </p:nvPr>
        </p:nvSpPr>
        <p:spPr/>
        <p:txBody>
          <a:bodyPr lIns="0" tIns="0" rIns="0" bIns="0"/>
          <a:lstStyle>
            <a:lvl1pPr>
              <a:defRPr sz="1200" b="1" i="0">
                <a:solidFill>
                  <a:schemeClr val="bg1"/>
                </a:solidFill>
                <a:latin typeface="Arial"/>
                <a:cs typeface="Arial"/>
              </a:defRPr>
            </a:lvl1pPr>
          </a:lstStyle>
          <a:p>
            <a:pPr marL="38100">
              <a:lnSpc>
                <a:spcPts val="1310"/>
              </a:lnSpc>
            </a:pPr>
            <a:fld id="{81D60167-4931-47E6-BA6A-407CBD079E47}" type="slidenum">
              <a:rPr spc="-25" dirty="0"/>
              <a:t>‹#›</a:t>
            </a:fld>
            <a:endParaRPr spc="-25"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CE2C2C"/>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7" name="Holder 7"/>
          <p:cNvSpPr>
            <a:spLocks noGrp="1"/>
          </p:cNvSpPr>
          <p:nvPr>
            <p:ph type="sldNum" sz="quarter" idx="7"/>
          </p:nvPr>
        </p:nvSpPr>
        <p:spPr/>
        <p:txBody>
          <a:bodyPr lIns="0" tIns="0" rIns="0" bIns="0"/>
          <a:lstStyle>
            <a:lvl1pPr>
              <a:defRPr sz="1200" b="1" i="0">
                <a:solidFill>
                  <a:schemeClr val="bg1"/>
                </a:solidFill>
                <a:latin typeface="Arial"/>
                <a:cs typeface="Arial"/>
              </a:defRPr>
            </a:lvl1pPr>
          </a:lstStyle>
          <a:p>
            <a:pPr marL="38100">
              <a:lnSpc>
                <a:spcPts val="131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694931"/>
            <a:ext cx="12192000" cy="163195"/>
          </a:xfrm>
          <a:custGeom>
            <a:avLst/>
            <a:gdLst/>
            <a:ahLst/>
            <a:cxnLst/>
            <a:rect l="l" t="t" r="r" b="b"/>
            <a:pathLst>
              <a:path w="12192000" h="163195">
                <a:moveTo>
                  <a:pt x="12192000" y="0"/>
                </a:moveTo>
                <a:lnTo>
                  <a:pt x="0" y="0"/>
                </a:lnTo>
                <a:lnTo>
                  <a:pt x="0" y="163066"/>
                </a:lnTo>
                <a:lnTo>
                  <a:pt x="12192000" y="163066"/>
                </a:lnTo>
                <a:lnTo>
                  <a:pt x="12192000" y="0"/>
                </a:lnTo>
                <a:close/>
              </a:path>
            </a:pathLst>
          </a:custGeom>
          <a:solidFill>
            <a:srgbClr val="5B9BD4"/>
          </a:solidFill>
        </p:spPr>
        <p:txBody>
          <a:bodyPr wrap="square" lIns="0" tIns="0" rIns="0" bIns="0" rtlCol="0"/>
          <a:lstStyle/>
          <a:p>
            <a:endParaRPr/>
          </a:p>
        </p:txBody>
      </p:sp>
      <p:sp>
        <p:nvSpPr>
          <p:cNvPr id="17" name="bg object 17"/>
          <p:cNvSpPr/>
          <p:nvPr/>
        </p:nvSpPr>
        <p:spPr>
          <a:xfrm>
            <a:off x="8153400" y="323088"/>
            <a:ext cx="1910080" cy="326390"/>
          </a:xfrm>
          <a:custGeom>
            <a:avLst/>
            <a:gdLst/>
            <a:ahLst/>
            <a:cxnLst/>
            <a:rect l="l" t="t" r="r" b="b"/>
            <a:pathLst>
              <a:path w="1910079" h="326390">
                <a:moveTo>
                  <a:pt x="1909572" y="0"/>
                </a:moveTo>
                <a:lnTo>
                  <a:pt x="0" y="0"/>
                </a:lnTo>
                <a:lnTo>
                  <a:pt x="0" y="326135"/>
                </a:lnTo>
                <a:lnTo>
                  <a:pt x="1909572" y="326135"/>
                </a:lnTo>
                <a:lnTo>
                  <a:pt x="1909572" y="0"/>
                </a:lnTo>
                <a:close/>
              </a:path>
            </a:pathLst>
          </a:custGeom>
          <a:solidFill>
            <a:srgbClr val="F1F1F1"/>
          </a:solidFill>
        </p:spPr>
        <p:txBody>
          <a:bodyPr wrap="square" lIns="0" tIns="0" rIns="0" bIns="0" rtlCol="0"/>
          <a:lstStyle/>
          <a:p>
            <a:endParaRPr/>
          </a:p>
        </p:txBody>
      </p:sp>
      <p:sp>
        <p:nvSpPr>
          <p:cNvPr id="18" name="bg object 18"/>
          <p:cNvSpPr/>
          <p:nvPr/>
        </p:nvSpPr>
        <p:spPr>
          <a:xfrm>
            <a:off x="9244583" y="323088"/>
            <a:ext cx="2947670" cy="326390"/>
          </a:xfrm>
          <a:custGeom>
            <a:avLst/>
            <a:gdLst/>
            <a:ahLst/>
            <a:cxnLst/>
            <a:rect l="l" t="t" r="r" b="b"/>
            <a:pathLst>
              <a:path w="2947670" h="326390">
                <a:moveTo>
                  <a:pt x="2947416" y="0"/>
                </a:moveTo>
                <a:lnTo>
                  <a:pt x="270891" y="0"/>
                </a:lnTo>
                <a:lnTo>
                  <a:pt x="0" y="320166"/>
                </a:lnTo>
                <a:lnTo>
                  <a:pt x="0" y="326135"/>
                </a:lnTo>
                <a:lnTo>
                  <a:pt x="2947416" y="326135"/>
                </a:lnTo>
                <a:lnTo>
                  <a:pt x="2947416" y="0"/>
                </a:lnTo>
                <a:close/>
              </a:path>
            </a:pathLst>
          </a:custGeom>
          <a:solidFill>
            <a:srgbClr val="1C81C5"/>
          </a:solidFill>
        </p:spPr>
        <p:txBody>
          <a:bodyPr wrap="square" lIns="0" tIns="0" rIns="0" bIns="0" rtlCol="0"/>
          <a:lstStyle/>
          <a:p>
            <a:endParaRPr/>
          </a:p>
        </p:txBody>
      </p:sp>
      <p:sp>
        <p:nvSpPr>
          <p:cNvPr id="19" name="bg object 19"/>
          <p:cNvSpPr/>
          <p:nvPr/>
        </p:nvSpPr>
        <p:spPr>
          <a:xfrm>
            <a:off x="8906255" y="323088"/>
            <a:ext cx="1024255" cy="326390"/>
          </a:xfrm>
          <a:custGeom>
            <a:avLst/>
            <a:gdLst/>
            <a:ahLst/>
            <a:cxnLst/>
            <a:rect l="l" t="t" r="r" b="b"/>
            <a:pathLst>
              <a:path w="1024254" h="326390">
                <a:moveTo>
                  <a:pt x="1024127" y="0"/>
                </a:moveTo>
                <a:lnTo>
                  <a:pt x="594614" y="0"/>
                </a:lnTo>
                <a:lnTo>
                  <a:pt x="0" y="326135"/>
                </a:lnTo>
                <a:lnTo>
                  <a:pt x="429514" y="326135"/>
                </a:lnTo>
                <a:lnTo>
                  <a:pt x="1024127" y="0"/>
                </a:lnTo>
                <a:close/>
              </a:path>
            </a:pathLst>
          </a:custGeom>
          <a:solidFill>
            <a:srgbClr val="D42F38"/>
          </a:solidFill>
        </p:spPr>
        <p:txBody>
          <a:bodyPr wrap="square" lIns="0" tIns="0" rIns="0" bIns="0" rtlCol="0"/>
          <a:lstStyle/>
          <a:p>
            <a:endParaRPr/>
          </a:p>
        </p:txBody>
      </p:sp>
      <p:sp>
        <p:nvSpPr>
          <p:cNvPr id="20" name="bg object 20"/>
          <p:cNvSpPr/>
          <p:nvPr/>
        </p:nvSpPr>
        <p:spPr>
          <a:xfrm>
            <a:off x="8587740" y="320040"/>
            <a:ext cx="1024255" cy="329565"/>
          </a:xfrm>
          <a:custGeom>
            <a:avLst/>
            <a:gdLst/>
            <a:ahLst/>
            <a:cxnLst/>
            <a:rect l="l" t="t" r="r" b="b"/>
            <a:pathLst>
              <a:path w="1024254" h="329565">
                <a:moveTo>
                  <a:pt x="1024127" y="0"/>
                </a:moveTo>
                <a:lnTo>
                  <a:pt x="600201" y="0"/>
                </a:lnTo>
                <a:lnTo>
                  <a:pt x="0" y="329183"/>
                </a:lnTo>
                <a:lnTo>
                  <a:pt x="423925" y="329183"/>
                </a:lnTo>
                <a:lnTo>
                  <a:pt x="1024127" y="0"/>
                </a:lnTo>
                <a:close/>
              </a:path>
            </a:pathLst>
          </a:custGeom>
          <a:solidFill>
            <a:srgbClr val="FFC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000" b="1" i="0">
                <a:solidFill>
                  <a:srgbClr val="CE2C2C"/>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5" name="Holder 5"/>
          <p:cNvSpPr>
            <a:spLocks noGrp="1"/>
          </p:cNvSpPr>
          <p:nvPr>
            <p:ph type="sldNum" sz="quarter" idx="7"/>
          </p:nvPr>
        </p:nvSpPr>
        <p:spPr/>
        <p:txBody>
          <a:bodyPr lIns="0" tIns="0" rIns="0" bIns="0"/>
          <a:lstStyle>
            <a:lvl1pPr>
              <a:defRPr sz="1200" b="1" i="0">
                <a:solidFill>
                  <a:schemeClr val="bg1"/>
                </a:solidFill>
                <a:latin typeface="Arial"/>
                <a:cs typeface="Arial"/>
              </a:defRPr>
            </a:lvl1pPr>
          </a:lstStyle>
          <a:p>
            <a:pPr marL="38100">
              <a:lnSpc>
                <a:spcPts val="1310"/>
              </a:lnSpc>
            </a:pPr>
            <a:fld id="{81D60167-4931-47E6-BA6A-407CBD079E47}" type="slidenum">
              <a:rPr spc="-25" dirty="0"/>
              <a:t>‹#›</a:t>
            </a:fld>
            <a:endParaRPr spc="-25"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4" name="Holder 4"/>
          <p:cNvSpPr>
            <a:spLocks noGrp="1"/>
          </p:cNvSpPr>
          <p:nvPr>
            <p:ph type="sldNum" sz="quarter" idx="7"/>
          </p:nvPr>
        </p:nvSpPr>
        <p:spPr/>
        <p:txBody>
          <a:bodyPr lIns="0" tIns="0" rIns="0" bIns="0"/>
          <a:lstStyle>
            <a:lvl1pPr>
              <a:defRPr sz="1200" b="1" i="0">
                <a:solidFill>
                  <a:schemeClr val="bg1"/>
                </a:solidFill>
                <a:latin typeface="Arial"/>
                <a:cs typeface="Arial"/>
              </a:defRPr>
            </a:lvl1pPr>
          </a:lstStyle>
          <a:p>
            <a:pPr marL="38100">
              <a:lnSpc>
                <a:spcPts val="131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694931"/>
            <a:ext cx="12192000" cy="163195"/>
          </a:xfrm>
          <a:custGeom>
            <a:avLst/>
            <a:gdLst/>
            <a:ahLst/>
            <a:cxnLst/>
            <a:rect l="l" t="t" r="r" b="b"/>
            <a:pathLst>
              <a:path w="12192000" h="163195">
                <a:moveTo>
                  <a:pt x="12192000" y="0"/>
                </a:moveTo>
                <a:lnTo>
                  <a:pt x="0" y="0"/>
                </a:lnTo>
                <a:lnTo>
                  <a:pt x="0" y="163066"/>
                </a:lnTo>
                <a:lnTo>
                  <a:pt x="12192000" y="163066"/>
                </a:lnTo>
                <a:lnTo>
                  <a:pt x="12192000" y="0"/>
                </a:lnTo>
                <a:close/>
              </a:path>
            </a:pathLst>
          </a:custGeom>
          <a:solidFill>
            <a:srgbClr val="5B9BD4"/>
          </a:solidFill>
        </p:spPr>
        <p:txBody>
          <a:bodyPr wrap="square" lIns="0" tIns="0" rIns="0" bIns="0" rtlCol="0"/>
          <a:lstStyle/>
          <a:p>
            <a:endParaRPr/>
          </a:p>
        </p:txBody>
      </p:sp>
      <p:sp>
        <p:nvSpPr>
          <p:cNvPr id="17" name="bg object 17"/>
          <p:cNvSpPr/>
          <p:nvPr/>
        </p:nvSpPr>
        <p:spPr>
          <a:xfrm>
            <a:off x="8153400" y="323088"/>
            <a:ext cx="1910080" cy="326390"/>
          </a:xfrm>
          <a:custGeom>
            <a:avLst/>
            <a:gdLst/>
            <a:ahLst/>
            <a:cxnLst/>
            <a:rect l="l" t="t" r="r" b="b"/>
            <a:pathLst>
              <a:path w="1910079" h="326390">
                <a:moveTo>
                  <a:pt x="1909572" y="0"/>
                </a:moveTo>
                <a:lnTo>
                  <a:pt x="0" y="0"/>
                </a:lnTo>
                <a:lnTo>
                  <a:pt x="0" y="326135"/>
                </a:lnTo>
                <a:lnTo>
                  <a:pt x="1909572" y="326135"/>
                </a:lnTo>
                <a:lnTo>
                  <a:pt x="1909572" y="0"/>
                </a:lnTo>
                <a:close/>
              </a:path>
            </a:pathLst>
          </a:custGeom>
          <a:solidFill>
            <a:srgbClr val="F1F1F1"/>
          </a:solidFill>
        </p:spPr>
        <p:txBody>
          <a:bodyPr wrap="square" lIns="0" tIns="0" rIns="0" bIns="0" rtlCol="0"/>
          <a:lstStyle/>
          <a:p>
            <a:endParaRPr/>
          </a:p>
        </p:txBody>
      </p:sp>
      <p:sp>
        <p:nvSpPr>
          <p:cNvPr id="18" name="bg object 18"/>
          <p:cNvSpPr/>
          <p:nvPr/>
        </p:nvSpPr>
        <p:spPr>
          <a:xfrm>
            <a:off x="9244583" y="323088"/>
            <a:ext cx="2947670" cy="326390"/>
          </a:xfrm>
          <a:custGeom>
            <a:avLst/>
            <a:gdLst/>
            <a:ahLst/>
            <a:cxnLst/>
            <a:rect l="l" t="t" r="r" b="b"/>
            <a:pathLst>
              <a:path w="2947670" h="326390">
                <a:moveTo>
                  <a:pt x="2947416" y="0"/>
                </a:moveTo>
                <a:lnTo>
                  <a:pt x="270891" y="0"/>
                </a:lnTo>
                <a:lnTo>
                  <a:pt x="0" y="320166"/>
                </a:lnTo>
                <a:lnTo>
                  <a:pt x="0" y="326135"/>
                </a:lnTo>
                <a:lnTo>
                  <a:pt x="2947416" y="326135"/>
                </a:lnTo>
                <a:lnTo>
                  <a:pt x="2947416" y="0"/>
                </a:lnTo>
                <a:close/>
              </a:path>
            </a:pathLst>
          </a:custGeom>
          <a:solidFill>
            <a:srgbClr val="1C81C5"/>
          </a:solidFill>
        </p:spPr>
        <p:txBody>
          <a:bodyPr wrap="square" lIns="0" tIns="0" rIns="0" bIns="0" rtlCol="0"/>
          <a:lstStyle/>
          <a:p>
            <a:endParaRPr/>
          </a:p>
        </p:txBody>
      </p:sp>
      <p:sp>
        <p:nvSpPr>
          <p:cNvPr id="19" name="bg object 19"/>
          <p:cNvSpPr/>
          <p:nvPr/>
        </p:nvSpPr>
        <p:spPr>
          <a:xfrm>
            <a:off x="8906255" y="323088"/>
            <a:ext cx="1024255" cy="326390"/>
          </a:xfrm>
          <a:custGeom>
            <a:avLst/>
            <a:gdLst/>
            <a:ahLst/>
            <a:cxnLst/>
            <a:rect l="l" t="t" r="r" b="b"/>
            <a:pathLst>
              <a:path w="1024254" h="326390">
                <a:moveTo>
                  <a:pt x="1024127" y="0"/>
                </a:moveTo>
                <a:lnTo>
                  <a:pt x="594614" y="0"/>
                </a:lnTo>
                <a:lnTo>
                  <a:pt x="0" y="326135"/>
                </a:lnTo>
                <a:lnTo>
                  <a:pt x="429514" y="326135"/>
                </a:lnTo>
                <a:lnTo>
                  <a:pt x="1024127" y="0"/>
                </a:lnTo>
                <a:close/>
              </a:path>
            </a:pathLst>
          </a:custGeom>
          <a:solidFill>
            <a:srgbClr val="D42F38"/>
          </a:solidFill>
        </p:spPr>
        <p:txBody>
          <a:bodyPr wrap="square" lIns="0" tIns="0" rIns="0" bIns="0" rtlCol="0"/>
          <a:lstStyle/>
          <a:p>
            <a:endParaRPr/>
          </a:p>
        </p:txBody>
      </p:sp>
      <p:sp>
        <p:nvSpPr>
          <p:cNvPr id="20" name="bg object 20"/>
          <p:cNvSpPr/>
          <p:nvPr/>
        </p:nvSpPr>
        <p:spPr>
          <a:xfrm>
            <a:off x="8587740" y="320040"/>
            <a:ext cx="1024255" cy="329565"/>
          </a:xfrm>
          <a:custGeom>
            <a:avLst/>
            <a:gdLst/>
            <a:ahLst/>
            <a:cxnLst/>
            <a:rect l="l" t="t" r="r" b="b"/>
            <a:pathLst>
              <a:path w="1024254" h="329565">
                <a:moveTo>
                  <a:pt x="1024127" y="0"/>
                </a:moveTo>
                <a:lnTo>
                  <a:pt x="600201" y="0"/>
                </a:lnTo>
                <a:lnTo>
                  <a:pt x="0" y="329183"/>
                </a:lnTo>
                <a:lnTo>
                  <a:pt x="423925" y="329183"/>
                </a:lnTo>
                <a:lnTo>
                  <a:pt x="1024127" y="0"/>
                </a:lnTo>
                <a:close/>
              </a:path>
            </a:pathLst>
          </a:custGeom>
          <a:solidFill>
            <a:srgbClr val="FFC000"/>
          </a:solidFill>
        </p:spPr>
        <p:txBody>
          <a:bodyPr wrap="square" lIns="0" tIns="0" rIns="0" bIns="0" rtlCol="0"/>
          <a:lstStyle/>
          <a:p>
            <a:endParaRPr/>
          </a:p>
        </p:txBody>
      </p:sp>
      <p:pic>
        <p:nvPicPr>
          <p:cNvPr id="21" name="bg object 21"/>
          <p:cNvPicPr/>
          <p:nvPr/>
        </p:nvPicPr>
        <p:blipFill>
          <a:blip r:embed="rId7" cstate="print"/>
          <a:stretch>
            <a:fillRect/>
          </a:stretch>
        </p:blipFill>
        <p:spPr>
          <a:xfrm>
            <a:off x="884176" y="224295"/>
            <a:ext cx="464730" cy="514995"/>
          </a:xfrm>
          <a:prstGeom prst="rect">
            <a:avLst/>
          </a:prstGeom>
        </p:spPr>
      </p:pic>
      <p:sp>
        <p:nvSpPr>
          <p:cNvPr id="2" name="Holder 2"/>
          <p:cNvSpPr>
            <a:spLocks noGrp="1"/>
          </p:cNvSpPr>
          <p:nvPr>
            <p:ph type="title"/>
          </p:nvPr>
        </p:nvSpPr>
        <p:spPr>
          <a:xfrm>
            <a:off x="1437258" y="35813"/>
            <a:ext cx="6100064" cy="695071"/>
          </a:xfrm>
          <a:prstGeom prst="rect">
            <a:avLst/>
          </a:prstGeom>
        </p:spPr>
        <p:txBody>
          <a:bodyPr wrap="square" lIns="0" tIns="0" rIns="0" bIns="0">
            <a:spAutoFit/>
          </a:bodyPr>
          <a:lstStyle>
            <a:lvl1pPr>
              <a:defRPr sz="2000" b="1" i="0">
                <a:solidFill>
                  <a:srgbClr val="CE2C2C"/>
                </a:solidFill>
                <a:latin typeface="Arial"/>
                <a:cs typeface="Arial"/>
              </a:defRPr>
            </a:lvl1pPr>
          </a:lstStyle>
          <a:p>
            <a:endParaRPr/>
          </a:p>
        </p:txBody>
      </p:sp>
      <p:sp>
        <p:nvSpPr>
          <p:cNvPr id="3" name="Holder 3"/>
          <p:cNvSpPr>
            <a:spLocks noGrp="1"/>
          </p:cNvSpPr>
          <p:nvPr>
            <p:ph type="body" idx="1"/>
          </p:nvPr>
        </p:nvSpPr>
        <p:spPr>
          <a:xfrm>
            <a:off x="213156" y="3138043"/>
            <a:ext cx="7921625" cy="2762885"/>
          </a:xfrm>
          <a:prstGeom prst="rect">
            <a:avLst/>
          </a:prstGeom>
        </p:spPr>
        <p:txBody>
          <a:bodyPr wrap="square" lIns="0" tIns="0" rIns="0" bIns="0">
            <a:spAutoFit/>
          </a:bodyPr>
          <a:lstStyle>
            <a:lvl1pPr>
              <a:defRPr sz="2000" b="1" i="0">
                <a:solidFill>
                  <a:srgbClr val="C00000"/>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11/11/2025</a:t>
            </a:fld>
            <a:endParaRPr lang="en-US"/>
          </a:p>
        </p:txBody>
      </p:sp>
      <p:sp>
        <p:nvSpPr>
          <p:cNvPr id="6" name="Holder 6"/>
          <p:cNvSpPr>
            <a:spLocks noGrp="1"/>
          </p:cNvSpPr>
          <p:nvPr>
            <p:ph type="sldNum" sz="quarter" idx="7"/>
          </p:nvPr>
        </p:nvSpPr>
        <p:spPr>
          <a:xfrm>
            <a:off x="11891771" y="6725200"/>
            <a:ext cx="259715" cy="184784"/>
          </a:xfrm>
          <a:prstGeom prst="rect">
            <a:avLst/>
          </a:prstGeom>
        </p:spPr>
        <p:txBody>
          <a:bodyPr wrap="square" lIns="0" tIns="0" rIns="0" bIns="0">
            <a:spAutoFit/>
          </a:bodyPr>
          <a:lstStyle>
            <a:lvl1pPr>
              <a:defRPr sz="1200" b="1" i="0">
                <a:solidFill>
                  <a:schemeClr val="bg1"/>
                </a:solidFill>
                <a:latin typeface="Arial"/>
                <a:cs typeface="Arial"/>
              </a:defRPr>
            </a:lvl1pPr>
          </a:lstStyle>
          <a:p>
            <a:pPr marL="38100">
              <a:lnSpc>
                <a:spcPts val="1310"/>
              </a:lnSpc>
            </a:pPr>
            <a:fld id="{81D60167-4931-47E6-BA6A-407CBD079E47}" type="slidenum">
              <a:rPr spc="-25" dirty="0"/>
              <a:t>‹#›</a:t>
            </a:fld>
            <a:endParaRPr spc="-25" dirty="0"/>
          </a:p>
        </p:txBody>
      </p:sp>
      <p:sp>
        <p:nvSpPr>
          <p:cNvPr id="8" name="TextBox 7">
            <a:extLst>
              <a:ext uri="{FF2B5EF4-FFF2-40B4-BE49-F238E27FC236}">
                <a16:creationId xmlns:a16="http://schemas.microsoft.com/office/drawing/2014/main" id="{17B4527F-BB2F-F09E-EBA3-74D913CD1B79}"/>
              </a:ext>
            </a:extLst>
          </p:cNvPr>
          <p:cNvSpPr txBox="1"/>
          <p:nvPr userDrawn="1">
            <p:extLst>
              <p:ext uri="{1162E1C5-73C7-4A58-AE30-91384D911F3F}">
                <p184:classification xmlns:p184="http://schemas.microsoft.com/office/powerpoint/2018/4/main" xmlns="" val="ftr"/>
              </p:ext>
            </p:extLst>
          </p:nvPr>
        </p:nvSpPr>
        <p:spPr>
          <a:xfrm>
            <a:off x="5838000" y="6642100"/>
            <a:ext cx="544512"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fathelbab.github.io/cnpc/computer-basics-soft-skills/day2/quiz.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fathelbab.github.io/cnpc/computer-basics-soft-skills/day1/quiz.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hyperlink" Target="https://afathelbab.github.io/cnpc/computer-basics-soft-skills/workshops/" TargetMode="Externa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494833"/>
            <a:ext cx="12191999" cy="4363164"/>
          </a:xfrm>
          <a:prstGeom prst="rect">
            <a:avLst/>
          </a:prstGeom>
        </p:spPr>
      </p:pic>
      <p:sp>
        <p:nvSpPr>
          <p:cNvPr id="3" name="object 3"/>
          <p:cNvSpPr/>
          <p:nvPr/>
        </p:nvSpPr>
        <p:spPr>
          <a:xfrm>
            <a:off x="0" y="10667"/>
            <a:ext cx="12192000" cy="6847840"/>
          </a:xfrm>
          <a:custGeom>
            <a:avLst/>
            <a:gdLst/>
            <a:ahLst/>
            <a:cxnLst/>
            <a:rect l="l" t="t" r="r" b="b"/>
            <a:pathLst>
              <a:path w="12192000" h="6847840">
                <a:moveTo>
                  <a:pt x="12192000" y="0"/>
                </a:moveTo>
                <a:lnTo>
                  <a:pt x="0" y="0"/>
                </a:lnTo>
                <a:lnTo>
                  <a:pt x="0" y="6847330"/>
                </a:lnTo>
                <a:lnTo>
                  <a:pt x="12192000" y="6847330"/>
                </a:lnTo>
                <a:lnTo>
                  <a:pt x="12192000" y="0"/>
                </a:lnTo>
                <a:close/>
              </a:path>
            </a:pathLst>
          </a:custGeom>
          <a:solidFill>
            <a:srgbClr val="FFFFFF">
              <a:alpha val="74900"/>
            </a:srgbClr>
          </a:solidFill>
        </p:spPr>
        <p:txBody>
          <a:bodyPr wrap="square" lIns="0" tIns="0" rIns="0" bIns="0" rtlCol="0"/>
          <a:lstStyle/>
          <a:p>
            <a:endParaRPr/>
          </a:p>
        </p:txBody>
      </p:sp>
      <p:sp>
        <p:nvSpPr>
          <p:cNvPr id="4" name="object 4"/>
          <p:cNvSpPr txBox="1"/>
          <p:nvPr/>
        </p:nvSpPr>
        <p:spPr>
          <a:xfrm>
            <a:off x="4608957" y="4249673"/>
            <a:ext cx="3016250" cy="848360"/>
          </a:xfrm>
          <a:prstGeom prst="rect">
            <a:avLst/>
          </a:prstGeom>
        </p:spPr>
        <p:txBody>
          <a:bodyPr vert="horz" wrap="square" lIns="0" tIns="12700" rIns="0" bIns="0" rtlCol="0">
            <a:spAutoFit/>
          </a:bodyPr>
          <a:lstStyle/>
          <a:p>
            <a:pPr marL="12700" marR="5080" indent="154940">
              <a:lnSpc>
                <a:spcPct val="150000"/>
              </a:lnSpc>
              <a:spcBef>
                <a:spcPts val="100"/>
              </a:spcBef>
            </a:pPr>
            <a:r>
              <a:rPr sz="1800" dirty="0">
                <a:latin typeface="Tahoma"/>
                <a:cs typeface="Tahoma"/>
              </a:rPr>
              <a:t>CNPC</a:t>
            </a:r>
            <a:r>
              <a:rPr sz="1800" spc="-20" dirty="0">
                <a:latin typeface="Tahoma"/>
                <a:cs typeface="Tahoma"/>
              </a:rPr>
              <a:t> </a:t>
            </a:r>
            <a:r>
              <a:rPr sz="1800" dirty="0">
                <a:latin typeface="Tahoma"/>
                <a:cs typeface="Tahoma"/>
              </a:rPr>
              <a:t>Niger </a:t>
            </a:r>
            <a:r>
              <a:rPr sz="1800" spc="-10" dirty="0">
                <a:latin typeface="Tahoma"/>
                <a:cs typeface="Tahoma"/>
              </a:rPr>
              <a:t>Petroleum</a:t>
            </a:r>
            <a:r>
              <a:rPr sz="1800" spc="-35" dirty="0">
                <a:latin typeface="Tahoma"/>
                <a:cs typeface="Tahoma"/>
              </a:rPr>
              <a:t> </a:t>
            </a:r>
            <a:r>
              <a:rPr sz="1800" spc="-20" dirty="0">
                <a:latin typeface="Tahoma"/>
                <a:cs typeface="Tahoma"/>
              </a:rPr>
              <a:t>S.A. </a:t>
            </a:r>
            <a:r>
              <a:rPr sz="1800" dirty="0">
                <a:latin typeface="Tahoma"/>
                <a:cs typeface="Tahoma"/>
              </a:rPr>
              <a:t>CNPC</a:t>
            </a:r>
            <a:r>
              <a:rPr sz="1800" spc="-50" dirty="0">
                <a:latin typeface="Tahoma"/>
                <a:cs typeface="Tahoma"/>
              </a:rPr>
              <a:t> </a:t>
            </a:r>
            <a:r>
              <a:rPr sz="1800" dirty="0">
                <a:latin typeface="Tahoma"/>
                <a:cs typeface="Tahoma"/>
              </a:rPr>
              <a:t>Global</a:t>
            </a:r>
            <a:r>
              <a:rPr sz="1800" spc="-50" dirty="0">
                <a:latin typeface="Tahoma"/>
                <a:cs typeface="Tahoma"/>
              </a:rPr>
              <a:t> </a:t>
            </a:r>
            <a:r>
              <a:rPr sz="1800" spc="-20" dirty="0">
                <a:latin typeface="Tahoma"/>
                <a:cs typeface="Tahoma"/>
              </a:rPr>
              <a:t>Solutions</a:t>
            </a:r>
            <a:r>
              <a:rPr sz="1800" spc="-55" dirty="0">
                <a:latin typeface="Tahoma"/>
                <a:cs typeface="Tahoma"/>
              </a:rPr>
              <a:t> </a:t>
            </a:r>
            <a:r>
              <a:rPr sz="1800" spc="-10" dirty="0">
                <a:latin typeface="Tahoma"/>
                <a:cs typeface="Tahoma"/>
              </a:rPr>
              <a:t>Co.</a:t>
            </a:r>
            <a:r>
              <a:rPr sz="1800" spc="-25" dirty="0">
                <a:latin typeface="Tahoma"/>
                <a:cs typeface="Tahoma"/>
              </a:rPr>
              <a:t> Ltd</a:t>
            </a:r>
            <a:endParaRPr sz="1800">
              <a:latin typeface="Tahoma"/>
              <a:cs typeface="Tahoma"/>
            </a:endParaRPr>
          </a:p>
        </p:txBody>
      </p:sp>
      <p:sp>
        <p:nvSpPr>
          <p:cNvPr id="5" name="object 5"/>
          <p:cNvSpPr txBox="1">
            <a:spLocks noGrp="1"/>
          </p:cNvSpPr>
          <p:nvPr>
            <p:ph type="title"/>
          </p:nvPr>
        </p:nvSpPr>
        <p:spPr>
          <a:prstGeom prst="rect">
            <a:avLst/>
          </a:prstGeom>
        </p:spPr>
        <p:txBody>
          <a:bodyPr vert="horz" wrap="square" lIns="0" tIns="288544" rIns="0" bIns="0" rtlCol="0">
            <a:spAutoFit/>
          </a:bodyPr>
          <a:lstStyle/>
          <a:p>
            <a:pPr marL="59055">
              <a:lnSpc>
                <a:spcPct val="100000"/>
              </a:lnSpc>
              <a:spcBef>
                <a:spcPts val="100"/>
              </a:spcBef>
            </a:pPr>
            <a:r>
              <a:rPr sz="2400" dirty="0">
                <a:solidFill>
                  <a:srgbClr val="CD1C1C"/>
                </a:solidFill>
              </a:rPr>
              <a:t>CNPC</a:t>
            </a:r>
            <a:r>
              <a:rPr sz="2400" spc="-55" dirty="0">
                <a:solidFill>
                  <a:srgbClr val="CD1C1C"/>
                </a:solidFill>
              </a:rPr>
              <a:t> </a:t>
            </a:r>
            <a:r>
              <a:rPr sz="2400" dirty="0">
                <a:solidFill>
                  <a:srgbClr val="CD1C1C"/>
                </a:solidFill>
              </a:rPr>
              <a:t>Niger</a:t>
            </a:r>
            <a:r>
              <a:rPr sz="2400" spc="-65" dirty="0">
                <a:solidFill>
                  <a:srgbClr val="CD1C1C"/>
                </a:solidFill>
              </a:rPr>
              <a:t> </a:t>
            </a:r>
            <a:r>
              <a:rPr sz="2400" dirty="0">
                <a:solidFill>
                  <a:srgbClr val="CD1C1C"/>
                </a:solidFill>
              </a:rPr>
              <a:t>Petroleum</a:t>
            </a:r>
            <a:r>
              <a:rPr sz="2400" spc="-65" dirty="0">
                <a:solidFill>
                  <a:srgbClr val="CD1C1C"/>
                </a:solidFill>
              </a:rPr>
              <a:t> </a:t>
            </a:r>
            <a:r>
              <a:rPr sz="2400" spc="-20" dirty="0">
                <a:solidFill>
                  <a:srgbClr val="CD1C1C"/>
                </a:solidFill>
              </a:rPr>
              <a:t>S.A.</a:t>
            </a:r>
            <a:endParaRPr sz="2400" dirty="0"/>
          </a:p>
        </p:txBody>
      </p:sp>
      <p:pic>
        <p:nvPicPr>
          <p:cNvPr id="6" name="object 6"/>
          <p:cNvPicPr/>
          <p:nvPr/>
        </p:nvPicPr>
        <p:blipFill>
          <a:blip r:embed="rId3" cstate="print"/>
          <a:stretch>
            <a:fillRect/>
          </a:stretch>
        </p:blipFill>
        <p:spPr>
          <a:xfrm>
            <a:off x="871727" y="211836"/>
            <a:ext cx="493776" cy="544068"/>
          </a:xfrm>
          <a:prstGeom prst="rect">
            <a:avLst/>
          </a:prstGeom>
        </p:spPr>
      </p:pic>
      <p:sp>
        <p:nvSpPr>
          <p:cNvPr id="7" name="object 7"/>
          <p:cNvSpPr txBox="1"/>
          <p:nvPr/>
        </p:nvSpPr>
        <p:spPr>
          <a:xfrm>
            <a:off x="4231131" y="1939533"/>
            <a:ext cx="3771901" cy="566822"/>
          </a:xfrm>
          <a:prstGeom prst="rect">
            <a:avLst/>
          </a:prstGeom>
        </p:spPr>
        <p:txBody>
          <a:bodyPr vert="horz" wrap="square" lIns="0" tIns="12700" rIns="0" bIns="0" rtlCol="0">
            <a:spAutoFit/>
          </a:bodyPr>
          <a:lstStyle/>
          <a:p>
            <a:pPr marL="12700">
              <a:lnSpc>
                <a:spcPct val="100000"/>
              </a:lnSpc>
              <a:spcBef>
                <a:spcPts val="100"/>
              </a:spcBef>
            </a:pPr>
            <a:r>
              <a:rPr lang="en-US" sz="3600" b="1" spc="-25" dirty="0" smtClean="0">
                <a:solidFill>
                  <a:srgbClr val="2D5395"/>
                </a:solidFill>
                <a:latin typeface="Arial"/>
                <a:cs typeface="Arial"/>
              </a:rPr>
              <a:t>Computer Basics</a:t>
            </a:r>
            <a:endParaRPr sz="3600" dirty="0">
              <a:latin typeface="Arial"/>
              <a:cs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2156" rIns="0" bIns="0" rtlCol="0">
            <a:spAutoFit/>
          </a:bodyPr>
          <a:lstStyle/>
          <a:p>
            <a:pPr marL="2454275">
              <a:lnSpc>
                <a:spcPct val="100000"/>
              </a:lnSpc>
              <a:spcBef>
                <a:spcPts val="95"/>
              </a:spcBef>
            </a:pPr>
            <a:r>
              <a:rPr sz="2800" spc="-30" dirty="0"/>
              <a:t>Training</a:t>
            </a:r>
            <a:r>
              <a:rPr sz="2800" spc="-135" dirty="0"/>
              <a:t> </a:t>
            </a:r>
            <a:r>
              <a:rPr sz="2800" spc="-10" dirty="0"/>
              <a:t>Agenda</a:t>
            </a:r>
            <a:endParaRPr sz="2800"/>
          </a:p>
        </p:txBody>
      </p:sp>
      <p:sp>
        <p:nvSpPr>
          <p:cNvPr id="3" name="object 3"/>
          <p:cNvSpPr txBox="1"/>
          <p:nvPr/>
        </p:nvSpPr>
        <p:spPr>
          <a:xfrm>
            <a:off x="925474" y="1886559"/>
            <a:ext cx="6846926" cy="863698"/>
          </a:xfrm>
          <a:prstGeom prst="rect">
            <a:avLst/>
          </a:prstGeom>
        </p:spPr>
        <p:txBody>
          <a:bodyPr vert="horz" wrap="square" lIns="0" tIns="131445" rIns="0" bIns="0" rtlCol="0">
            <a:spAutoFit/>
          </a:bodyPr>
          <a:lstStyle/>
          <a:p>
            <a:pPr marL="355600" indent="-342900">
              <a:lnSpc>
                <a:spcPct val="100000"/>
              </a:lnSpc>
              <a:spcBef>
                <a:spcPts val="935"/>
              </a:spcBef>
              <a:buClr>
                <a:srgbClr val="44536A"/>
              </a:buClr>
              <a:buChar char="-"/>
              <a:tabLst>
                <a:tab pos="355600" algn="l"/>
              </a:tabLst>
            </a:pPr>
            <a:r>
              <a:rPr sz="2000" dirty="0" smtClean="0">
                <a:solidFill>
                  <a:schemeClr val="tx1"/>
                </a:solidFill>
                <a:latin typeface="Arial MT"/>
                <a:cs typeface="Arial MT"/>
              </a:rPr>
              <a:t>Lecture</a:t>
            </a:r>
            <a:r>
              <a:rPr sz="2000" spc="-60" dirty="0" smtClean="0">
                <a:solidFill>
                  <a:schemeClr val="tx1"/>
                </a:solidFill>
                <a:latin typeface="Arial MT"/>
                <a:cs typeface="Arial MT"/>
              </a:rPr>
              <a:t> </a:t>
            </a:r>
            <a:r>
              <a:rPr sz="2000" dirty="0">
                <a:solidFill>
                  <a:schemeClr val="tx1"/>
                </a:solidFill>
                <a:latin typeface="Arial MT"/>
                <a:cs typeface="Arial MT"/>
              </a:rPr>
              <a:t>1</a:t>
            </a:r>
            <a:r>
              <a:rPr sz="2000" spc="-20" dirty="0">
                <a:solidFill>
                  <a:schemeClr val="tx1"/>
                </a:solidFill>
                <a:latin typeface="Arial MT"/>
                <a:cs typeface="Arial MT"/>
              </a:rPr>
              <a:t> </a:t>
            </a:r>
            <a:r>
              <a:rPr sz="2000" dirty="0">
                <a:solidFill>
                  <a:schemeClr val="tx1"/>
                </a:solidFill>
                <a:latin typeface="Arial MT"/>
                <a:cs typeface="Arial MT"/>
              </a:rPr>
              <a:t>:</a:t>
            </a:r>
            <a:r>
              <a:rPr lang="en-US" sz="2000" dirty="0">
                <a:solidFill>
                  <a:schemeClr val="tx1"/>
                </a:solidFill>
                <a:latin typeface="Arial MT"/>
                <a:cs typeface="Arial MT"/>
              </a:rPr>
              <a:t> </a:t>
            </a:r>
            <a:r>
              <a:rPr lang="en-US" sz="2000" dirty="0" smtClean="0">
                <a:solidFill>
                  <a:schemeClr val="tx1"/>
                </a:solidFill>
                <a:latin typeface="Arial MT"/>
                <a:cs typeface="Arial MT"/>
              </a:rPr>
              <a:t>Hardware Basics, Outlook &amp; MS Word</a:t>
            </a:r>
            <a:endParaRPr lang="ar-EG" sz="2000" dirty="0" smtClean="0">
              <a:solidFill>
                <a:schemeClr val="tx1"/>
              </a:solidFill>
              <a:latin typeface="Arial MT"/>
              <a:cs typeface="Arial MT"/>
            </a:endParaRPr>
          </a:p>
          <a:p>
            <a:pPr marL="355600" indent="-342900">
              <a:lnSpc>
                <a:spcPct val="100000"/>
              </a:lnSpc>
              <a:spcBef>
                <a:spcPts val="935"/>
              </a:spcBef>
              <a:buClr>
                <a:srgbClr val="44536A"/>
              </a:buClr>
              <a:buChar char="-"/>
              <a:tabLst>
                <a:tab pos="355600" algn="l"/>
              </a:tabLst>
            </a:pPr>
            <a:r>
              <a:rPr sz="2000" dirty="0" smtClean="0">
                <a:solidFill>
                  <a:schemeClr val="tx1"/>
                </a:solidFill>
                <a:latin typeface="Arial MT"/>
                <a:cs typeface="Arial MT"/>
              </a:rPr>
              <a:t>Lecture</a:t>
            </a:r>
            <a:r>
              <a:rPr sz="2000" spc="-60" dirty="0" smtClean="0">
                <a:solidFill>
                  <a:schemeClr val="tx1"/>
                </a:solidFill>
                <a:latin typeface="Arial MT"/>
                <a:cs typeface="Arial MT"/>
              </a:rPr>
              <a:t> </a:t>
            </a:r>
            <a:r>
              <a:rPr sz="2000" dirty="0" smtClean="0">
                <a:solidFill>
                  <a:schemeClr val="tx1"/>
                </a:solidFill>
                <a:latin typeface="Arial MT"/>
                <a:cs typeface="Arial MT"/>
              </a:rPr>
              <a:t>2</a:t>
            </a:r>
            <a:r>
              <a:rPr sz="2000" spc="-20" dirty="0" smtClean="0">
                <a:solidFill>
                  <a:schemeClr val="tx1"/>
                </a:solidFill>
                <a:latin typeface="Arial MT"/>
                <a:cs typeface="Arial MT"/>
              </a:rPr>
              <a:t> </a:t>
            </a:r>
            <a:r>
              <a:rPr sz="2000" dirty="0" smtClean="0">
                <a:solidFill>
                  <a:schemeClr val="tx1"/>
                </a:solidFill>
                <a:latin typeface="Arial MT"/>
                <a:cs typeface="Arial MT"/>
              </a:rPr>
              <a:t>:</a:t>
            </a:r>
            <a:r>
              <a:rPr sz="2000" spc="-40" dirty="0" smtClean="0">
                <a:solidFill>
                  <a:schemeClr val="tx1"/>
                </a:solidFill>
                <a:latin typeface="Arial MT"/>
                <a:cs typeface="Arial MT"/>
              </a:rPr>
              <a:t> </a:t>
            </a:r>
            <a:r>
              <a:rPr lang="en-US" sz="2000" dirty="0" smtClean="0">
                <a:solidFill>
                  <a:schemeClr val="tx1"/>
                </a:solidFill>
                <a:latin typeface="Arial MT"/>
                <a:cs typeface="Arial MT"/>
              </a:rPr>
              <a:t>MS Excel, PowerPoint &amp; ERP</a:t>
            </a:r>
            <a:endParaRPr sz="2000" dirty="0" smtClean="0">
              <a:solidFill>
                <a:schemeClr val="tx1"/>
              </a:solidFill>
              <a:latin typeface="Arial MT"/>
              <a:cs typeface="Arial MT"/>
            </a:endParaRPr>
          </a:p>
        </p:txBody>
      </p:sp>
      <p:pic>
        <p:nvPicPr>
          <p:cNvPr id="4" name="object 4"/>
          <p:cNvPicPr/>
          <p:nvPr/>
        </p:nvPicPr>
        <p:blipFill>
          <a:blip r:embed="rId2" cstate="print"/>
          <a:stretch>
            <a:fillRect/>
          </a:stretch>
        </p:blipFill>
        <p:spPr>
          <a:xfrm>
            <a:off x="8868156" y="1973579"/>
            <a:ext cx="2581655" cy="3098292"/>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a:t>
            </a:fld>
            <a:endParaRPr spc="-25"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4088" rIns="0" bIns="0" rtlCol="0">
            <a:spAutoFit/>
          </a:bodyPr>
          <a:lstStyle/>
          <a:p>
            <a:pPr marL="175895">
              <a:lnSpc>
                <a:spcPct val="100000"/>
              </a:lnSpc>
              <a:spcBef>
                <a:spcPts val="95"/>
              </a:spcBef>
            </a:pPr>
            <a:r>
              <a:rPr sz="2800" spc="-10" dirty="0"/>
              <a:t>Training</a:t>
            </a:r>
            <a:r>
              <a:rPr sz="2800" spc="-180" dirty="0"/>
              <a:t> </a:t>
            </a:r>
            <a:r>
              <a:rPr sz="2800" spc="-10" dirty="0"/>
              <a:t>Objectives</a:t>
            </a:r>
            <a:endParaRPr sz="2800"/>
          </a:p>
        </p:txBody>
      </p:sp>
      <p:sp>
        <p:nvSpPr>
          <p:cNvPr id="3" name="object 3"/>
          <p:cNvSpPr txBox="1"/>
          <p:nvPr/>
        </p:nvSpPr>
        <p:spPr>
          <a:xfrm>
            <a:off x="402742" y="1102308"/>
            <a:ext cx="5986145" cy="331470"/>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C00000"/>
                </a:solidFill>
                <a:latin typeface="Arial"/>
                <a:cs typeface="Arial"/>
              </a:rPr>
              <a:t>After</a:t>
            </a:r>
            <a:r>
              <a:rPr sz="2000" b="1" spc="-55" dirty="0">
                <a:solidFill>
                  <a:srgbClr val="C00000"/>
                </a:solidFill>
                <a:latin typeface="Arial"/>
                <a:cs typeface="Arial"/>
              </a:rPr>
              <a:t> </a:t>
            </a:r>
            <a:r>
              <a:rPr sz="2000" b="1" dirty="0">
                <a:solidFill>
                  <a:srgbClr val="C00000"/>
                </a:solidFill>
                <a:latin typeface="Arial"/>
                <a:cs typeface="Arial"/>
              </a:rPr>
              <a:t>finalizing</a:t>
            </a:r>
            <a:r>
              <a:rPr sz="2000" b="1" spc="-50" dirty="0">
                <a:solidFill>
                  <a:srgbClr val="C00000"/>
                </a:solidFill>
                <a:latin typeface="Arial"/>
                <a:cs typeface="Arial"/>
              </a:rPr>
              <a:t> </a:t>
            </a:r>
            <a:r>
              <a:rPr sz="2000" b="1" dirty="0">
                <a:solidFill>
                  <a:srgbClr val="C00000"/>
                </a:solidFill>
                <a:latin typeface="Arial"/>
                <a:cs typeface="Arial"/>
              </a:rPr>
              <a:t>this</a:t>
            </a:r>
            <a:r>
              <a:rPr sz="2000" b="1" spc="-40" dirty="0">
                <a:solidFill>
                  <a:srgbClr val="C00000"/>
                </a:solidFill>
                <a:latin typeface="Arial"/>
                <a:cs typeface="Arial"/>
              </a:rPr>
              <a:t> </a:t>
            </a:r>
            <a:r>
              <a:rPr sz="2000" b="1" dirty="0">
                <a:solidFill>
                  <a:srgbClr val="C00000"/>
                </a:solidFill>
                <a:latin typeface="Arial"/>
                <a:cs typeface="Arial"/>
              </a:rPr>
              <a:t>training</a:t>
            </a:r>
            <a:r>
              <a:rPr sz="2000" b="1" spc="-50" dirty="0">
                <a:solidFill>
                  <a:srgbClr val="C00000"/>
                </a:solidFill>
                <a:latin typeface="Arial"/>
                <a:cs typeface="Arial"/>
              </a:rPr>
              <a:t> </a:t>
            </a:r>
            <a:r>
              <a:rPr sz="2000" b="1" dirty="0">
                <a:solidFill>
                  <a:srgbClr val="C00000"/>
                </a:solidFill>
                <a:latin typeface="Arial"/>
                <a:cs typeface="Arial"/>
              </a:rPr>
              <a:t>you</a:t>
            </a:r>
            <a:r>
              <a:rPr sz="2000" b="1" spc="10" dirty="0">
                <a:solidFill>
                  <a:srgbClr val="C00000"/>
                </a:solidFill>
                <a:latin typeface="Arial"/>
                <a:cs typeface="Arial"/>
              </a:rPr>
              <a:t> </a:t>
            </a:r>
            <a:r>
              <a:rPr sz="2000" b="1" dirty="0">
                <a:solidFill>
                  <a:srgbClr val="C00000"/>
                </a:solidFill>
                <a:latin typeface="Arial"/>
                <a:cs typeface="Arial"/>
              </a:rPr>
              <a:t>should</a:t>
            </a:r>
            <a:r>
              <a:rPr sz="2000" b="1" spc="-35" dirty="0">
                <a:solidFill>
                  <a:srgbClr val="C00000"/>
                </a:solidFill>
                <a:latin typeface="Arial"/>
                <a:cs typeface="Arial"/>
              </a:rPr>
              <a:t> </a:t>
            </a:r>
            <a:r>
              <a:rPr sz="2000" b="1" dirty="0">
                <a:solidFill>
                  <a:srgbClr val="C00000"/>
                </a:solidFill>
                <a:latin typeface="Arial"/>
                <a:cs typeface="Arial"/>
              </a:rPr>
              <a:t>be</a:t>
            </a:r>
            <a:r>
              <a:rPr sz="2000" b="1" spc="-25" dirty="0">
                <a:solidFill>
                  <a:srgbClr val="C00000"/>
                </a:solidFill>
                <a:latin typeface="Arial"/>
                <a:cs typeface="Arial"/>
              </a:rPr>
              <a:t> </a:t>
            </a:r>
            <a:r>
              <a:rPr sz="2000" b="1" dirty="0">
                <a:solidFill>
                  <a:srgbClr val="C00000"/>
                </a:solidFill>
                <a:latin typeface="Arial"/>
                <a:cs typeface="Arial"/>
              </a:rPr>
              <a:t>able</a:t>
            </a:r>
            <a:r>
              <a:rPr sz="2000" b="1" spc="-35" dirty="0">
                <a:solidFill>
                  <a:srgbClr val="C00000"/>
                </a:solidFill>
                <a:latin typeface="Arial"/>
                <a:cs typeface="Arial"/>
              </a:rPr>
              <a:t> </a:t>
            </a:r>
            <a:r>
              <a:rPr sz="2000" b="1" spc="-25" dirty="0">
                <a:solidFill>
                  <a:srgbClr val="C00000"/>
                </a:solidFill>
                <a:latin typeface="Arial"/>
                <a:cs typeface="Arial"/>
              </a:rPr>
              <a:t>to</a:t>
            </a:r>
            <a:endParaRPr sz="2000" dirty="0">
              <a:latin typeface="Arial"/>
              <a:cs typeface="Arial"/>
            </a:endParaRPr>
          </a:p>
        </p:txBody>
      </p:sp>
      <p:sp>
        <p:nvSpPr>
          <p:cNvPr id="4" name="object 4"/>
          <p:cNvSpPr txBox="1"/>
          <p:nvPr/>
        </p:nvSpPr>
        <p:spPr>
          <a:xfrm>
            <a:off x="380623" y="1805202"/>
            <a:ext cx="8534777" cy="4449295"/>
          </a:xfrm>
          <a:prstGeom prst="rect">
            <a:avLst/>
          </a:prstGeom>
        </p:spPr>
        <p:txBody>
          <a:bodyPr vert="horz" wrap="square" lIns="0" tIns="12065" rIns="0" bIns="0" rtlCol="0">
            <a:spAutoFit/>
          </a:bodyPr>
          <a:lstStyle/>
          <a:p>
            <a:pPr marL="354965" indent="-342265">
              <a:lnSpc>
                <a:spcPct val="100000"/>
              </a:lnSpc>
              <a:spcBef>
                <a:spcPts val="95"/>
              </a:spcBef>
              <a:buFont typeface="Wingdings"/>
              <a:buChar char=""/>
              <a:tabLst>
                <a:tab pos="354965" algn="l"/>
              </a:tabLst>
            </a:pPr>
            <a:r>
              <a:rPr lang="en-US" sz="2000" b="1" dirty="0">
                <a:solidFill>
                  <a:schemeClr val="tx1"/>
                </a:solidFill>
                <a:latin typeface="Calibri"/>
                <a:cs typeface="Calibri"/>
              </a:rPr>
              <a:t>Computer Hardware</a:t>
            </a:r>
            <a:r>
              <a:rPr lang="en-US" sz="2000" dirty="0">
                <a:solidFill>
                  <a:schemeClr val="tx1"/>
                </a:solidFill>
                <a:latin typeface="Calibri"/>
                <a:cs typeface="Calibri"/>
              </a:rPr>
              <a:t>: Identify components, connect peripherals, and perform basic troubleshooting</a:t>
            </a:r>
            <a:r>
              <a:rPr lang="en-US" sz="2000" dirty="0" smtClean="0">
                <a:solidFill>
                  <a:schemeClr val="tx1"/>
                </a:solidFill>
                <a:latin typeface="Calibri"/>
                <a:cs typeface="Calibri"/>
              </a:rPr>
              <a:t>.</a:t>
            </a:r>
            <a:endParaRPr lang="ar-EG" sz="2000" dirty="0" smtClean="0">
              <a:solidFill>
                <a:schemeClr val="tx1"/>
              </a:solidFill>
              <a:latin typeface="Calibri"/>
              <a:cs typeface="Calibri"/>
            </a:endParaRPr>
          </a:p>
          <a:p>
            <a:pPr marL="354965" indent="-342265">
              <a:lnSpc>
                <a:spcPct val="100000"/>
              </a:lnSpc>
              <a:spcBef>
                <a:spcPts val="95"/>
              </a:spcBef>
              <a:buFont typeface="Wingdings"/>
              <a:buChar char=""/>
              <a:tabLst>
                <a:tab pos="354965" algn="l"/>
              </a:tabLst>
            </a:pPr>
            <a:endParaRPr lang="en-US" sz="2000" dirty="0">
              <a:solidFill>
                <a:schemeClr val="tx1"/>
              </a:solidFill>
              <a:latin typeface="Calibri"/>
              <a:cs typeface="Calibri"/>
            </a:endParaRPr>
          </a:p>
          <a:p>
            <a:pPr marL="354965" indent="-342265">
              <a:lnSpc>
                <a:spcPct val="100000"/>
              </a:lnSpc>
              <a:spcBef>
                <a:spcPts val="95"/>
              </a:spcBef>
              <a:buFont typeface="Wingdings"/>
              <a:buChar char=""/>
              <a:tabLst>
                <a:tab pos="354965" algn="l"/>
              </a:tabLst>
            </a:pPr>
            <a:r>
              <a:rPr lang="en-US" sz="2000" b="1" dirty="0" smtClean="0">
                <a:solidFill>
                  <a:schemeClr val="tx1"/>
                </a:solidFill>
                <a:latin typeface="Calibri"/>
                <a:cs typeface="Calibri"/>
              </a:rPr>
              <a:t>Excel</a:t>
            </a:r>
            <a:r>
              <a:rPr lang="en-US" sz="2000" dirty="0" smtClean="0">
                <a:solidFill>
                  <a:schemeClr val="tx1"/>
                </a:solidFill>
                <a:latin typeface="Calibri"/>
                <a:cs typeface="Calibri"/>
              </a:rPr>
              <a:t>: Use essential formulas, sort/filter data, and create basic charts.</a:t>
            </a:r>
            <a:endParaRPr lang="ar-EG" sz="2000" dirty="0" smtClean="0">
              <a:solidFill>
                <a:schemeClr val="tx1"/>
              </a:solidFill>
              <a:latin typeface="Calibri"/>
              <a:cs typeface="Calibri"/>
            </a:endParaRPr>
          </a:p>
          <a:p>
            <a:pPr marL="354965" indent="-342265">
              <a:lnSpc>
                <a:spcPct val="100000"/>
              </a:lnSpc>
              <a:spcBef>
                <a:spcPts val="95"/>
              </a:spcBef>
              <a:buFont typeface="Wingdings"/>
              <a:buChar char=""/>
              <a:tabLst>
                <a:tab pos="354965" algn="l"/>
              </a:tabLst>
            </a:pPr>
            <a:endParaRPr lang="en-US" sz="2000" dirty="0" smtClean="0">
              <a:solidFill>
                <a:schemeClr val="tx1"/>
              </a:solidFill>
              <a:latin typeface="Calibri"/>
              <a:cs typeface="Calibri"/>
            </a:endParaRPr>
          </a:p>
          <a:p>
            <a:pPr marL="354965" indent="-342265">
              <a:lnSpc>
                <a:spcPct val="100000"/>
              </a:lnSpc>
              <a:spcBef>
                <a:spcPts val="95"/>
              </a:spcBef>
              <a:buFont typeface="Wingdings"/>
              <a:buChar char=""/>
              <a:tabLst>
                <a:tab pos="354965" algn="l"/>
              </a:tabLst>
            </a:pPr>
            <a:r>
              <a:rPr lang="en-US" sz="2000" b="1" dirty="0" smtClean="0">
                <a:solidFill>
                  <a:schemeClr val="tx1"/>
                </a:solidFill>
                <a:latin typeface="Calibri"/>
                <a:cs typeface="Calibri"/>
              </a:rPr>
              <a:t>PowerPoint</a:t>
            </a:r>
            <a:r>
              <a:rPr lang="en-US" sz="2000" dirty="0" smtClean="0">
                <a:solidFill>
                  <a:schemeClr val="tx1"/>
                </a:solidFill>
                <a:latin typeface="Calibri"/>
                <a:cs typeface="Calibri"/>
              </a:rPr>
              <a:t>: Create clean, professional slides and insert objects (images, charts).</a:t>
            </a:r>
            <a:endParaRPr lang="ar-EG" sz="2000" dirty="0" smtClean="0">
              <a:solidFill>
                <a:schemeClr val="tx1"/>
              </a:solidFill>
              <a:latin typeface="Calibri"/>
              <a:cs typeface="Calibri"/>
            </a:endParaRPr>
          </a:p>
          <a:p>
            <a:pPr marL="354965" indent="-342265">
              <a:lnSpc>
                <a:spcPct val="100000"/>
              </a:lnSpc>
              <a:spcBef>
                <a:spcPts val="95"/>
              </a:spcBef>
              <a:buFont typeface="Wingdings"/>
              <a:buChar char=""/>
              <a:tabLst>
                <a:tab pos="354965" algn="l"/>
              </a:tabLst>
            </a:pPr>
            <a:endParaRPr lang="en-US" sz="2000" dirty="0" smtClean="0">
              <a:solidFill>
                <a:schemeClr val="tx1"/>
              </a:solidFill>
              <a:latin typeface="Calibri"/>
              <a:cs typeface="Calibri"/>
            </a:endParaRPr>
          </a:p>
          <a:p>
            <a:pPr marL="354965" indent="-342265">
              <a:lnSpc>
                <a:spcPct val="100000"/>
              </a:lnSpc>
              <a:spcBef>
                <a:spcPts val="95"/>
              </a:spcBef>
              <a:buFont typeface="Wingdings"/>
              <a:buChar char=""/>
              <a:tabLst>
                <a:tab pos="354965" algn="l"/>
              </a:tabLst>
            </a:pPr>
            <a:r>
              <a:rPr lang="en-US" sz="2000" b="1" dirty="0" smtClean="0">
                <a:solidFill>
                  <a:schemeClr val="tx1"/>
                </a:solidFill>
                <a:latin typeface="Calibri"/>
                <a:cs typeface="Calibri"/>
              </a:rPr>
              <a:t>Word</a:t>
            </a:r>
            <a:r>
              <a:rPr lang="en-US" sz="2000" dirty="0">
                <a:solidFill>
                  <a:schemeClr val="tx1"/>
                </a:solidFill>
                <a:latin typeface="Calibri"/>
                <a:cs typeface="Calibri"/>
              </a:rPr>
              <a:t>: Apply consistent formatting (styles, headers) and use Track Changes</a:t>
            </a:r>
            <a:r>
              <a:rPr lang="en-US" sz="2000" dirty="0" smtClean="0">
                <a:solidFill>
                  <a:schemeClr val="tx1"/>
                </a:solidFill>
                <a:latin typeface="Calibri"/>
                <a:cs typeface="Calibri"/>
              </a:rPr>
              <a:t>.</a:t>
            </a:r>
            <a:endParaRPr lang="ar-EG" sz="2000" dirty="0" smtClean="0">
              <a:solidFill>
                <a:schemeClr val="tx1"/>
              </a:solidFill>
              <a:latin typeface="Calibri"/>
              <a:cs typeface="Calibri"/>
            </a:endParaRPr>
          </a:p>
          <a:p>
            <a:pPr marL="354965" indent="-342265">
              <a:lnSpc>
                <a:spcPct val="100000"/>
              </a:lnSpc>
              <a:spcBef>
                <a:spcPts val="95"/>
              </a:spcBef>
              <a:buFont typeface="Wingdings"/>
              <a:buChar char=""/>
              <a:tabLst>
                <a:tab pos="354965" algn="l"/>
              </a:tabLst>
            </a:pPr>
            <a:endParaRPr lang="en-US" sz="2000" dirty="0">
              <a:solidFill>
                <a:schemeClr val="tx1"/>
              </a:solidFill>
              <a:latin typeface="Calibri"/>
              <a:cs typeface="Calibri"/>
            </a:endParaRPr>
          </a:p>
          <a:p>
            <a:pPr marL="354965" indent="-342265">
              <a:lnSpc>
                <a:spcPct val="100000"/>
              </a:lnSpc>
              <a:spcBef>
                <a:spcPts val="95"/>
              </a:spcBef>
              <a:buFont typeface="Wingdings"/>
              <a:buChar char=""/>
              <a:tabLst>
                <a:tab pos="354965" algn="l"/>
              </a:tabLst>
            </a:pPr>
            <a:r>
              <a:rPr lang="en-US" sz="2000" b="1" dirty="0">
                <a:solidFill>
                  <a:schemeClr val="tx1"/>
                </a:solidFill>
                <a:latin typeface="Calibri"/>
                <a:cs typeface="Calibri"/>
              </a:rPr>
              <a:t>Outlook</a:t>
            </a:r>
            <a:r>
              <a:rPr lang="en-US" sz="2000" dirty="0">
                <a:solidFill>
                  <a:schemeClr val="tx1"/>
                </a:solidFill>
                <a:latin typeface="Calibri"/>
                <a:cs typeface="Calibri"/>
              </a:rPr>
              <a:t>: Write professional emails, organize their inbox, and manage their calendar</a:t>
            </a:r>
            <a:r>
              <a:rPr lang="en-US" sz="2000" dirty="0" smtClean="0">
                <a:solidFill>
                  <a:schemeClr val="tx1"/>
                </a:solidFill>
                <a:latin typeface="Calibri"/>
                <a:cs typeface="Calibri"/>
              </a:rPr>
              <a:t>.</a:t>
            </a:r>
            <a:endParaRPr lang="ar-EG" sz="2000" dirty="0" smtClean="0">
              <a:solidFill>
                <a:schemeClr val="tx1"/>
              </a:solidFill>
              <a:latin typeface="Calibri"/>
              <a:cs typeface="Calibri"/>
            </a:endParaRPr>
          </a:p>
          <a:p>
            <a:pPr marL="354965" indent="-342265">
              <a:lnSpc>
                <a:spcPct val="100000"/>
              </a:lnSpc>
              <a:spcBef>
                <a:spcPts val="95"/>
              </a:spcBef>
              <a:buFont typeface="Wingdings"/>
              <a:buChar char=""/>
              <a:tabLst>
                <a:tab pos="354965" algn="l"/>
              </a:tabLst>
            </a:pPr>
            <a:endParaRPr lang="en-US" sz="2000" dirty="0" smtClean="0">
              <a:solidFill>
                <a:schemeClr val="tx1"/>
              </a:solidFill>
              <a:latin typeface="Calibri"/>
              <a:cs typeface="Calibri"/>
            </a:endParaRPr>
          </a:p>
          <a:p>
            <a:pPr marL="354965" indent="-342265">
              <a:lnSpc>
                <a:spcPct val="100000"/>
              </a:lnSpc>
              <a:spcBef>
                <a:spcPts val="95"/>
              </a:spcBef>
              <a:buFont typeface="Wingdings"/>
              <a:buChar char=""/>
              <a:tabLst>
                <a:tab pos="354965" algn="l"/>
              </a:tabLst>
            </a:pPr>
            <a:r>
              <a:rPr lang="en-US" sz="2000" b="1" dirty="0" smtClean="0">
                <a:solidFill>
                  <a:schemeClr val="tx1"/>
                </a:solidFill>
                <a:latin typeface="Calibri"/>
                <a:cs typeface="Calibri"/>
              </a:rPr>
              <a:t>ERP</a:t>
            </a:r>
            <a:r>
              <a:rPr lang="en-US" sz="2000" dirty="0" smtClean="0">
                <a:solidFill>
                  <a:schemeClr val="tx1"/>
                </a:solidFill>
                <a:latin typeface="Calibri"/>
                <a:cs typeface="Calibri"/>
              </a:rPr>
              <a:t>: Define what an ERP system is and explain its purpose in the </a:t>
            </a:r>
            <a:r>
              <a:rPr lang="en-US" sz="2000" dirty="0" smtClean="0">
                <a:solidFill>
                  <a:srgbClr val="585858"/>
                </a:solidFill>
                <a:latin typeface="Calibri"/>
                <a:cs typeface="Calibri"/>
              </a:rPr>
              <a:t>business.</a:t>
            </a:r>
          </a:p>
        </p:txBody>
      </p:sp>
      <p:pic>
        <p:nvPicPr>
          <p:cNvPr id="5" name="object 5"/>
          <p:cNvPicPr/>
          <p:nvPr/>
        </p:nvPicPr>
        <p:blipFill>
          <a:blip r:embed="rId2" cstate="print"/>
          <a:stretch>
            <a:fillRect/>
          </a:stretch>
        </p:blipFill>
        <p:spPr>
          <a:xfrm>
            <a:off x="9601200" y="2286000"/>
            <a:ext cx="2410147" cy="158115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3</a:t>
            </a:fld>
            <a:endParaRPr spc="-25"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8792"/>
            <a:ext cx="6781800" cy="677826"/>
          </a:xfrm>
          <a:prstGeom prst="rect">
            <a:avLst/>
          </a:prstGeom>
        </p:spPr>
        <p:txBody>
          <a:bodyPr vert="horz" wrap="square" lIns="0" tIns="244551" rIns="0" bIns="0" rtlCol="0" anchor="ctr">
            <a:spAutoFit/>
          </a:bodyPr>
          <a:lstStyle/>
          <a:p>
            <a:pPr marL="2667000" algn="l">
              <a:lnSpc>
                <a:spcPct val="100000"/>
              </a:lnSpc>
              <a:spcBef>
                <a:spcPts val="95"/>
              </a:spcBef>
            </a:pPr>
            <a:r>
              <a:rPr lang="en-US" sz="2800" dirty="0" smtClean="0"/>
              <a:t>Test your Knowledge</a:t>
            </a:r>
            <a:endParaRPr sz="2800" dirty="0"/>
          </a:p>
        </p:txBody>
      </p:sp>
      <p:sp>
        <p:nvSpPr>
          <p:cNvPr id="3" name="object 3"/>
          <p:cNvSpPr txBox="1"/>
          <p:nvPr/>
        </p:nvSpPr>
        <p:spPr>
          <a:xfrm>
            <a:off x="824890" y="2358593"/>
            <a:ext cx="5905500" cy="1911421"/>
          </a:xfrm>
          <a:prstGeom prst="rect">
            <a:avLst/>
          </a:prstGeom>
        </p:spPr>
        <p:txBody>
          <a:bodyPr vert="horz" wrap="square" lIns="0" tIns="13335" rIns="0" bIns="0" rtlCol="0">
            <a:spAutoFit/>
          </a:bodyPr>
          <a:lstStyle/>
          <a:p>
            <a:pPr marL="24765">
              <a:lnSpc>
                <a:spcPct val="100000"/>
              </a:lnSpc>
              <a:spcBef>
                <a:spcPts val="105"/>
              </a:spcBef>
            </a:pPr>
            <a:r>
              <a:rPr sz="2000" dirty="0">
                <a:latin typeface="Arial MT"/>
                <a:cs typeface="Arial MT"/>
              </a:rPr>
              <a:t>Please</a:t>
            </a:r>
            <a:r>
              <a:rPr sz="2000" spc="-45" dirty="0">
                <a:latin typeface="Arial MT"/>
                <a:cs typeface="Arial MT"/>
              </a:rPr>
              <a:t> </a:t>
            </a:r>
            <a:r>
              <a:rPr lang="en-US" sz="2000" dirty="0" smtClean="0">
                <a:latin typeface="Arial MT"/>
                <a:cs typeface="Arial MT"/>
              </a:rPr>
              <a:t>scan the QR code here or go to the below website:</a:t>
            </a:r>
            <a:endParaRPr sz="2000" dirty="0">
              <a:latin typeface="Arial MT"/>
              <a:cs typeface="Arial MT"/>
            </a:endParaRPr>
          </a:p>
          <a:p>
            <a:pPr>
              <a:lnSpc>
                <a:spcPct val="100000"/>
              </a:lnSpc>
            </a:pPr>
            <a:endParaRPr sz="2000" dirty="0">
              <a:latin typeface="Arial MT"/>
              <a:cs typeface="Arial MT"/>
            </a:endParaRPr>
          </a:p>
          <a:p>
            <a:pPr>
              <a:lnSpc>
                <a:spcPct val="100000"/>
              </a:lnSpc>
              <a:spcBef>
                <a:spcPts val="405"/>
              </a:spcBef>
            </a:pPr>
            <a:endParaRPr sz="2000" dirty="0">
              <a:latin typeface="Arial MT"/>
              <a:cs typeface="Arial MT"/>
            </a:endParaRPr>
          </a:p>
          <a:p>
            <a:pPr marL="12700">
              <a:lnSpc>
                <a:spcPct val="100000"/>
              </a:lnSpc>
            </a:pPr>
            <a:r>
              <a:rPr lang="en-US" sz="2000" u="sng" spc="-10" dirty="0" smtClean="0">
                <a:solidFill>
                  <a:srgbClr val="0462C1"/>
                </a:solidFill>
                <a:uFill>
                  <a:solidFill>
                    <a:srgbClr val="0462C1"/>
                  </a:solidFill>
                </a:uFill>
                <a:latin typeface="Arial MT"/>
                <a:cs typeface="Arial MT"/>
                <a:hlinkClick r:id="rId2"/>
              </a:rPr>
              <a:t>https://afathelbab.github.io/cnpc/computer-basics-soft-skills/day2/quiz.html</a:t>
            </a:r>
            <a:endParaRPr sz="2000" dirty="0">
              <a:latin typeface="Arial MT"/>
              <a:cs typeface="Arial MT"/>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4</a:t>
            </a:fld>
            <a:endParaRPr spc="-25"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0" y="1600200"/>
            <a:ext cx="3973398" cy="3973398"/>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228600"/>
            <a:ext cx="3465195" cy="452120"/>
          </a:xfrm>
          <a:prstGeom prst="rect">
            <a:avLst/>
          </a:prstGeom>
        </p:spPr>
        <p:txBody>
          <a:bodyPr vert="horz" wrap="square" lIns="0" tIns="12065" rIns="0" bIns="0" rtlCol="0">
            <a:spAutoFit/>
          </a:bodyPr>
          <a:lstStyle/>
          <a:p>
            <a:pPr marL="12700">
              <a:lnSpc>
                <a:spcPct val="100000"/>
              </a:lnSpc>
              <a:spcBef>
                <a:spcPts val="95"/>
              </a:spcBef>
              <a:tabLst>
                <a:tab pos="1731645" algn="l"/>
              </a:tabLst>
            </a:pPr>
            <a:r>
              <a:rPr lang="en-US" sz="2800" dirty="0" smtClean="0"/>
              <a:t>Quiz </a:t>
            </a:r>
            <a:r>
              <a:rPr sz="2800" spc="-10" dirty="0" smtClean="0"/>
              <a:t>Reflection</a:t>
            </a:r>
            <a:endParaRPr sz="2800" dirty="0"/>
          </a:p>
        </p:txBody>
      </p:sp>
      <p:sp>
        <p:nvSpPr>
          <p:cNvPr id="3" name="object 3"/>
          <p:cNvSpPr txBox="1"/>
          <p:nvPr/>
        </p:nvSpPr>
        <p:spPr>
          <a:xfrm>
            <a:off x="837082" y="2358593"/>
            <a:ext cx="5652135" cy="2947602"/>
          </a:xfrm>
          <a:prstGeom prst="rect">
            <a:avLst/>
          </a:prstGeom>
        </p:spPr>
        <p:txBody>
          <a:bodyPr vert="horz" wrap="square" lIns="0" tIns="13335" rIns="0" bIns="0" rtlCol="0">
            <a:spAutoFit/>
          </a:bodyPr>
          <a:lstStyle/>
          <a:p>
            <a:pPr marL="12700">
              <a:lnSpc>
                <a:spcPct val="100000"/>
              </a:lnSpc>
              <a:spcBef>
                <a:spcPts val="105"/>
              </a:spcBef>
            </a:pPr>
            <a:r>
              <a:rPr lang="en-US" sz="2000" dirty="0" smtClean="0">
                <a:latin typeface="Arial MT"/>
                <a:cs typeface="Arial MT"/>
              </a:rPr>
              <a:t>How many got the full mark?</a:t>
            </a:r>
            <a:r>
              <a:rPr lang="ar-EG" sz="2000" dirty="0" smtClean="0">
                <a:latin typeface="Arial MT"/>
                <a:cs typeface="Arial MT"/>
              </a:rPr>
              <a:t>  </a:t>
            </a:r>
          </a:p>
          <a:p>
            <a:pPr marL="12700">
              <a:lnSpc>
                <a:spcPct val="100000"/>
              </a:lnSpc>
              <a:spcBef>
                <a:spcPts val="105"/>
              </a:spcBef>
            </a:pPr>
            <a:endParaRPr lang="ar-EG" sz="2000" dirty="0">
              <a:latin typeface="Arial MT"/>
              <a:cs typeface="Arial MT"/>
            </a:endParaRPr>
          </a:p>
          <a:p>
            <a:pPr marL="12700">
              <a:lnSpc>
                <a:spcPct val="100000"/>
              </a:lnSpc>
              <a:spcBef>
                <a:spcPts val="105"/>
              </a:spcBef>
            </a:pPr>
            <a:r>
              <a:rPr lang="en-US" sz="2000" dirty="0" smtClean="0">
                <a:latin typeface="Arial MT"/>
                <a:cs typeface="Arial MT"/>
              </a:rPr>
              <a:t>How got more than 50% correct?</a:t>
            </a:r>
          </a:p>
          <a:p>
            <a:pPr marL="12700">
              <a:lnSpc>
                <a:spcPct val="100000"/>
              </a:lnSpc>
              <a:spcBef>
                <a:spcPts val="105"/>
              </a:spcBef>
            </a:pPr>
            <a:endParaRPr lang="en-US" sz="2000" dirty="0">
              <a:latin typeface="Arial MT"/>
              <a:cs typeface="Arial MT"/>
            </a:endParaRPr>
          </a:p>
          <a:p>
            <a:pPr marL="12700">
              <a:lnSpc>
                <a:spcPct val="100000"/>
              </a:lnSpc>
              <a:spcBef>
                <a:spcPts val="105"/>
              </a:spcBef>
            </a:pPr>
            <a:r>
              <a:rPr lang="en-US" sz="2000" dirty="0" smtClean="0">
                <a:latin typeface="Arial MT"/>
                <a:cs typeface="Arial MT"/>
              </a:rPr>
              <a:t>How many got them all wrong?</a:t>
            </a:r>
          </a:p>
          <a:p>
            <a:pPr marL="12700">
              <a:lnSpc>
                <a:spcPct val="100000"/>
              </a:lnSpc>
              <a:spcBef>
                <a:spcPts val="105"/>
              </a:spcBef>
            </a:pPr>
            <a:endParaRPr lang="en-US" sz="2000" dirty="0">
              <a:latin typeface="Arial MT"/>
              <a:cs typeface="Arial MT"/>
            </a:endParaRPr>
          </a:p>
          <a:p>
            <a:pPr marL="12700">
              <a:lnSpc>
                <a:spcPct val="100000"/>
              </a:lnSpc>
              <a:spcBef>
                <a:spcPts val="105"/>
              </a:spcBef>
            </a:pPr>
            <a:endParaRPr lang="en-US" sz="2000" dirty="0" smtClean="0">
              <a:latin typeface="Arial MT"/>
              <a:cs typeface="Arial MT"/>
            </a:endParaRPr>
          </a:p>
          <a:p>
            <a:pPr marL="12700">
              <a:lnSpc>
                <a:spcPct val="100000"/>
              </a:lnSpc>
              <a:spcBef>
                <a:spcPts val="105"/>
              </a:spcBef>
            </a:pPr>
            <a:endParaRPr lang="en-US" sz="2000" dirty="0">
              <a:latin typeface="Arial MT"/>
              <a:cs typeface="Arial MT"/>
            </a:endParaRPr>
          </a:p>
          <a:p>
            <a:pPr marL="12700">
              <a:lnSpc>
                <a:spcPct val="100000"/>
              </a:lnSpc>
              <a:spcBef>
                <a:spcPts val="105"/>
              </a:spcBef>
            </a:pPr>
            <a:r>
              <a:rPr lang="en-US" sz="2000" dirty="0" smtClean="0">
                <a:latin typeface="Arial MT"/>
                <a:cs typeface="Arial MT"/>
              </a:rPr>
              <a:t>It’s </a:t>
            </a:r>
            <a:r>
              <a:rPr lang="en-US" sz="2400" b="1" dirty="0" smtClean="0">
                <a:solidFill>
                  <a:srgbClr val="00B050"/>
                </a:solidFill>
                <a:latin typeface="Arial MT"/>
                <a:cs typeface="Arial MT"/>
              </a:rPr>
              <a:t>OK</a:t>
            </a:r>
            <a:r>
              <a:rPr lang="en-US" sz="2000" dirty="0" smtClean="0">
                <a:latin typeface="Arial MT"/>
                <a:cs typeface="Arial MT"/>
              </a:rPr>
              <a:t> either way </a:t>
            </a:r>
            <a:endParaRPr sz="2000" dirty="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5</a:t>
            </a:fld>
            <a:endParaRPr spc="-25"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2133600"/>
            <a:ext cx="7467600" cy="2739929"/>
          </a:xfrm>
          <a:prstGeom prst="rect">
            <a:avLst/>
          </a:prstGeom>
        </p:spPr>
        <p:txBody>
          <a:bodyPr vert="horz" wrap="square" lIns="0" tIns="244551" rIns="0" bIns="0" rtlCol="0" anchor="ctr">
            <a:spAutoFit/>
          </a:bodyPr>
          <a:lstStyle/>
          <a:p>
            <a:pPr algn="ctr"/>
            <a:r>
              <a:rPr lang="en-US" sz="5400" dirty="0"/>
              <a:t>Module 1: </a:t>
            </a:r>
            <a:r>
              <a:rPr lang="en-US" sz="5400" dirty="0" smtClean="0"/>
              <a:t/>
            </a:r>
            <a:br>
              <a:rPr lang="en-US" sz="5400" dirty="0" smtClean="0"/>
            </a:br>
            <a:r>
              <a:rPr lang="en-US" sz="5400" dirty="0" smtClean="0"/>
              <a:t>Computer </a:t>
            </a:r>
            <a:r>
              <a:rPr lang="en-US" sz="5400" dirty="0"/>
              <a:t>Hardware Basics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6</a:t>
            </a:fld>
            <a:endParaRPr spc="-25" dirty="0"/>
          </a:p>
        </p:txBody>
      </p:sp>
    </p:spTree>
    <p:extLst>
      <p:ext uri="{BB962C8B-B14F-4D97-AF65-F5344CB8AC3E}">
        <p14:creationId xmlns:p14="http://schemas.microsoft.com/office/powerpoint/2010/main" val="7395197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1: Computer Hardware Basics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7</a:t>
            </a:fld>
            <a:endParaRPr spc="-25" dirty="0"/>
          </a:p>
        </p:txBody>
      </p:sp>
      <p:sp>
        <p:nvSpPr>
          <p:cNvPr id="6" name="TextBox 5"/>
          <p:cNvSpPr txBox="1"/>
          <p:nvPr/>
        </p:nvSpPr>
        <p:spPr>
          <a:xfrm>
            <a:off x="990600" y="1447800"/>
            <a:ext cx="2262158" cy="646331"/>
          </a:xfrm>
          <a:prstGeom prst="rect">
            <a:avLst/>
          </a:prstGeom>
          <a:noFill/>
        </p:spPr>
        <p:txBody>
          <a:bodyPr wrap="none" rtlCol="1">
            <a:spAutoFit/>
          </a:bodyPr>
          <a:lstStyle/>
          <a:p>
            <a:r>
              <a:rPr lang="en-US" b="1" dirty="0" smtClean="0">
                <a:solidFill>
                  <a:srgbClr val="C00000"/>
                </a:solidFill>
              </a:rPr>
              <a:t>What is Hardware?</a:t>
            </a:r>
          </a:p>
          <a:p>
            <a:endParaRPr lang="ar-EG" dirty="0"/>
          </a:p>
        </p:txBody>
      </p:sp>
      <p:sp>
        <p:nvSpPr>
          <p:cNvPr id="7" name="TextBox 6"/>
          <p:cNvSpPr txBox="1"/>
          <p:nvPr/>
        </p:nvSpPr>
        <p:spPr>
          <a:xfrm>
            <a:off x="1134126" y="1905000"/>
            <a:ext cx="4733274" cy="3693319"/>
          </a:xfrm>
          <a:prstGeom prst="rect">
            <a:avLst/>
          </a:prstGeom>
          <a:noFill/>
        </p:spPr>
        <p:txBody>
          <a:bodyPr wrap="square" rtlCol="1">
            <a:spAutoFit/>
          </a:bodyPr>
          <a:lstStyle/>
          <a:p>
            <a:r>
              <a:rPr lang="en-US" dirty="0" smtClean="0"/>
              <a:t>Hardware refers to the physical parts of a computer that you can </a:t>
            </a:r>
            <a:r>
              <a:rPr lang="en-US" u="sng" dirty="0" smtClean="0"/>
              <a:t>see</a:t>
            </a:r>
            <a:r>
              <a:rPr lang="en-US" dirty="0" smtClean="0"/>
              <a:t> and </a:t>
            </a:r>
            <a:r>
              <a:rPr lang="en-US" u="sng" dirty="0" smtClean="0"/>
              <a:t>touch</a:t>
            </a:r>
            <a:r>
              <a:rPr lang="en-US" dirty="0" smtClean="0"/>
              <a:t>:</a:t>
            </a:r>
          </a:p>
          <a:p>
            <a:endParaRPr lang="en-US" dirty="0"/>
          </a:p>
          <a:p>
            <a:endParaRPr lang="en-US" dirty="0" smtClean="0"/>
          </a:p>
          <a:p>
            <a:pPr marL="285750" indent="-285750">
              <a:buFont typeface="Arial" panose="020B0604020202020204" pitchFamily="34" charset="0"/>
              <a:buChar char="•"/>
            </a:pPr>
            <a:r>
              <a:rPr lang="en-US" b="1" dirty="0" smtClean="0"/>
              <a:t>Internal Hardware:</a:t>
            </a:r>
            <a:r>
              <a:rPr lang="en-US" dirty="0" smtClean="0"/>
              <a:t> The components </a:t>
            </a:r>
            <a:r>
              <a:rPr lang="en-US" i="1" dirty="0" smtClean="0"/>
              <a:t>inside</a:t>
            </a:r>
            <a:r>
              <a:rPr lang="en-US" dirty="0" smtClean="0"/>
              <a:t> the computer case that make it work.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b="1" dirty="0" smtClean="0"/>
              <a:t>External Hardware: </a:t>
            </a:r>
            <a:r>
              <a:rPr lang="en-US" dirty="0" smtClean="0"/>
              <a:t>The devices </a:t>
            </a:r>
            <a:r>
              <a:rPr lang="en-US" i="1" dirty="0" smtClean="0"/>
              <a:t>outside</a:t>
            </a:r>
            <a:r>
              <a:rPr lang="en-US" dirty="0" smtClean="0"/>
              <a:t> the computer that you plug in to use it.</a:t>
            </a:r>
          </a:p>
          <a:p>
            <a:endParaRPr lang="en-US" dirty="0" smtClean="0"/>
          </a:p>
          <a:p>
            <a:endParaRPr lang="ar-EG" dirty="0"/>
          </a:p>
        </p:txBody>
      </p:sp>
      <p:pic>
        <p:nvPicPr>
          <p:cNvPr id="8" name="Picture 7"/>
          <p:cNvPicPr>
            <a:picLocks noChangeAspect="1"/>
          </p:cNvPicPr>
          <p:nvPr/>
        </p:nvPicPr>
        <p:blipFill>
          <a:blip r:embed="rId3"/>
          <a:stretch>
            <a:fillRect/>
          </a:stretch>
        </p:blipFill>
        <p:spPr>
          <a:xfrm>
            <a:off x="6172200" y="1905000"/>
            <a:ext cx="5819775" cy="3133725"/>
          </a:xfrm>
          <a:prstGeom prst="rect">
            <a:avLst/>
          </a:prstGeom>
        </p:spPr>
      </p:pic>
    </p:spTree>
    <p:extLst>
      <p:ext uri="{BB962C8B-B14F-4D97-AF65-F5344CB8AC3E}">
        <p14:creationId xmlns:p14="http://schemas.microsoft.com/office/powerpoint/2010/main" val="38549486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1: Computer Hardware Basics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8</a:t>
            </a:fld>
            <a:endParaRPr spc="-25" dirty="0"/>
          </a:p>
        </p:txBody>
      </p:sp>
      <p:sp>
        <p:nvSpPr>
          <p:cNvPr id="6" name="TextBox 5"/>
          <p:cNvSpPr txBox="1"/>
          <p:nvPr/>
        </p:nvSpPr>
        <p:spPr>
          <a:xfrm>
            <a:off x="990600" y="1447800"/>
            <a:ext cx="2980303" cy="369332"/>
          </a:xfrm>
          <a:prstGeom prst="rect">
            <a:avLst/>
          </a:prstGeom>
          <a:noFill/>
        </p:spPr>
        <p:txBody>
          <a:bodyPr wrap="none" rtlCol="1">
            <a:spAutoFit/>
          </a:bodyPr>
          <a:lstStyle/>
          <a:p>
            <a:r>
              <a:rPr lang="en-US" b="1" dirty="0" smtClean="0">
                <a:solidFill>
                  <a:srgbClr val="C00000"/>
                </a:solidFill>
              </a:rPr>
              <a:t>Key Internal Components</a:t>
            </a:r>
            <a:endParaRPr lang="en-US" b="1" dirty="0">
              <a:solidFill>
                <a:srgbClr val="C00000"/>
              </a:solidFill>
            </a:endParaRPr>
          </a:p>
        </p:txBody>
      </p:sp>
      <p:sp>
        <p:nvSpPr>
          <p:cNvPr id="7" name="TextBox 6"/>
          <p:cNvSpPr txBox="1"/>
          <p:nvPr/>
        </p:nvSpPr>
        <p:spPr>
          <a:xfrm>
            <a:off x="1145849" y="2209800"/>
            <a:ext cx="6638274" cy="4062651"/>
          </a:xfrm>
          <a:prstGeom prst="rect">
            <a:avLst/>
          </a:prstGeom>
          <a:noFill/>
        </p:spPr>
        <p:txBody>
          <a:bodyPr wrap="square" rtlCol="1">
            <a:spAutoFit/>
          </a:bodyPr>
          <a:lstStyle/>
          <a:p>
            <a:pPr marL="342900" indent="-342900">
              <a:buFont typeface="Wingdings" panose="05000000000000000000" pitchFamily="2" charset="2"/>
              <a:buChar char="q"/>
            </a:pPr>
            <a:r>
              <a:rPr lang="en-US" sz="1600" b="1" dirty="0" smtClean="0"/>
              <a:t>CPU (Central Processing Unit):</a:t>
            </a:r>
            <a:r>
              <a:rPr lang="en-US" sz="1600" dirty="0" smtClean="0"/>
              <a:t> The "brain" of the computer. It performs all the calculations and processing.</a:t>
            </a:r>
          </a:p>
          <a:p>
            <a:pPr marL="342900" indent="-342900">
              <a:buFont typeface="Wingdings" panose="05000000000000000000" pitchFamily="2" charset="2"/>
              <a:buChar char="q"/>
            </a:pPr>
            <a:endParaRPr lang="en-US" sz="1600" dirty="0" smtClean="0"/>
          </a:p>
          <a:p>
            <a:pPr marL="342900" indent="-342900">
              <a:buFont typeface="Wingdings" panose="05000000000000000000" pitchFamily="2" charset="2"/>
              <a:buChar char="q"/>
            </a:pPr>
            <a:r>
              <a:rPr lang="en-US" sz="1600" b="1" dirty="0" smtClean="0"/>
              <a:t>RAM (Random Access Memory):</a:t>
            </a:r>
            <a:r>
              <a:rPr lang="en-US" sz="1600" dirty="0" smtClean="0"/>
              <a:t> The computer's short-term memory. It holds the data for the applications you are actively using. More RAM means you can run more programs at once smoothly.</a:t>
            </a:r>
            <a:endParaRPr lang="ar-BH" sz="1600" dirty="0" smtClean="0"/>
          </a:p>
          <a:p>
            <a:pPr marL="342900" indent="-342900">
              <a:buFont typeface="Wingdings" panose="05000000000000000000" pitchFamily="2" charset="2"/>
              <a:buChar char="q"/>
            </a:pPr>
            <a:endParaRPr lang="en-US" sz="1600" dirty="0" smtClean="0"/>
          </a:p>
          <a:p>
            <a:pPr marL="342900" indent="-342900">
              <a:buFont typeface="Wingdings" panose="05000000000000000000" pitchFamily="2" charset="2"/>
              <a:buChar char="q"/>
            </a:pPr>
            <a:r>
              <a:rPr lang="en-US" sz="1600" b="1" dirty="0" smtClean="0"/>
              <a:t>Hard Drive (HDD or SSD):</a:t>
            </a:r>
            <a:r>
              <a:rPr lang="en-US" sz="1600" dirty="0" smtClean="0"/>
              <a:t> The computer's long-term storage. This is where your files, applications, and the operating system are saved, even when you turn the computer off. (SSDs are much faster than traditional HDDs).</a:t>
            </a:r>
          </a:p>
          <a:p>
            <a:pPr marL="342900" indent="-342900">
              <a:buFont typeface="Wingdings" panose="05000000000000000000" pitchFamily="2" charset="2"/>
              <a:buChar char="q"/>
            </a:pPr>
            <a:endParaRPr lang="en-US" sz="1600" dirty="0" smtClean="0"/>
          </a:p>
          <a:p>
            <a:pPr marL="342900" indent="-342900">
              <a:buFont typeface="Wingdings" panose="05000000000000000000" pitchFamily="2" charset="2"/>
              <a:buChar char="q"/>
            </a:pPr>
            <a:r>
              <a:rPr lang="en-US" sz="1600" b="1" dirty="0" smtClean="0"/>
              <a:t>Motherboard:</a:t>
            </a:r>
            <a:r>
              <a:rPr lang="en-US" sz="1600" dirty="0" smtClean="0"/>
              <a:t> The main circuit board that connects all the internal components.</a:t>
            </a:r>
          </a:p>
          <a:p>
            <a:endParaRPr lang="ar-EG" dirty="0"/>
          </a:p>
        </p:txBody>
      </p:sp>
      <p:pic>
        <p:nvPicPr>
          <p:cNvPr id="8" name="Picture 7"/>
          <p:cNvPicPr>
            <a:picLocks noChangeAspect="1"/>
          </p:cNvPicPr>
          <p:nvPr/>
        </p:nvPicPr>
        <p:blipFill>
          <a:blip r:embed="rId3"/>
          <a:stretch>
            <a:fillRect/>
          </a:stretch>
        </p:blipFill>
        <p:spPr>
          <a:xfrm>
            <a:off x="8305800" y="3053862"/>
            <a:ext cx="3686175" cy="1984863"/>
          </a:xfrm>
          <a:prstGeom prst="rect">
            <a:avLst/>
          </a:prstGeom>
        </p:spPr>
      </p:pic>
    </p:spTree>
    <p:extLst>
      <p:ext uri="{BB962C8B-B14F-4D97-AF65-F5344CB8AC3E}">
        <p14:creationId xmlns:p14="http://schemas.microsoft.com/office/powerpoint/2010/main" val="12905428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1: Computer Hardware Basics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9</a:t>
            </a:fld>
            <a:endParaRPr spc="-25" dirty="0"/>
          </a:p>
        </p:txBody>
      </p:sp>
      <p:sp>
        <p:nvSpPr>
          <p:cNvPr id="6" name="TextBox 5"/>
          <p:cNvSpPr txBox="1"/>
          <p:nvPr/>
        </p:nvSpPr>
        <p:spPr>
          <a:xfrm>
            <a:off x="990600" y="1447800"/>
            <a:ext cx="3057247" cy="369332"/>
          </a:xfrm>
          <a:prstGeom prst="rect">
            <a:avLst/>
          </a:prstGeom>
          <a:noFill/>
        </p:spPr>
        <p:txBody>
          <a:bodyPr wrap="none" rtlCol="1">
            <a:spAutoFit/>
          </a:bodyPr>
          <a:lstStyle/>
          <a:p>
            <a:r>
              <a:rPr lang="en-US" b="1" dirty="0" smtClean="0">
                <a:solidFill>
                  <a:srgbClr val="C00000"/>
                </a:solidFill>
              </a:rPr>
              <a:t>Key External Components</a:t>
            </a:r>
            <a:endParaRPr lang="en-US" b="1" dirty="0">
              <a:solidFill>
                <a:srgbClr val="C00000"/>
              </a:solidFill>
            </a:endParaRPr>
          </a:p>
        </p:txBody>
      </p:sp>
      <p:pic>
        <p:nvPicPr>
          <p:cNvPr id="8" name="Picture 7"/>
          <p:cNvPicPr>
            <a:picLocks noChangeAspect="1"/>
          </p:cNvPicPr>
          <p:nvPr/>
        </p:nvPicPr>
        <p:blipFill>
          <a:blip r:embed="rId3"/>
          <a:stretch>
            <a:fillRect/>
          </a:stretch>
        </p:blipFill>
        <p:spPr>
          <a:xfrm>
            <a:off x="8305800" y="3053862"/>
            <a:ext cx="3686175" cy="1984863"/>
          </a:xfrm>
          <a:prstGeom prst="rect">
            <a:avLst/>
          </a:prstGeom>
        </p:spPr>
      </p:pic>
      <p:graphicFrame>
        <p:nvGraphicFramePr>
          <p:cNvPr id="4" name="Table 3"/>
          <p:cNvGraphicFramePr>
            <a:graphicFrameLocks noGrp="1"/>
          </p:cNvGraphicFramePr>
          <p:nvPr>
            <p:extLst/>
          </p:nvPr>
        </p:nvGraphicFramePr>
        <p:xfrm>
          <a:off x="724248" y="2444317"/>
          <a:ext cx="7200551" cy="2762250"/>
        </p:xfrm>
        <a:graphic>
          <a:graphicData uri="http://schemas.openxmlformats.org/drawingml/2006/table">
            <a:tbl>
              <a:tblPr firstRow="1" firstCol="1">
                <a:tableStyleId>{FABFCF23-3B69-468F-B69F-88F6DE6A72F2}</a:tableStyleId>
              </a:tblPr>
              <a:tblGrid>
                <a:gridCol w="1279044">
                  <a:extLst>
                    <a:ext uri="{9D8B030D-6E8A-4147-A177-3AD203B41FA5}">
                      <a16:colId xmlns:a16="http://schemas.microsoft.com/office/drawing/2014/main" val="1499132370"/>
                    </a:ext>
                  </a:extLst>
                </a:gridCol>
                <a:gridCol w="3136648">
                  <a:extLst>
                    <a:ext uri="{9D8B030D-6E8A-4147-A177-3AD203B41FA5}">
                      <a16:colId xmlns:a16="http://schemas.microsoft.com/office/drawing/2014/main" val="1376801521"/>
                    </a:ext>
                  </a:extLst>
                </a:gridCol>
                <a:gridCol w="2784859">
                  <a:extLst>
                    <a:ext uri="{9D8B030D-6E8A-4147-A177-3AD203B41FA5}">
                      <a16:colId xmlns:a16="http://schemas.microsoft.com/office/drawing/2014/main" val="481116773"/>
                    </a:ext>
                  </a:extLst>
                </a:gridCol>
              </a:tblGrid>
              <a:tr h="306917">
                <a:tc>
                  <a:txBody>
                    <a:bodyPr/>
                    <a:lstStyle/>
                    <a:p>
                      <a:r>
                        <a:rPr lang="en-US" sz="1500" dirty="0"/>
                        <a:t>Peripheral</a:t>
                      </a:r>
                    </a:p>
                  </a:txBody>
                  <a:tcPr marL="76729" marR="76729" marT="38365" marB="38365" anchor="ctr"/>
                </a:tc>
                <a:tc>
                  <a:txBody>
                    <a:bodyPr/>
                    <a:lstStyle/>
                    <a:p>
                      <a:r>
                        <a:rPr lang="en-US" sz="1500" dirty="0"/>
                        <a:t>What It Does</a:t>
                      </a:r>
                    </a:p>
                  </a:txBody>
                  <a:tcPr marL="76729" marR="76729" marT="38365" marB="38365" anchor="ctr"/>
                </a:tc>
                <a:tc>
                  <a:txBody>
                    <a:bodyPr/>
                    <a:lstStyle/>
                    <a:p>
                      <a:r>
                        <a:rPr lang="en-US" sz="1500" dirty="0"/>
                        <a:t>Common Port</a:t>
                      </a:r>
                    </a:p>
                  </a:txBody>
                  <a:tcPr marL="76729" marR="76729" marT="38365" marB="38365" anchor="ctr"/>
                </a:tc>
                <a:extLst>
                  <a:ext uri="{0D108BD9-81ED-4DB2-BD59-A6C34878D82A}">
                    <a16:rowId xmlns:a16="http://schemas.microsoft.com/office/drawing/2014/main" val="3084921428"/>
                  </a:ext>
                </a:extLst>
              </a:tr>
              <a:tr h="537104">
                <a:tc>
                  <a:txBody>
                    <a:bodyPr/>
                    <a:lstStyle/>
                    <a:p>
                      <a:r>
                        <a:rPr lang="en-US" sz="1500" dirty="0"/>
                        <a:t>Monitor</a:t>
                      </a:r>
                    </a:p>
                  </a:txBody>
                  <a:tcPr marL="76729" marR="76729" marT="38365" marB="38365" anchor="ctr"/>
                </a:tc>
                <a:tc>
                  <a:txBody>
                    <a:bodyPr/>
                    <a:lstStyle/>
                    <a:p>
                      <a:r>
                        <a:rPr lang="en-US" sz="1500" dirty="0"/>
                        <a:t>Displays the visual information.</a:t>
                      </a:r>
                    </a:p>
                  </a:txBody>
                  <a:tcPr marL="76729" marR="76729" marT="38365" marB="38365" anchor="ctr"/>
                </a:tc>
                <a:tc>
                  <a:txBody>
                    <a:bodyPr/>
                    <a:lstStyle/>
                    <a:p>
                      <a:r>
                        <a:rPr lang="en-US" sz="1500"/>
                        <a:t>HDMI (common digital), VGA (older)</a:t>
                      </a:r>
                    </a:p>
                  </a:txBody>
                  <a:tcPr marL="76729" marR="76729" marT="38365" marB="38365" anchor="ctr"/>
                </a:tc>
                <a:extLst>
                  <a:ext uri="{0D108BD9-81ED-4DB2-BD59-A6C34878D82A}">
                    <a16:rowId xmlns:a16="http://schemas.microsoft.com/office/drawing/2014/main" val="1802445786"/>
                  </a:ext>
                </a:extLst>
              </a:tr>
              <a:tr h="537104">
                <a:tc>
                  <a:txBody>
                    <a:bodyPr/>
                    <a:lstStyle/>
                    <a:p>
                      <a:r>
                        <a:rPr lang="en-US" sz="1500"/>
                        <a:t>Keyboard</a:t>
                      </a:r>
                    </a:p>
                  </a:txBody>
                  <a:tcPr marL="76729" marR="76729" marT="38365" marB="38365" anchor="ctr"/>
                </a:tc>
                <a:tc>
                  <a:txBody>
                    <a:bodyPr/>
                    <a:lstStyle/>
                    <a:p>
                      <a:r>
                        <a:rPr lang="en-US" sz="1500" dirty="0"/>
                        <a:t>Used to type information.</a:t>
                      </a:r>
                    </a:p>
                  </a:txBody>
                  <a:tcPr marL="76729" marR="76729" marT="38365" marB="38365" anchor="ctr"/>
                </a:tc>
                <a:tc>
                  <a:txBody>
                    <a:bodyPr/>
                    <a:lstStyle/>
                    <a:p>
                      <a:r>
                        <a:rPr lang="en-US" sz="1500" dirty="0"/>
                        <a:t>USB-A (the classic rectangle)</a:t>
                      </a:r>
                    </a:p>
                  </a:txBody>
                  <a:tcPr marL="76729" marR="76729" marT="38365" marB="38365" anchor="ctr"/>
                </a:tc>
                <a:extLst>
                  <a:ext uri="{0D108BD9-81ED-4DB2-BD59-A6C34878D82A}">
                    <a16:rowId xmlns:a16="http://schemas.microsoft.com/office/drawing/2014/main" val="303196633"/>
                  </a:ext>
                </a:extLst>
              </a:tr>
              <a:tr h="537104">
                <a:tc>
                  <a:txBody>
                    <a:bodyPr/>
                    <a:lstStyle/>
                    <a:p>
                      <a:r>
                        <a:rPr lang="en-US" sz="1500"/>
                        <a:t>Mouse</a:t>
                      </a:r>
                    </a:p>
                  </a:txBody>
                  <a:tcPr marL="76729" marR="76729" marT="38365" marB="38365" anchor="ctr"/>
                </a:tc>
                <a:tc>
                  <a:txBody>
                    <a:bodyPr/>
                    <a:lstStyle/>
                    <a:p>
                      <a:r>
                        <a:rPr lang="en-US" sz="1500"/>
                        <a:t>Used to move the cursor and interact.</a:t>
                      </a:r>
                    </a:p>
                  </a:txBody>
                  <a:tcPr marL="76729" marR="76729" marT="38365" marB="38365" anchor="ctr"/>
                </a:tc>
                <a:tc>
                  <a:txBody>
                    <a:bodyPr/>
                    <a:lstStyle/>
                    <a:p>
                      <a:r>
                        <a:rPr lang="en-US" sz="1500" dirty="0"/>
                        <a:t>USB-A</a:t>
                      </a:r>
                    </a:p>
                  </a:txBody>
                  <a:tcPr marL="76729" marR="76729" marT="38365" marB="38365" anchor="ctr"/>
                </a:tc>
                <a:extLst>
                  <a:ext uri="{0D108BD9-81ED-4DB2-BD59-A6C34878D82A}">
                    <a16:rowId xmlns:a16="http://schemas.microsoft.com/office/drawing/2014/main" val="3618845188"/>
                  </a:ext>
                </a:extLst>
              </a:tr>
              <a:tr h="537104">
                <a:tc>
                  <a:txBody>
                    <a:bodyPr/>
                    <a:lstStyle/>
                    <a:p>
                      <a:r>
                        <a:rPr lang="en-US" sz="1500"/>
                        <a:t>Headset</a:t>
                      </a:r>
                    </a:p>
                  </a:txBody>
                  <a:tcPr marL="76729" marR="76729" marT="38365" marB="38365" anchor="ctr"/>
                </a:tc>
                <a:tc>
                  <a:txBody>
                    <a:bodyPr/>
                    <a:lstStyle/>
                    <a:p>
                      <a:r>
                        <a:rPr lang="en-US" sz="1500"/>
                        <a:t>Used for audio calls, meetings, and listening.</a:t>
                      </a:r>
                    </a:p>
                  </a:txBody>
                  <a:tcPr marL="76729" marR="76729" marT="38365" marB="38365" anchor="ctr"/>
                </a:tc>
                <a:tc>
                  <a:txBody>
                    <a:bodyPr/>
                    <a:lstStyle/>
                    <a:p>
                      <a:r>
                        <a:rPr lang="en-US" sz="1500" dirty="0"/>
                        <a:t>Audio Jack (small circle) or USB-A</a:t>
                      </a:r>
                    </a:p>
                  </a:txBody>
                  <a:tcPr marL="76729" marR="76729" marT="38365" marB="38365" anchor="ctr"/>
                </a:tc>
                <a:extLst>
                  <a:ext uri="{0D108BD9-81ED-4DB2-BD59-A6C34878D82A}">
                    <a16:rowId xmlns:a16="http://schemas.microsoft.com/office/drawing/2014/main" val="2352147698"/>
                  </a:ext>
                </a:extLst>
              </a:tr>
              <a:tr h="306917">
                <a:tc>
                  <a:txBody>
                    <a:bodyPr/>
                    <a:lstStyle/>
                    <a:p>
                      <a:r>
                        <a:rPr lang="en-US" sz="1500"/>
                        <a:t>Printer</a:t>
                      </a:r>
                    </a:p>
                  </a:txBody>
                  <a:tcPr marL="76729" marR="76729" marT="38365" marB="38365" anchor="ctr"/>
                </a:tc>
                <a:tc>
                  <a:txBody>
                    <a:bodyPr/>
                    <a:lstStyle/>
                    <a:p>
                      <a:r>
                        <a:rPr lang="en-US" sz="1500"/>
                        <a:t>Prints documents.</a:t>
                      </a:r>
                    </a:p>
                  </a:txBody>
                  <a:tcPr marL="76729" marR="76729" marT="38365" marB="38365" anchor="ctr"/>
                </a:tc>
                <a:tc>
                  <a:txBody>
                    <a:bodyPr/>
                    <a:lstStyle/>
                    <a:p>
                      <a:r>
                        <a:rPr lang="en-US" sz="1500" dirty="0"/>
                        <a:t>USB-A or Wi-Fi (network)</a:t>
                      </a:r>
                    </a:p>
                  </a:txBody>
                  <a:tcPr marL="76729" marR="76729" marT="38365" marB="38365" anchor="ctr"/>
                </a:tc>
                <a:extLst>
                  <a:ext uri="{0D108BD9-81ED-4DB2-BD59-A6C34878D82A}">
                    <a16:rowId xmlns:a16="http://schemas.microsoft.com/office/drawing/2014/main" val="1137092689"/>
                  </a:ext>
                </a:extLst>
              </a:tr>
            </a:tbl>
          </a:graphicData>
        </a:graphic>
      </p:graphicFrame>
    </p:spTree>
    <p:extLst>
      <p:ext uri="{BB962C8B-B14F-4D97-AF65-F5344CB8AC3E}">
        <p14:creationId xmlns:p14="http://schemas.microsoft.com/office/powerpoint/2010/main" val="17579779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1: Computer Hardware Basics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10</a:t>
            </a:fld>
            <a:endParaRPr spc="-25" dirty="0"/>
          </a:p>
        </p:txBody>
      </p:sp>
      <p:sp>
        <p:nvSpPr>
          <p:cNvPr id="6" name="TextBox 5"/>
          <p:cNvSpPr txBox="1"/>
          <p:nvPr/>
        </p:nvSpPr>
        <p:spPr>
          <a:xfrm>
            <a:off x="990600" y="1447800"/>
            <a:ext cx="3377848" cy="369332"/>
          </a:xfrm>
          <a:prstGeom prst="rect">
            <a:avLst/>
          </a:prstGeom>
          <a:noFill/>
        </p:spPr>
        <p:txBody>
          <a:bodyPr wrap="none" rtlCol="1">
            <a:spAutoFit/>
          </a:bodyPr>
          <a:lstStyle/>
          <a:p>
            <a:r>
              <a:rPr lang="en-US" b="1" dirty="0" smtClean="0">
                <a:solidFill>
                  <a:srgbClr val="C00000"/>
                </a:solidFill>
              </a:rPr>
              <a:t>Basic Troubleshooting Steps</a:t>
            </a:r>
            <a:endParaRPr lang="en-US" b="1" dirty="0">
              <a:solidFill>
                <a:srgbClr val="C00000"/>
              </a:solidFill>
            </a:endParaRPr>
          </a:p>
        </p:txBody>
      </p:sp>
      <p:sp>
        <p:nvSpPr>
          <p:cNvPr id="9" name="TextBox 8"/>
          <p:cNvSpPr txBox="1"/>
          <p:nvPr/>
        </p:nvSpPr>
        <p:spPr>
          <a:xfrm>
            <a:off x="1116541" y="2209800"/>
            <a:ext cx="6638274" cy="3323987"/>
          </a:xfrm>
          <a:prstGeom prst="rect">
            <a:avLst/>
          </a:prstGeom>
          <a:noFill/>
        </p:spPr>
        <p:txBody>
          <a:bodyPr wrap="square" rtlCol="1">
            <a:spAutoFit/>
          </a:bodyPr>
          <a:lstStyle/>
          <a:p>
            <a:r>
              <a:rPr lang="en-US" sz="1600" dirty="0" smtClean="0"/>
              <a:t>Before you call IT, try these simple steps. This solves a surprising number of issues!</a:t>
            </a:r>
            <a:endParaRPr lang="ar-BH" sz="1600" dirty="0" smtClean="0"/>
          </a:p>
          <a:p>
            <a:endParaRPr lang="en-US" sz="1600" dirty="0" smtClean="0"/>
          </a:p>
          <a:p>
            <a:pPr marL="285750" indent="-285750">
              <a:buFont typeface="Wingdings" panose="05000000000000000000" pitchFamily="2" charset="2"/>
              <a:buChar char="q"/>
            </a:pPr>
            <a:r>
              <a:rPr lang="en-US" sz="1600" b="1" dirty="0" smtClean="0"/>
              <a:t>"Have you tried turning it off and on again?"</a:t>
            </a:r>
            <a:r>
              <a:rPr lang="en-US" sz="1600" dirty="0" smtClean="0"/>
              <a:t> A full restart (not just "Sleep") clears the computer's temporary memory (RAM) and fixes many small glitches.</a:t>
            </a:r>
            <a:endParaRPr lang="ar-BH" sz="1600" dirty="0" smtClean="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t>Check Your Cables:</a:t>
            </a:r>
            <a:r>
              <a:rPr lang="en-US" sz="1600" dirty="0" smtClean="0"/>
              <a:t> Is the monitor cable plugged in securely at both ends? Is the keyboard's USB plug all the way in?</a:t>
            </a:r>
            <a:endParaRPr lang="ar-BH" sz="1600" dirty="0" smtClean="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t>Check the Power:</a:t>
            </a:r>
            <a:r>
              <a:rPr lang="en-US" sz="1600" dirty="0" smtClean="0"/>
              <a:t> Is the power strip turned on? Is the laptop's charging cable plugged in?</a:t>
            </a:r>
          </a:p>
          <a:p>
            <a:endParaRPr lang="ar-EG" dirty="0"/>
          </a:p>
        </p:txBody>
      </p:sp>
      <p:pic>
        <p:nvPicPr>
          <p:cNvPr id="10" name="Picture 9"/>
          <p:cNvPicPr>
            <a:picLocks noChangeAspect="1"/>
          </p:cNvPicPr>
          <p:nvPr/>
        </p:nvPicPr>
        <p:blipFill>
          <a:blip r:embed="rId3"/>
          <a:stretch>
            <a:fillRect/>
          </a:stretch>
        </p:blipFill>
        <p:spPr>
          <a:xfrm>
            <a:off x="7612485" y="1295400"/>
            <a:ext cx="4249978" cy="4657725"/>
          </a:xfrm>
          <a:prstGeom prst="rect">
            <a:avLst/>
          </a:prstGeom>
        </p:spPr>
      </p:pic>
    </p:spTree>
    <p:extLst>
      <p:ext uri="{BB962C8B-B14F-4D97-AF65-F5344CB8AC3E}">
        <p14:creationId xmlns:p14="http://schemas.microsoft.com/office/powerpoint/2010/main" val="19406153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1: Computer Hardware Basics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11</a:t>
            </a:fld>
            <a:endParaRPr spc="-25" dirty="0"/>
          </a:p>
        </p:txBody>
      </p:sp>
      <p:sp>
        <p:nvSpPr>
          <p:cNvPr id="6" name="TextBox 5"/>
          <p:cNvSpPr txBox="1"/>
          <p:nvPr/>
        </p:nvSpPr>
        <p:spPr>
          <a:xfrm>
            <a:off x="990600" y="1447800"/>
            <a:ext cx="2121093" cy="369332"/>
          </a:xfrm>
          <a:prstGeom prst="rect">
            <a:avLst/>
          </a:prstGeom>
          <a:noFill/>
        </p:spPr>
        <p:txBody>
          <a:bodyPr wrap="none" rtlCol="1">
            <a:spAutoFit/>
          </a:bodyPr>
          <a:lstStyle/>
          <a:p>
            <a:r>
              <a:rPr lang="en-US" b="1" dirty="0" smtClean="0">
                <a:solidFill>
                  <a:srgbClr val="C00000"/>
                </a:solidFill>
              </a:rPr>
              <a:t>Quick Discussion</a:t>
            </a:r>
            <a:endParaRPr lang="en-US" b="1" dirty="0">
              <a:solidFill>
                <a:srgbClr val="C00000"/>
              </a:solidFill>
            </a:endParaRPr>
          </a:p>
        </p:txBody>
      </p:sp>
      <p:sp>
        <p:nvSpPr>
          <p:cNvPr id="9" name="TextBox 8"/>
          <p:cNvSpPr txBox="1"/>
          <p:nvPr/>
        </p:nvSpPr>
        <p:spPr>
          <a:xfrm>
            <a:off x="1116541" y="2286000"/>
            <a:ext cx="6638274" cy="3570208"/>
          </a:xfrm>
          <a:prstGeom prst="rect">
            <a:avLst/>
          </a:prstGeom>
          <a:noFill/>
        </p:spPr>
        <p:txBody>
          <a:bodyPr wrap="square" rtlCol="1">
            <a:spAutoFit/>
          </a:bodyPr>
          <a:lstStyle/>
          <a:p>
            <a:r>
              <a:rPr lang="en-US" sz="1600" dirty="0" smtClean="0"/>
              <a:t>Let's talk about this for a minute:</a:t>
            </a:r>
          </a:p>
          <a:p>
            <a:endParaRPr lang="en-US" sz="1600" dirty="0" smtClean="0"/>
          </a:p>
          <a:p>
            <a:pPr marL="285750" indent="-285750">
              <a:buFont typeface="Wingdings" panose="05000000000000000000" pitchFamily="2" charset="2"/>
              <a:buChar char="q"/>
            </a:pPr>
            <a:r>
              <a:rPr lang="en-US" sz="1600" dirty="0" smtClean="0"/>
              <a:t>When your computer monitor suddenly goes black, what's the </a:t>
            </a:r>
            <a:r>
              <a:rPr lang="en-US" sz="1600" i="1" dirty="0" smtClean="0"/>
              <a:t>first</a:t>
            </a:r>
            <a:r>
              <a:rPr lang="en-US" sz="1600" dirty="0" smtClean="0"/>
              <a:t> thing you should check?</a:t>
            </a:r>
            <a:endParaRPr lang="ar-BH" sz="1600" dirty="0" smtClean="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dirty="0" smtClean="0"/>
              <a:t>When we talk about "RAM" vs. "Storage," what's the real-world difference for your daily work?</a:t>
            </a:r>
            <a:endParaRPr lang="ar-BH" sz="1600" dirty="0" smtClean="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dirty="0" smtClean="0"/>
              <a:t>Who is responsible for making sure your keyboard and mouse are plugged in correctly each morning?</a:t>
            </a:r>
            <a:endParaRPr lang="ar-BH" sz="1600" dirty="0" smtClean="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dirty="0" smtClean="0"/>
              <a:t>Have you ever solved a "big" computer problem with a very simple fix (like a restart)?</a:t>
            </a:r>
          </a:p>
          <a:p>
            <a:endParaRPr lang="ar-EG" dirty="0"/>
          </a:p>
        </p:txBody>
      </p:sp>
      <p:pic>
        <p:nvPicPr>
          <p:cNvPr id="7" name="object 4"/>
          <p:cNvPicPr/>
          <p:nvPr/>
        </p:nvPicPr>
        <p:blipFill>
          <a:blip r:embed="rId3" cstate="print"/>
          <a:stretch>
            <a:fillRect/>
          </a:stretch>
        </p:blipFill>
        <p:spPr>
          <a:xfrm>
            <a:off x="8077200" y="1828800"/>
            <a:ext cx="3814572" cy="3733800"/>
          </a:xfrm>
          <a:prstGeom prst="rect">
            <a:avLst/>
          </a:prstGeom>
        </p:spPr>
      </p:pic>
    </p:spTree>
    <p:extLst>
      <p:ext uri="{BB962C8B-B14F-4D97-AF65-F5344CB8AC3E}">
        <p14:creationId xmlns:p14="http://schemas.microsoft.com/office/powerpoint/2010/main" val="6907247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1718102"/>
            <a:ext cx="7467600" cy="3570926"/>
          </a:xfrm>
          <a:prstGeom prst="rect">
            <a:avLst/>
          </a:prstGeom>
        </p:spPr>
        <p:txBody>
          <a:bodyPr vert="horz" wrap="square" lIns="0" tIns="244551" rIns="0" bIns="0" rtlCol="0" anchor="ctr">
            <a:spAutoFit/>
          </a:bodyPr>
          <a:lstStyle/>
          <a:p>
            <a:pPr algn="ctr"/>
            <a:r>
              <a:rPr lang="en-US" sz="5400" dirty="0" smtClean="0"/>
              <a:t>Module 2: </a:t>
            </a:r>
            <a:br>
              <a:rPr lang="en-US" sz="5400" dirty="0" smtClean="0"/>
            </a:br>
            <a:r>
              <a:rPr lang="en-US" sz="5400" dirty="0" smtClean="0"/>
              <a:t>Using </a:t>
            </a:r>
            <a:r>
              <a:rPr lang="en-US" sz="5400" dirty="0"/>
              <a:t>Outlook Effectively</a:t>
            </a:r>
            <a:br>
              <a:rPr lang="en-US" sz="5400" dirty="0"/>
            </a:br>
            <a:endParaRPr lang="en-US" sz="54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12</a:t>
            </a:fld>
            <a:endParaRPr spc="-25" dirty="0"/>
          </a:p>
        </p:txBody>
      </p:sp>
    </p:spTree>
    <p:extLst>
      <p:ext uri="{BB962C8B-B14F-4D97-AF65-F5344CB8AC3E}">
        <p14:creationId xmlns:p14="http://schemas.microsoft.com/office/powerpoint/2010/main" val="40363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2: Using Outlook</a:t>
            </a:r>
            <a:endParaRPr lang="en-US" sz="28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13</a:t>
            </a:fld>
            <a:endParaRPr spc="-25" dirty="0"/>
          </a:p>
        </p:txBody>
      </p:sp>
      <p:sp>
        <p:nvSpPr>
          <p:cNvPr id="6" name="TextBox 5"/>
          <p:cNvSpPr txBox="1"/>
          <p:nvPr/>
        </p:nvSpPr>
        <p:spPr>
          <a:xfrm>
            <a:off x="990600" y="1447800"/>
            <a:ext cx="4249881" cy="369332"/>
          </a:xfrm>
          <a:prstGeom prst="rect">
            <a:avLst/>
          </a:prstGeom>
          <a:noFill/>
        </p:spPr>
        <p:txBody>
          <a:bodyPr wrap="none" rtlCol="1">
            <a:spAutoFit/>
          </a:bodyPr>
          <a:lstStyle/>
          <a:p>
            <a:r>
              <a:rPr lang="en-US" b="1" dirty="0" smtClean="0">
                <a:solidFill>
                  <a:srgbClr val="C00000"/>
                </a:solidFill>
              </a:rPr>
              <a:t>The Anatomy of a Professional Email</a:t>
            </a:r>
            <a:endParaRPr lang="en-US" b="1" dirty="0">
              <a:solidFill>
                <a:srgbClr val="C00000"/>
              </a:solidFill>
            </a:endParaRPr>
          </a:p>
        </p:txBody>
      </p:sp>
      <p:sp>
        <p:nvSpPr>
          <p:cNvPr id="9" name="TextBox 8"/>
          <p:cNvSpPr txBox="1"/>
          <p:nvPr/>
        </p:nvSpPr>
        <p:spPr>
          <a:xfrm>
            <a:off x="990600" y="2362200"/>
            <a:ext cx="7696200" cy="923330"/>
          </a:xfrm>
          <a:prstGeom prst="rect">
            <a:avLst/>
          </a:prstGeom>
          <a:noFill/>
        </p:spPr>
        <p:txBody>
          <a:bodyPr wrap="square" rtlCol="1">
            <a:spAutoFit/>
          </a:bodyPr>
          <a:lstStyle/>
          <a:p>
            <a:r>
              <a:rPr lang="en-US" b="1" dirty="0" smtClean="0"/>
              <a:t>Clear, Concise Subject Line:</a:t>
            </a:r>
            <a:r>
              <a:rPr lang="en-US" dirty="0" smtClean="0"/>
              <a:t> This is the most important part!</a:t>
            </a:r>
          </a:p>
          <a:p>
            <a:endParaRPr lang="en-US" dirty="0" smtClean="0"/>
          </a:p>
          <a:p>
            <a:endParaRPr lang="ar-EG" dirty="0"/>
          </a:p>
        </p:txBody>
      </p:sp>
      <p:sp>
        <p:nvSpPr>
          <p:cNvPr id="11" name="Rectangle 5"/>
          <p:cNvSpPr>
            <a:spLocks noChangeArrowheads="1"/>
          </p:cNvSpPr>
          <p:nvPr/>
        </p:nvSpPr>
        <p:spPr bwMode="auto">
          <a:xfrm>
            <a:off x="1279140" y="2866310"/>
            <a:ext cx="5458546"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ar-EG" altLang="ar-EG"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ar-EG" altLang="ar-EG" sz="1600" b="1" u="none" strike="noStrike" cap="none" normalizeH="0" baseline="0" dirty="0" smtClean="0">
                <a:ln>
                  <a:noFill/>
                </a:ln>
                <a:solidFill>
                  <a:srgbClr val="C00000"/>
                </a:solidFill>
                <a:effectLst/>
                <a:latin typeface="Arial" panose="020B0604020202020204" pitchFamily="34" charset="0"/>
              </a:rPr>
              <a:t>Bad</a:t>
            </a:r>
            <a:r>
              <a:rPr lang="en-US" altLang="ar-EG" sz="1600" dirty="0">
                <a:solidFill>
                  <a:schemeClr val="tx1"/>
                </a:solidFill>
                <a:latin typeface="Arial" panose="020B0604020202020204" pitchFamily="34" charset="0"/>
              </a:rPr>
              <a:t>:</a:t>
            </a:r>
            <a:r>
              <a:rPr kumimoji="0" lang="ar-EG" altLang="ar-EG" sz="1600" b="0" u="none" strike="noStrike" cap="none" normalizeH="0" baseline="0" dirty="0" smtClean="0">
                <a:ln>
                  <a:noFill/>
                </a:ln>
                <a:solidFill>
                  <a:schemeClr val="tx1"/>
                </a:solidFill>
                <a:effectLst/>
                <a:latin typeface="Arial" panose="020B0604020202020204" pitchFamily="34" charset="0"/>
              </a:rPr>
              <a:t> </a:t>
            </a:r>
            <a:r>
              <a:rPr kumimoji="0" lang="ar-EG" altLang="ar-EG" sz="1600" b="0" i="1" u="none" strike="noStrike" cap="none" normalizeH="0" baseline="0" dirty="0" smtClean="0">
                <a:ln>
                  <a:noFill/>
                </a:ln>
                <a:solidFill>
                  <a:schemeClr val="tx1"/>
                </a:solidFill>
                <a:effectLst/>
                <a:latin typeface="Arial Unicode MS"/>
              </a:rPr>
              <a:t>Update</a:t>
            </a:r>
            <a:endParaRPr kumimoji="0" lang="en-US" altLang="ar-EG" sz="1600" b="0" i="1" u="none" strike="noStrike" cap="none" normalizeH="0" baseline="0" dirty="0" smtClean="0">
              <a:ln>
                <a:noFill/>
              </a:ln>
              <a:solidFill>
                <a:schemeClr val="tx1"/>
              </a:solidFill>
              <a:effectLst/>
              <a:latin typeface="Arial Unicode M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ar-EG" sz="1600" dirty="0">
              <a:solidFill>
                <a:schemeClr val="tx1"/>
              </a:solidFill>
              <a:latin typeface="Arial Unicode M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ar-EG" sz="1600" b="0" u="none" strike="noStrike" cap="none" normalizeH="0" baseline="0" dirty="0" smtClean="0">
              <a:ln>
                <a:noFill/>
              </a:ln>
              <a:solidFill>
                <a:schemeClr val="tx1"/>
              </a:solidFill>
              <a:effectLst/>
              <a:latin typeface="Arial Unicode MS"/>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ar-EG" altLang="ar-EG" sz="1600" b="1" u="none" strike="noStrike" cap="none" normalizeH="0" baseline="0" dirty="0" smtClean="0">
                <a:ln>
                  <a:noFill/>
                </a:ln>
                <a:solidFill>
                  <a:srgbClr val="0070C0"/>
                </a:solidFill>
                <a:effectLst/>
                <a:latin typeface="Arial" panose="020B0604020202020204" pitchFamily="34" charset="0"/>
              </a:rPr>
              <a:t>Good</a:t>
            </a:r>
            <a:r>
              <a:rPr lang="en-US" altLang="ar-EG" sz="1600" dirty="0">
                <a:solidFill>
                  <a:srgbClr val="0070C0"/>
                </a:solidFill>
                <a:latin typeface="Arial" panose="020B0604020202020204" pitchFamily="34" charset="0"/>
              </a:rPr>
              <a:t>:</a:t>
            </a:r>
            <a:r>
              <a:rPr kumimoji="0" lang="ar-EG" altLang="ar-EG" sz="1600" b="0" u="none" strike="noStrike" cap="none" normalizeH="0" baseline="0" dirty="0" smtClean="0">
                <a:ln>
                  <a:noFill/>
                </a:ln>
                <a:solidFill>
                  <a:schemeClr val="tx1"/>
                </a:solidFill>
                <a:effectLst/>
                <a:latin typeface="Arial" panose="020B0604020202020204" pitchFamily="34" charset="0"/>
              </a:rPr>
              <a:t> </a:t>
            </a:r>
            <a:r>
              <a:rPr kumimoji="0" lang="ar-EG" altLang="ar-EG" sz="1600" b="0" i="1" u="none" strike="noStrike" cap="none" normalizeH="0" baseline="0" dirty="0" smtClean="0">
                <a:ln>
                  <a:noFill/>
                </a:ln>
                <a:solidFill>
                  <a:schemeClr val="tx1"/>
                </a:solidFill>
                <a:effectLst/>
                <a:latin typeface="Arial Unicode MS"/>
              </a:rPr>
              <a:t>Project X: Update on Task 1 - Ready for Review</a:t>
            </a:r>
            <a:endParaRPr kumimoji="0" lang="ar-EG" altLang="ar-EG" sz="1600" b="0" i="1" u="none" strike="noStrike" cap="none" normalizeH="0" baseline="0" dirty="0" smtClean="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ar-EG" sz="1600" b="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ar-EG" sz="16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ar-EG" altLang="ar-EG" sz="1600" b="1" u="none" strike="noStrike" cap="none" normalizeH="0" baseline="0" dirty="0" smtClean="0">
                <a:ln>
                  <a:noFill/>
                </a:ln>
                <a:solidFill>
                  <a:srgbClr val="0070C0"/>
                </a:solidFill>
                <a:effectLst/>
                <a:latin typeface="Arial" panose="020B0604020202020204" pitchFamily="34" charset="0"/>
              </a:rPr>
              <a:t>Good</a:t>
            </a:r>
            <a:r>
              <a:rPr lang="en-US" altLang="ar-EG" sz="1600" dirty="0">
                <a:solidFill>
                  <a:srgbClr val="0070C0"/>
                </a:solidFill>
                <a:latin typeface="Arial" panose="020B0604020202020204" pitchFamily="34" charset="0"/>
              </a:rPr>
              <a:t>:</a:t>
            </a:r>
            <a:r>
              <a:rPr kumimoji="0" lang="ar-EG" altLang="ar-EG" sz="1600" b="0" u="none" strike="noStrike" cap="none" normalizeH="0" baseline="0" dirty="0" smtClean="0">
                <a:ln>
                  <a:noFill/>
                </a:ln>
                <a:solidFill>
                  <a:schemeClr val="tx1"/>
                </a:solidFill>
                <a:effectLst/>
                <a:latin typeface="Arial" panose="020B0604020202020204" pitchFamily="34" charset="0"/>
              </a:rPr>
              <a:t> </a:t>
            </a:r>
            <a:r>
              <a:rPr kumimoji="0" lang="ar-EG" altLang="ar-EG" sz="1600" b="0" i="1" u="none" strike="noStrike" cap="none" normalizeH="0" baseline="0" dirty="0" smtClean="0">
                <a:ln>
                  <a:noFill/>
                </a:ln>
                <a:solidFill>
                  <a:schemeClr val="tx1"/>
                </a:solidFill>
                <a:effectLst/>
                <a:latin typeface="Arial Unicode MS"/>
              </a:rPr>
              <a:t>Question: Deadline for Training Budget</a:t>
            </a:r>
            <a:endParaRPr kumimoji="0" lang="ar-EG" altLang="ar-EG" sz="1600" b="0" i="1"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ar-EG" altLang="ar-EG" sz="1800" b="0" i="0" u="none" strike="noStrike" cap="none" normalizeH="0" baseline="0" dirty="0" smtClean="0">
              <a:ln>
                <a:noFill/>
              </a:ln>
              <a:solidFill>
                <a:schemeClr val="tx1"/>
              </a:solidFill>
              <a:effectLst/>
              <a:latin typeface="Arial" panose="020B0604020202020204" pitchFamily="34"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7185" y="1524000"/>
            <a:ext cx="5186343" cy="43477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942168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2: Using Outlook</a:t>
            </a:r>
            <a:endParaRPr lang="en-US" sz="28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14</a:t>
            </a:fld>
            <a:endParaRPr spc="-25" dirty="0"/>
          </a:p>
        </p:txBody>
      </p:sp>
      <p:sp>
        <p:nvSpPr>
          <p:cNvPr id="6" name="TextBox 5"/>
          <p:cNvSpPr txBox="1"/>
          <p:nvPr/>
        </p:nvSpPr>
        <p:spPr>
          <a:xfrm>
            <a:off x="990600" y="1447800"/>
            <a:ext cx="4249881" cy="369332"/>
          </a:xfrm>
          <a:prstGeom prst="rect">
            <a:avLst/>
          </a:prstGeom>
          <a:noFill/>
        </p:spPr>
        <p:txBody>
          <a:bodyPr wrap="none" rtlCol="1">
            <a:spAutoFit/>
          </a:bodyPr>
          <a:lstStyle/>
          <a:p>
            <a:r>
              <a:rPr lang="en-US" b="1" dirty="0" smtClean="0">
                <a:solidFill>
                  <a:srgbClr val="C00000"/>
                </a:solidFill>
              </a:rPr>
              <a:t>The Anatomy of a Professional Email</a:t>
            </a:r>
            <a:endParaRPr lang="en-US" b="1" dirty="0">
              <a:solidFill>
                <a:srgbClr val="C00000"/>
              </a:solidFill>
            </a:endParaRPr>
          </a:p>
        </p:txBody>
      </p:sp>
      <p:sp>
        <p:nvSpPr>
          <p:cNvPr id="9" name="TextBox 8"/>
          <p:cNvSpPr txBox="1"/>
          <p:nvPr/>
        </p:nvSpPr>
        <p:spPr>
          <a:xfrm>
            <a:off x="990600" y="2362200"/>
            <a:ext cx="7696200" cy="646331"/>
          </a:xfrm>
          <a:prstGeom prst="rect">
            <a:avLst/>
          </a:prstGeom>
          <a:noFill/>
        </p:spPr>
        <p:txBody>
          <a:bodyPr wrap="square" rtlCol="1">
            <a:spAutoFit/>
          </a:bodyPr>
          <a:lstStyle/>
          <a:p>
            <a:r>
              <a:rPr lang="en-US" b="1" dirty="0" smtClean="0"/>
              <a:t>Professional Greeting</a:t>
            </a:r>
            <a:endParaRPr lang="en-US" dirty="0" smtClean="0"/>
          </a:p>
          <a:p>
            <a:endParaRPr lang="ar-EG" dirty="0"/>
          </a:p>
        </p:txBody>
      </p:sp>
      <p:sp>
        <p:nvSpPr>
          <p:cNvPr id="11" name="Rectangle 5"/>
          <p:cNvSpPr>
            <a:spLocks noChangeArrowheads="1"/>
          </p:cNvSpPr>
          <p:nvPr/>
        </p:nvSpPr>
        <p:spPr bwMode="auto">
          <a:xfrm>
            <a:off x="1222965" y="2895600"/>
            <a:ext cx="2755883"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ar-EG" altLang="ar-EG"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ar-EG" sz="1600" b="1" u="none" strike="noStrike" cap="none" normalizeH="0" baseline="0" dirty="0" smtClean="0">
                <a:ln>
                  <a:noFill/>
                </a:ln>
                <a:solidFill>
                  <a:srgbClr val="0070C0"/>
                </a:solidFill>
                <a:effectLst/>
                <a:latin typeface="Arial" panose="020B0604020202020204" pitchFamily="34" charset="0"/>
              </a:rPr>
              <a:t>Standard: </a:t>
            </a:r>
            <a:r>
              <a:rPr kumimoji="0" lang="en-US" altLang="ar-EG" sz="1600" b="1" u="none" strike="noStrike" cap="none" normalizeH="0" baseline="0" dirty="0" smtClean="0">
                <a:ln>
                  <a:noFill/>
                </a:ln>
                <a:solidFill>
                  <a:schemeClr val="tx1"/>
                </a:solidFill>
                <a:effectLst/>
                <a:latin typeface="Arial" panose="020B0604020202020204" pitchFamily="34" charset="0"/>
              </a:rPr>
              <a:t>“Hi [Name],”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ar-EG" sz="1600" b="1" dirty="0">
              <a:solidFill>
                <a:srgbClr val="C00000"/>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ar-EG" sz="1600" b="1" u="none" strike="noStrike" cap="none" normalizeH="0" baseline="0" dirty="0" smtClean="0">
              <a:ln>
                <a:noFill/>
              </a:ln>
              <a:solidFill>
                <a:srgbClr val="C00000"/>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ar-EG" sz="1600" b="1" u="none" strike="noStrike" cap="none" normalizeH="0" baseline="0" dirty="0" smtClean="0">
                <a:ln>
                  <a:noFill/>
                </a:ln>
                <a:solidFill>
                  <a:srgbClr val="0070C0"/>
                </a:solidFill>
                <a:effectLst/>
                <a:latin typeface="Arial" panose="020B0604020202020204" pitchFamily="34" charset="0"/>
              </a:rPr>
              <a:t>Formal: </a:t>
            </a:r>
            <a:r>
              <a:rPr kumimoji="0" lang="en-US" altLang="ar-EG" sz="1600" b="1" u="none" strike="noStrike" cap="none" normalizeH="0" baseline="0" dirty="0" smtClean="0">
                <a:ln>
                  <a:noFill/>
                </a:ln>
                <a:solidFill>
                  <a:schemeClr val="tx1"/>
                </a:solidFill>
                <a:effectLst/>
                <a:latin typeface="Arial" panose="020B0604020202020204" pitchFamily="34" charset="0"/>
              </a:rPr>
              <a:t>“Dear [Name],”</a:t>
            </a:r>
            <a:endParaRPr kumimoji="0" lang="ar-EG" altLang="ar-EG" sz="1800" b="0" i="0" u="none" strike="noStrike" cap="none" normalizeH="0" baseline="0" dirty="0" smtClean="0">
              <a:ln>
                <a:noFill/>
              </a:ln>
              <a:solidFill>
                <a:schemeClr val="tx1"/>
              </a:solidFill>
              <a:effectLst/>
              <a:latin typeface="Arial" panose="020B0604020202020204" pitchFamily="34"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1295400"/>
            <a:ext cx="6013218" cy="5040868"/>
          </a:xfrm>
          <a:prstGeom prst="rect">
            <a:avLst/>
          </a:prstGeom>
        </p:spPr>
      </p:pic>
    </p:spTree>
    <p:extLst>
      <p:ext uri="{BB962C8B-B14F-4D97-AF65-F5344CB8AC3E}">
        <p14:creationId xmlns:p14="http://schemas.microsoft.com/office/powerpoint/2010/main" val="11257653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2: Using Outlook</a:t>
            </a:r>
            <a:endParaRPr lang="en-US" sz="28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15</a:t>
            </a:fld>
            <a:endParaRPr spc="-25" dirty="0"/>
          </a:p>
        </p:txBody>
      </p:sp>
      <p:sp>
        <p:nvSpPr>
          <p:cNvPr id="6" name="TextBox 5"/>
          <p:cNvSpPr txBox="1"/>
          <p:nvPr/>
        </p:nvSpPr>
        <p:spPr>
          <a:xfrm>
            <a:off x="990600" y="1447800"/>
            <a:ext cx="4249881" cy="369332"/>
          </a:xfrm>
          <a:prstGeom prst="rect">
            <a:avLst/>
          </a:prstGeom>
          <a:noFill/>
        </p:spPr>
        <p:txBody>
          <a:bodyPr wrap="none" rtlCol="1">
            <a:spAutoFit/>
          </a:bodyPr>
          <a:lstStyle/>
          <a:p>
            <a:r>
              <a:rPr lang="en-US" b="1" dirty="0" smtClean="0">
                <a:solidFill>
                  <a:srgbClr val="C00000"/>
                </a:solidFill>
              </a:rPr>
              <a:t>The Anatomy of a Professional Email</a:t>
            </a:r>
            <a:endParaRPr lang="en-US" b="1" dirty="0">
              <a:solidFill>
                <a:srgbClr val="C00000"/>
              </a:solidFill>
            </a:endParaRPr>
          </a:p>
        </p:txBody>
      </p:sp>
      <p:sp>
        <p:nvSpPr>
          <p:cNvPr id="9" name="TextBox 8"/>
          <p:cNvSpPr txBox="1"/>
          <p:nvPr/>
        </p:nvSpPr>
        <p:spPr>
          <a:xfrm>
            <a:off x="990600" y="2286000"/>
            <a:ext cx="7696200" cy="369332"/>
          </a:xfrm>
          <a:prstGeom prst="rect">
            <a:avLst/>
          </a:prstGeom>
          <a:noFill/>
        </p:spPr>
        <p:txBody>
          <a:bodyPr wrap="square" rtlCol="1">
            <a:spAutoFit/>
          </a:bodyPr>
          <a:lstStyle/>
          <a:p>
            <a:r>
              <a:rPr lang="en-US" b="1" dirty="0" smtClean="0"/>
              <a:t>Concise Body</a:t>
            </a:r>
            <a:endParaRPr lang="en-US" dirty="0" smtClean="0"/>
          </a:p>
        </p:txBody>
      </p:sp>
      <p:sp>
        <p:nvSpPr>
          <p:cNvPr id="11" name="Rectangle 5"/>
          <p:cNvSpPr>
            <a:spLocks noChangeArrowheads="1"/>
          </p:cNvSpPr>
          <p:nvPr/>
        </p:nvSpPr>
        <p:spPr bwMode="auto">
          <a:xfrm>
            <a:off x="1143000" y="2655332"/>
            <a:ext cx="5805637"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ar-EG" altLang="ar-EG" sz="1800" b="0" i="0" u="none" strike="noStrike" cap="none" normalizeH="0" baseline="0" dirty="0" smtClean="0">
              <a:ln>
                <a:noFill/>
              </a:ln>
              <a:solidFill>
                <a:schemeClr val="tx1"/>
              </a:solidFill>
              <a:effectLst/>
              <a:latin typeface="Arial" panose="020B0604020202020204" pitchFamily="34" charset="0"/>
            </a:endParaRPr>
          </a:p>
          <a:p>
            <a:pPr marL="285750" indent="-285750">
              <a:buFont typeface="Wingdings" panose="05000000000000000000" pitchFamily="2" charset="2"/>
              <a:buChar char="q"/>
            </a:pPr>
            <a:r>
              <a:rPr lang="en-US" sz="1600" b="1" dirty="0" smtClean="0">
                <a:solidFill>
                  <a:srgbClr val="0070C0"/>
                </a:solidFill>
              </a:rPr>
              <a:t>Purpose:</a:t>
            </a:r>
            <a:r>
              <a:rPr lang="en-US" sz="1600" dirty="0" smtClean="0">
                <a:solidFill>
                  <a:srgbClr val="0070C0"/>
                </a:solidFill>
              </a:rPr>
              <a:t> </a:t>
            </a:r>
            <a:r>
              <a:rPr lang="en-US" sz="1600" dirty="0" smtClean="0"/>
              <a:t>State why you are writing in the first sentence. ("I'm writing to request...")</a:t>
            </a:r>
            <a:endParaRPr lang="ar-BH" sz="1600" dirty="0" smtClean="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solidFill>
                  <a:srgbClr val="0070C0"/>
                </a:solidFill>
              </a:rPr>
              <a:t>Details:</a:t>
            </a:r>
            <a:r>
              <a:rPr lang="en-US" sz="1600" dirty="0" smtClean="0">
                <a:solidFill>
                  <a:srgbClr val="0070C0"/>
                </a:solidFill>
              </a:rPr>
              <a:t> </a:t>
            </a:r>
            <a:r>
              <a:rPr lang="en-US" sz="1600" dirty="0" smtClean="0"/>
              <a:t>Provide the necessary background information.</a:t>
            </a:r>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solidFill>
                  <a:srgbClr val="0070C0"/>
                </a:solidFill>
              </a:rPr>
              <a:t>Action:</a:t>
            </a:r>
            <a:r>
              <a:rPr lang="en-US" sz="1600" dirty="0" smtClean="0">
                <a:solidFill>
                  <a:srgbClr val="0070C0"/>
                </a:solidFill>
              </a:rPr>
              <a:t> </a:t>
            </a:r>
            <a:r>
              <a:rPr lang="en-US" sz="1600" dirty="0" smtClean="0"/>
              <a:t>Clearly state what you need from the receiver. ("Please let me know your availability for a 15-minute call.")</a:t>
            </a:r>
            <a:endParaRPr lang="en-US" sz="16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0" y="1371600"/>
            <a:ext cx="6090198" cy="5105400"/>
          </a:xfrm>
          <a:prstGeom prst="rect">
            <a:avLst/>
          </a:prstGeom>
        </p:spPr>
      </p:pic>
    </p:spTree>
    <p:extLst>
      <p:ext uri="{BB962C8B-B14F-4D97-AF65-F5344CB8AC3E}">
        <p14:creationId xmlns:p14="http://schemas.microsoft.com/office/powerpoint/2010/main" val="6402342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2: Using Outlook</a:t>
            </a:r>
            <a:endParaRPr lang="en-US" sz="28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16</a:t>
            </a:fld>
            <a:endParaRPr spc="-25" dirty="0"/>
          </a:p>
        </p:txBody>
      </p:sp>
      <p:sp>
        <p:nvSpPr>
          <p:cNvPr id="6" name="TextBox 5"/>
          <p:cNvSpPr txBox="1"/>
          <p:nvPr/>
        </p:nvSpPr>
        <p:spPr>
          <a:xfrm>
            <a:off x="990600" y="1447800"/>
            <a:ext cx="4249881" cy="369332"/>
          </a:xfrm>
          <a:prstGeom prst="rect">
            <a:avLst/>
          </a:prstGeom>
          <a:noFill/>
        </p:spPr>
        <p:txBody>
          <a:bodyPr wrap="none" rtlCol="1">
            <a:spAutoFit/>
          </a:bodyPr>
          <a:lstStyle/>
          <a:p>
            <a:r>
              <a:rPr lang="en-US" b="1" dirty="0" smtClean="0">
                <a:solidFill>
                  <a:srgbClr val="C00000"/>
                </a:solidFill>
              </a:rPr>
              <a:t>The Anatomy of a Professional Email</a:t>
            </a:r>
            <a:endParaRPr lang="en-US" b="1" dirty="0">
              <a:solidFill>
                <a:srgbClr val="C00000"/>
              </a:solidFill>
            </a:endParaRPr>
          </a:p>
        </p:txBody>
      </p:sp>
      <p:sp>
        <p:nvSpPr>
          <p:cNvPr id="9" name="TextBox 8"/>
          <p:cNvSpPr txBox="1"/>
          <p:nvPr/>
        </p:nvSpPr>
        <p:spPr>
          <a:xfrm>
            <a:off x="990600" y="2286000"/>
            <a:ext cx="7696200" cy="369332"/>
          </a:xfrm>
          <a:prstGeom prst="rect">
            <a:avLst/>
          </a:prstGeom>
          <a:noFill/>
        </p:spPr>
        <p:txBody>
          <a:bodyPr wrap="square" rtlCol="1">
            <a:spAutoFit/>
          </a:bodyPr>
          <a:lstStyle/>
          <a:p>
            <a:r>
              <a:rPr lang="en-US" b="1" dirty="0" smtClean="0"/>
              <a:t>Polite Closing &amp; Signature</a:t>
            </a:r>
            <a:endParaRPr lang="en-US" dirty="0"/>
          </a:p>
        </p:txBody>
      </p:sp>
      <p:sp>
        <p:nvSpPr>
          <p:cNvPr id="11" name="Rectangle 5"/>
          <p:cNvSpPr>
            <a:spLocks noChangeArrowheads="1"/>
          </p:cNvSpPr>
          <p:nvPr/>
        </p:nvSpPr>
        <p:spPr bwMode="auto">
          <a:xfrm>
            <a:off x="1143000" y="3024664"/>
            <a:ext cx="5805637"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ar-EG" altLang="ar-EG" sz="1800" b="0" i="0" u="none" strike="noStrike" cap="none" normalizeH="0" baseline="0" dirty="0" smtClean="0">
              <a:ln>
                <a:noFill/>
              </a:ln>
              <a:solidFill>
                <a:schemeClr val="tx1"/>
              </a:solidFill>
              <a:effectLst/>
              <a:latin typeface="Arial" panose="020B0604020202020204" pitchFamily="34" charset="0"/>
            </a:endParaRPr>
          </a:p>
          <a:p>
            <a:pPr marL="285750" indent="-285750">
              <a:buFont typeface="Wingdings" panose="05000000000000000000" pitchFamily="2" charset="2"/>
              <a:buChar char="q"/>
            </a:pPr>
            <a:r>
              <a:rPr lang="en-US" sz="1600" b="1" dirty="0" smtClean="0">
                <a:solidFill>
                  <a:srgbClr val="0070C0"/>
                </a:solidFill>
              </a:rPr>
              <a:t>Standard: </a:t>
            </a:r>
            <a:r>
              <a:rPr lang="en-US" sz="1600" b="1" dirty="0" smtClean="0">
                <a:solidFill>
                  <a:schemeClr val="tx1"/>
                </a:solidFill>
              </a:rPr>
              <a:t>“Best regards,” “Thanks,” or “Thank you,”</a:t>
            </a:r>
          </a:p>
          <a:p>
            <a:pPr marL="285750" indent="-285750">
              <a:buFont typeface="Wingdings" panose="05000000000000000000" pitchFamily="2" charset="2"/>
              <a:buChar char="q"/>
            </a:pPr>
            <a:endParaRPr lang="en-US" sz="1600" b="1" dirty="0">
              <a:solidFill>
                <a:srgbClr val="0070C0"/>
              </a:solidFill>
            </a:endParaRPr>
          </a:p>
          <a:p>
            <a:pPr marL="285750" indent="-285750">
              <a:buFont typeface="Wingdings" panose="05000000000000000000" pitchFamily="2" charset="2"/>
              <a:buChar char="q"/>
            </a:pPr>
            <a:endParaRPr lang="en-US" sz="1600" b="1" dirty="0" smtClean="0">
              <a:solidFill>
                <a:srgbClr val="0070C0"/>
              </a:solidFill>
            </a:endParaRPr>
          </a:p>
          <a:p>
            <a:pPr marL="285750" indent="-285750">
              <a:buFont typeface="Wingdings" panose="05000000000000000000" pitchFamily="2" charset="2"/>
              <a:buChar char="q"/>
            </a:pPr>
            <a:r>
              <a:rPr lang="en-US" sz="1600" b="1" dirty="0" smtClean="0">
                <a:solidFill>
                  <a:schemeClr val="tx1"/>
                </a:solidFill>
              </a:rPr>
              <a:t>Followed by your name and company signature.</a:t>
            </a:r>
            <a:endParaRPr lang="en-US" sz="1600" dirty="0">
              <a:solidFill>
                <a:schemeClr val="tx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1931" y="1632466"/>
            <a:ext cx="5272112" cy="44196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3806232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2: Using Outlook</a:t>
            </a:r>
            <a:endParaRPr lang="en-US" sz="28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17</a:t>
            </a:fld>
            <a:endParaRPr spc="-25" dirty="0"/>
          </a:p>
        </p:txBody>
      </p:sp>
      <p:sp>
        <p:nvSpPr>
          <p:cNvPr id="6" name="TextBox 5"/>
          <p:cNvSpPr txBox="1"/>
          <p:nvPr/>
        </p:nvSpPr>
        <p:spPr>
          <a:xfrm>
            <a:off x="990600" y="1447800"/>
            <a:ext cx="2274982" cy="369332"/>
          </a:xfrm>
          <a:prstGeom prst="rect">
            <a:avLst/>
          </a:prstGeom>
          <a:noFill/>
        </p:spPr>
        <p:txBody>
          <a:bodyPr wrap="none" rtlCol="1">
            <a:spAutoFit/>
          </a:bodyPr>
          <a:lstStyle/>
          <a:p>
            <a:r>
              <a:rPr lang="en-US" b="1" dirty="0" smtClean="0">
                <a:solidFill>
                  <a:srgbClr val="C00000"/>
                </a:solidFill>
              </a:rPr>
              <a:t>Inbox Organization</a:t>
            </a:r>
            <a:endParaRPr lang="en-US" b="1" dirty="0">
              <a:solidFill>
                <a:srgbClr val="C00000"/>
              </a:solidFill>
            </a:endParaRPr>
          </a:p>
        </p:txBody>
      </p:sp>
      <p:sp>
        <p:nvSpPr>
          <p:cNvPr id="11" name="Rectangle 5"/>
          <p:cNvSpPr>
            <a:spLocks noChangeArrowheads="1"/>
          </p:cNvSpPr>
          <p:nvPr/>
        </p:nvSpPr>
        <p:spPr bwMode="auto">
          <a:xfrm>
            <a:off x="1143000" y="2057400"/>
            <a:ext cx="59436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ar-EG" altLang="ar-EG" sz="1800" b="0" i="0" u="none" strike="noStrike" cap="none" normalizeH="0" baseline="0" dirty="0" smtClean="0">
              <a:ln>
                <a:noFill/>
              </a:ln>
              <a:solidFill>
                <a:schemeClr val="tx1"/>
              </a:solidFill>
              <a:effectLst/>
              <a:latin typeface="Arial" panose="020B0604020202020204" pitchFamily="34" charset="0"/>
            </a:endParaRPr>
          </a:p>
          <a:p>
            <a:pPr marL="285750" indent="-285750">
              <a:buFont typeface="Wingdings" panose="05000000000000000000" pitchFamily="2" charset="2"/>
              <a:buChar char="q"/>
            </a:pPr>
            <a:r>
              <a:rPr lang="en-US" sz="1600" b="1" dirty="0" smtClean="0"/>
              <a:t>Use Folders:</a:t>
            </a:r>
            <a:r>
              <a:rPr lang="en-US" sz="1600" dirty="0" smtClean="0"/>
              <a:t> Create folders for different projects, departments, or topics. Move emails out of your inbox once you've dealt with them.</a:t>
            </a:r>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t>Flag for Follow-Up:</a:t>
            </a:r>
            <a:r>
              <a:rPr lang="en-US" sz="1600" dirty="0" smtClean="0"/>
              <a:t> If you can't respond right away, use the "Flag" feature to create a to-do item.</a:t>
            </a:r>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t>Delete What You Don't Need:</a:t>
            </a:r>
            <a:r>
              <a:rPr lang="en-US" sz="1600" dirty="0" smtClean="0"/>
              <a:t> Don't be afraid to delete old marketing emails or newsletters.</a:t>
            </a:r>
            <a:endParaRPr lang="en-US" sz="16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1444868"/>
            <a:ext cx="3368266" cy="462890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602368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2: Using Outlook</a:t>
            </a:r>
            <a:endParaRPr lang="en-US" sz="28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18</a:t>
            </a:fld>
            <a:endParaRPr spc="-25" dirty="0"/>
          </a:p>
        </p:txBody>
      </p:sp>
      <p:sp>
        <p:nvSpPr>
          <p:cNvPr id="6" name="TextBox 5"/>
          <p:cNvSpPr txBox="1"/>
          <p:nvPr/>
        </p:nvSpPr>
        <p:spPr>
          <a:xfrm>
            <a:off x="990600" y="1447800"/>
            <a:ext cx="2646878" cy="369332"/>
          </a:xfrm>
          <a:prstGeom prst="rect">
            <a:avLst/>
          </a:prstGeom>
          <a:noFill/>
        </p:spPr>
        <p:txBody>
          <a:bodyPr wrap="none" rtlCol="1">
            <a:spAutoFit/>
          </a:bodyPr>
          <a:lstStyle/>
          <a:p>
            <a:r>
              <a:rPr lang="en-US" b="1" dirty="0" smtClean="0">
                <a:solidFill>
                  <a:srgbClr val="C00000"/>
                </a:solidFill>
              </a:rPr>
              <a:t>Calendar Management</a:t>
            </a:r>
            <a:endParaRPr lang="en-US" b="1" dirty="0">
              <a:solidFill>
                <a:srgbClr val="C00000"/>
              </a:solidFill>
            </a:endParaRPr>
          </a:p>
        </p:txBody>
      </p:sp>
      <p:sp>
        <p:nvSpPr>
          <p:cNvPr id="11" name="Rectangle 5"/>
          <p:cNvSpPr>
            <a:spLocks noChangeArrowheads="1"/>
          </p:cNvSpPr>
          <p:nvPr/>
        </p:nvSpPr>
        <p:spPr bwMode="auto">
          <a:xfrm>
            <a:off x="1143000" y="2162891"/>
            <a:ext cx="5943600"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ar-EG" altLang="ar-EG" sz="1800" b="0" i="0" u="none" strike="noStrike" cap="none" normalizeH="0" baseline="0" dirty="0" smtClean="0">
              <a:ln>
                <a:noFill/>
              </a:ln>
              <a:solidFill>
                <a:schemeClr val="tx1"/>
              </a:solidFill>
              <a:effectLst/>
              <a:latin typeface="Arial" panose="020B0604020202020204" pitchFamily="34" charset="0"/>
            </a:endParaRPr>
          </a:p>
          <a:p>
            <a:pPr marL="285750" indent="-285750">
              <a:buFont typeface="Wingdings" panose="05000000000000000000" pitchFamily="2" charset="2"/>
              <a:buChar char="q"/>
            </a:pPr>
            <a:r>
              <a:rPr lang="en-US" sz="1600" b="1" dirty="0" smtClean="0"/>
              <a:t>Schedule Meetings:</a:t>
            </a:r>
            <a:r>
              <a:rPr lang="en-US" sz="1600" dirty="0" smtClean="0"/>
              <a:t> When you create a new "Appointment" or "Meeting," add attendees, a clear title, and a brief agenda in the body.</a:t>
            </a:r>
            <a:endParaRPr lang="ar-BH" sz="1600" dirty="0" smtClean="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t>Respond to Invites:</a:t>
            </a:r>
            <a:r>
              <a:rPr lang="en-US" sz="1600" dirty="0" smtClean="0"/>
              <a:t> When you receive an invite, respond promptly with </a:t>
            </a:r>
            <a:r>
              <a:rPr lang="en-US" sz="1600" b="1" dirty="0" smtClean="0"/>
              <a:t>Accept</a:t>
            </a:r>
            <a:r>
              <a:rPr lang="en-US" sz="1600" dirty="0" smtClean="0"/>
              <a:t>, </a:t>
            </a:r>
            <a:r>
              <a:rPr lang="en-US" sz="1600" b="1" dirty="0" smtClean="0"/>
              <a:t>Tentative</a:t>
            </a:r>
            <a:r>
              <a:rPr lang="en-US" sz="1600" dirty="0" smtClean="0"/>
              <a:t>, or </a:t>
            </a:r>
            <a:r>
              <a:rPr lang="en-US" sz="1600" b="1" dirty="0" smtClean="0"/>
              <a:t>Decline</a:t>
            </a:r>
            <a:r>
              <a:rPr lang="en-US" sz="1600" dirty="0" smtClean="0"/>
              <a:t> so the organizer knows if you can make it.</a:t>
            </a:r>
            <a:endParaRPr lang="ar-BH" sz="1600" dirty="0" smtClean="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b="1" dirty="0" smtClean="0"/>
              <a:t>Block Your Time:</a:t>
            </a:r>
            <a:r>
              <a:rPr lang="en-US" sz="1600" dirty="0" smtClean="0"/>
              <a:t> You can create appointments for yourself (e.g., "Focus Time: Work on Report") to block off time and prevent others from scheduling over it.</a:t>
            </a:r>
            <a:endParaRPr lang="en-US" sz="16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2438400"/>
            <a:ext cx="4440058" cy="295465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7796588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1718102"/>
            <a:ext cx="7467600" cy="3570926"/>
          </a:xfrm>
          <a:prstGeom prst="rect">
            <a:avLst/>
          </a:prstGeom>
        </p:spPr>
        <p:txBody>
          <a:bodyPr vert="horz" wrap="square" lIns="0" tIns="244551" rIns="0" bIns="0" rtlCol="0" anchor="ctr">
            <a:spAutoFit/>
          </a:bodyPr>
          <a:lstStyle/>
          <a:p>
            <a:pPr algn="ctr"/>
            <a:r>
              <a:rPr lang="en-US" sz="5400" dirty="0" smtClean="0"/>
              <a:t>Module </a:t>
            </a:r>
            <a:r>
              <a:rPr lang="en-US" sz="5400" dirty="0"/>
              <a:t>3: </a:t>
            </a:r>
            <a:r>
              <a:rPr lang="en-US" sz="5400" dirty="0" smtClean="0"/>
              <a:t/>
            </a:r>
            <a:br>
              <a:rPr lang="en-US" sz="5400" dirty="0" smtClean="0"/>
            </a:br>
            <a:r>
              <a:rPr lang="en-US" sz="5400" dirty="0"/>
              <a:t>Word for Professionals</a:t>
            </a:r>
            <a:br>
              <a:rPr lang="en-US" sz="5400" dirty="0"/>
            </a:br>
            <a:endParaRPr lang="en-US" sz="54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19</a:t>
            </a:fld>
            <a:endParaRPr spc="-25" dirty="0"/>
          </a:p>
        </p:txBody>
      </p:sp>
    </p:spTree>
    <p:extLst>
      <p:ext uri="{BB962C8B-B14F-4D97-AF65-F5344CB8AC3E}">
        <p14:creationId xmlns:p14="http://schemas.microsoft.com/office/powerpoint/2010/main" val="5008576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3: </a:t>
            </a:r>
            <a:r>
              <a:rPr lang="en-US" sz="2800" dirty="0"/>
              <a:t>Word for Professionals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20</a:t>
            </a:fld>
            <a:endParaRPr spc="-25" dirty="0"/>
          </a:p>
        </p:txBody>
      </p:sp>
      <p:sp>
        <p:nvSpPr>
          <p:cNvPr id="6" name="TextBox 5"/>
          <p:cNvSpPr txBox="1"/>
          <p:nvPr/>
        </p:nvSpPr>
        <p:spPr>
          <a:xfrm>
            <a:off x="990600" y="1447800"/>
            <a:ext cx="4467890" cy="369332"/>
          </a:xfrm>
          <a:prstGeom prst="rect">
            <a:avLst/>
          </a:prstGeom>
          <a:noFill/>
        </p:spPr>
        <p:txBody>
          <a:bodyPr wrap="none" rtlCol="1">
            <a:spAutoFit/>
          </a:bodyPr>
          <a:lstStyle/>
          <a:p>
            <a:r>
              <a:rPr lang="en-US" b="1" dirty="0" smtClean="0">
                <a:solidFill>
                  <a:srgbClr val="C00000"/>
                </a:solidFill>
              </a:rPr>
              <a:t>Using Styles for Consistent Formatting</a:t>
            </a:r>
            <a:endParaRPr lang="en-US" b="1" dirty="0">
              <a:solidFill>
                <a:srgbClr val="C00000"/>
              </a:solidFill>
            </a:endParaRPr>
          </a:p>
        </p:txBody>
      </p:sp>
      <p:sp>
        <p:nvSpPr>
          <p:cNvPr id="9" name="TextBox 8"/>
          <p:cNvSpPr txBox="1"/>
          <p:nvPr/>
        </p:nvSpPr>
        <p:spPr>
          <a:xfrm>
            <a:off x="1196588" y="2062877"/>
            <a:ext cx="7696200" cy="3416320"/>
          </a:xfrm>
          <a:prstGeom prst="rect">
            <a:avLst/>
          </a:prstGeom>
          <a:noFill/>
        </p:spPr>
        <p:txBody>
          <a:bodyPr wrap="square" rtlCol="1">
            <a:spAutoFit/>
          </a:bodyPr>
          <a:lstStyle/>
          <a:p>
            <a:r>
              <a:rPr lang="en-US" dirty="0" smtClean="0"/>
              <a:t>Stop manually changing font sizes and making things bold! Use the Styles pane on the Home tab.</a:t>
            </a:r>
          </a:p>
          <a:p>
            <a:endParaRPr lang="en-US" b="1" dirty="0" smtClean="0"/>
          </a:p>
          <a:p>
            <a:pPr marL="285750" indent="-285750">
              <a:buFont typeface="Wingdings" panose="05000000000000000000" pitchFamily="2" charset="2"/>
              <a:buChar char="q"/>
            </a:pPr>
            <a:r>
              <a:rPr lang="en-US" b="1" dirty="0" smtClean="0"/>
              <a:t>Normal: </a:t>
            </a:r>
            <a:r>
              <a:rPr lang="en-US" dirty="0" smtClean="0"/>
              <a:t>This is the default style for all your body paragraphs.</a:t>
            </a:r>
            <a:endParaRPr lang="ar-BH" dirty="0" smtClean="0"/>
          </a:p>
          <a:p>
            <a:pPr marL="285750" indent="-285750">
              <a:buFont typeface="Wingdings" panose="05000000000000000000" pitchFamily="2" charset="2"/>
              <a:buChar char="q"/>
            </a:pPr>
            <a:endParaRPr lang="en-US" b="1" dirty="0" smtClean="0"/>
          </a:p>
          <a:p>
            <a:pPr marL="285750" indent="-285750">
              <a:buFont typeface="Wingdings" panose="05000000000000000000" pitchFamily="2" charset="2"/>
              <a:buChar char="q"/>
            </a:pPr>
            <a:r>
              <a:rPr lang="en-US" b="1" dirty="0" smtClean="0"/>
              <a:t>Heading 1: </a:t>
            </a:r>
            <a:r>
              <a:rPr lang="en-US" dirty="0" smtClean="0"/>
              <a:t>Use this for your main document title.</a:t>
            </a:r>
          </a:p>
          <a:p>
            <a:pPr marL="285750" indent="-285750">
              <a:buFont typeface="Wingdings" panose="05000000000000000000" pitchFamily="2" charset="2"/>
              <a:buChar char="q"/>
            </a:pPr>
            <a:endParaRPr lang="en-US" b="1" dirty="0" smtClean="0"/>
          </a:p>
          <a:p>
            <a:pPr marL="285750" indent="-285750">
              <a:buFont typeface="Wingdings" panose="05000000000000000000" pitchFamily="2" charset="2"/>
              <a:buChar char="q"/>
            </a:pPr>
            <a:r>
              <a:rPr lang="en-US" b="1" dirty="0" smtClean="0"/>
              <a:t>Heading 2: </a:t>
            </a:r>
            <a:r>
              <a:rPr lang="en-US" dirty="0" smtClean="0"/>
              <a:t>Use this for your main section titles </a:t>
            </a:r>
            <a:br>
              <a:rPr lang="en-US" dirty="0" smtClean="0"/>
            </a:br>
            <a:r>
              <a:rPr lang="en-US" dirty="0" smtClean="0">
                <a:solidFill>
                  <a:schemeClr val="bg1">
                    <a:lumMod val="65000"/>
                  </a:schemeClr>
                </a:solidFill>
              </a:rPr>
              <a:t>(like "Module 3: Word for Professionals" in this document).</a:t>
            </a:r>
          </a:p>
          <a:p>
            <a:pPr marL="285750" indent="-285750">
              <a:buFont typeface="Wingdings" panose="05000000000000000000" pitchFamily="2" charset="2"/>
              <a:buChar char="q"/>
            </a:pPr>
            <a:endParaRPr lang="en-US" b="1" dirty="0" smtClean="0"/>
          </a:p>
          <a:p>
            <a:pPr marL="285750" indent="-285750">
              <a:buFont typeface="Wingdings" panose="05000000000000000000" pitchFamily="2" charset="2"/>
              <a:buChar char="q"/>
            </a:pPr>
            <a:r>
              <a:rPr lang="en-US" b="1" dirty="0" smtClean="0"/>
              <a:t>Heading 3: </a:t>
            </a:r>
            <a:r>
              <a:rPr lang="en-US" dirty="0" smtClean="0"/>
              <a:t>Use for sub-sections.</a:t>
            </a:r>
          </a:p>
          <a:p>
            <a:endParaRPr lang="en-US" b="1" dirty="0" smtClean="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7800" y="2646434"/>
            <a:ext cx="2823971" cy="282397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269064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3: </a:t>
            </a:r>
            <a:r>
              <a:rPr lang="en-US" sz="2800" dirty="0"/>
              <a:t>Word for Professionals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21</a:t>
            </a:fld>
            <a:endParaRPr spc="-25" dirty="0"/>
          </a:p>
        </p:txBody>
      </p:sp>
      <p:sp>
        <p:nvSpPr>
          <p:cNvPr id="6" name="TextBox 5"/>
          <p:cNvSpPr txBox="1"/>
          <p:nvPr/>
        </p:nvSpPr>
        <p:spPr>
          <a:xfrm>
            <a:off x="990600" y="1447800"/>
            <a:ext cx="4467890" cy="369332"/>
          </a:xfrm>
          <a:prstGeom prst="rect">
            <a:avLst/>
          </a:prstGeom>
          <a:noFill/>
        </p:spPr>
        <p:txBody>
          <a:bodyPr wrap="none" rtlCol="1">
            <a:spAutoFit/>
          </a:bodyPr>
          <a:lstStyle/>
          <a:p>
            <a:r>
              <a:rPr lang="en-US" b="1" dirty="0" smtClean="0">
                <a:solidFill>
                  <a:srgbClr val="C00000"/>
                </a:solidFill>
              </a:rPr>
              <a:t>Using Styles for Consistent Formatting</a:t>
            </a:r>
            <a:endParaRPr lang="en-US" b="1" dirty="0">
              <a:solidFill>
                <a:srgbClr val="C00000"/>
              </a:solidFill>
            </a:endParaRPr>
          </a:p>
        </p:txBody>
      </p:sp>
      <p:sp>
        <p:nvSpPr>
          <p:cNvPr id="9" name="TextBox 8"/>
          <p:cNvSpPr txBox="1"/>
          <p:nvPr/>
        </p:nvSpPr>
        <p:spPr>
          <a:xfrm>
            <a:off x="1222965" y="2895600"/>
            <a:ext cx="5711235" cy="2308324"/>
          </a:xfrm>
          <a:prstGeom prst="rect">
            <a:avLst/>
          </a:prstGeom>
          <a:noFill/>
        </p:spPr>
        <p:txBody>
          <a:bodyPr wrap="square" rtlCol="1">
            <a:spAutoFit/>
          </a:bodyPr>
          <a:lstStyle/>
          <a:p>
            <a:r>
              <a:rPr lang="en-US" b="1" dirty="0" smtClean="0"/>
              <a:t>Why use styles? </a:t>
            </a:r>
          </a:p>
          <a:p>
            <a:endParaRPr lang="en-US" dirty="0" smtClean="0"/>
          </a:p>
          <a:p>
            <a:r>
              <a:rPr lang="en-US" dirty="0" smtClean="0"/>
              <a:t>If you decide you want all "Heading 2" titles to be blue, you just modify the style once, and every "Heading 2" in your entire document updates automatically. It also lets Word build an automatic Table of Contents for you.</a:t>
            </a:r>
          </a:p>
          <a:p>
            <a:endParaRPr lang="en-US" b="1" dirty="0" smtClean="0"/>
          </a:p>
        </p:txBody>
      </p:sp>
      <p:pic>
        <p:nvPicPr>
          <p:cNvPr id="4" name="Picture 3"/>
          <p:cNvPicPr>
            <a:picLocks noChangeAspect="1"/>
          </p:cNvPicPr>
          <p:nvPr/>
        </p:nvPicPr>
        <p:blipFill>
          <a:blip r:embed="rId3"/>
          <a:stretch>
            <a:fillRect/>
          </a:stretch>
        </p:blipFill>
        <p:spPr>
          <a:xfrm>
            <a:off x="7315200" y="3268494"/>
            <a:ext cx="5105400" cy="1303506"/>
          </a:xfrm>
          <a:prstGeom prst="rect">
            <a:avLst/>
          </a:prstGeom>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spTree>
    <p:extLst>
      <p:ext uri="{BB962C8B-B14F-4D97-AF65-F5344CB8AC3E}">
        <p14:creationId xmlns:p14="http://schemas.microsoft.com/office/powerpoint/2010/main" val="33600888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3: </a:t>
            </a:r>
            <a:r>
              <a:rPr lang="en-US" sz="2800" dirty="0"/>
              <a:t>Word for Professionals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22</a:t>
            </a:fld>
            <a:endParaRPr spc="-25" dirty="0"/>
          </a:p>
        </p:txBody>
      </p:sp>
      <p:sp>
        <p:nvSpPr>
          <p:cNvPr id="6" name="TextBox 5"/>
          <p:cNvSpPr txBox="1"/>
          <p:nvPr/>
        </p:nvSpPr>
        <p:spPr>
          <a:xfrm>
            <a:off x="990600" y="1447800"/>
            <a:ext cx="2236510" cy="369332"/>
          </a:xfrm>
          <a:prstGeom prst="rect">
            <a:avLst/>
          </a:prstGeom>
          <a:noFill/>
        </p:spPr>
        <p:txBody>
          <a:bodyPr wrap="none" rtlCol="1">
            <a:spAutoFit/>
          </a:bodyPr>
          <a:lstStyle/>
          <a:p>
            <a:r>
              <a:rPr lang="en-US" b="1" dirty="0" smtClean="0">
                <a:solidFill>
                  <a:srgbClr val="C00000"/>
                </a:solidFill>
              </a:rPr>
              <a:t>Headers &amp; Footers</a:t>
            </a:r>
            <a:endParaRPr lang="en-US" b="1" dirty="0">
              <a:solidFill>
                <a:srgbClr val="C00000"/>
              </a:solidFill>
            </a:endParaRPr>
          </a:p>
        </p:txBody>
      </p:sp>
      <p:sp>
        <p:nvSpPr>
          <p:cNvPr id="9" name="TextBox 8"/>
          <p:cNvSpPr txBox="1"/>
          <p:nvPr/>
        </p:nvSpPr>
        <p:spPr>
          <a:xfrm>
            <a:off x="1222965" y="3581400"/>
            <a:ext cx="8685966" cy="2585323"/>
          </a:xfrm>
          <a:prstGeom prst="rect">
            <a:avLst/>
          </a:prstGeom>
          <a:noFill/>
        </p:spPr>
        <p:txBody>
          <a:bodyPr wrap="square" rtlCol="1">
            <a:spAutoFit/>
          </a:bodyPr>
          <a:lstStyle/>
          <a:p>
            <a:r>
              <a:rPr lang="en-US" dirty="0" smtClean="0"/>
              <a:t>This is the area at the very top (header) and bottom (footer) of each page. </a:t>
            </a:r>
          </a:p>
          <a:p>
            <a:endParaRPr lang="en-US" dirty="0" smtClean="0"/>
          </a:p>
          <a:p>
            <a:r>
              <a:rPr lang="en-US" dirty="0" smtClean="0"/>
              <a:t>Go to Insert &gt; Header (or Footer).</a:t>
            </a:r>
          </a:p>
          <a:p>
            <a:endParaRPr lang="en-US" dirty="0" smtClean="0"/>
          </a:p>
          <a:p>
            <a:r>
              <a:rPr lang="en-US" dirty="0" smtClean="0"/>
              <a:t>Use this for information that should be on every page:</a:t>
            </a:r>
          </a:p>
          <a:p>
            <a:endParaRPr lang="en-US" dirty="0" smtClean="0"/>
          </a:p>
          <a:p>
            <a:pPr marL="285750" indent="-285750">
              <a:buFont typeface="Wingdings" panose="05000000000000000000" pitchFamily="2" charset="2"/>
              <a:buChar char="Ø"/>
            </a:pPr>
            <a:r>
              <a:rPr lang="en-US" dirty="0" smtClean="0"/>
              <a:t>Page Numbers</a:t>
            </a:r>
          </a:p>
          <a:p>
            <a:pPr marL="285750" indent="-285750">
              <a:buFont typeface="Wingdings" panose="05000000000000000000" pitchFamily="2" charset="2"/>
              <a:buChar char="Ø"/>
            </a:pPr>
            <a:r>
              <a:rPr lang="en-US" dirty="0" smtClean="0"/>
              <a:t>Document Title</a:t>
            </a:r>
          </a:p>
          <a:p>
            <a:pPr marL="285750" indent="-285750">
              <a:buFont typeface="Wingdings" panose="05000000000000000000" pitchFamily="2" charset="2"/>
              <a:buChar char="Ø"/>
            </a:pPr>
            <a:r>
              <a:rPr lang="en-US" dirty="0" smtClean="0"/>
              <a:t>"Confidential" stamp</a:t>
            </a:r>
          </a:p>
        </p:txBody>
      </p:sp>
      <p:pic>
        <p:nvPicPr>
          <p:cNvPr id="7" name="Picture 6"/>
          <p:cNvPicPr>
            <a:picLocks noChangeAspect="1"/>
          </p:cNvPicPr>
          <p:nvPr/>
        </p:nvPicPr>
        <p:blipFill>
          <a:blip r:embed="rId3"/>
          <a:stretch>
            <a:fillRect/>
          </a:stretch>
        </p:blipFill>
        <p:spPr>
          <a:xfrm>
            <a:off x="838200" y="1905787"/>
            <a:ext cx="10772775" cy="151447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3974319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a:t>Module </a:t>
            </a:r>
            <a:r>
              <a:rPr lang="en-US" sz="2800" dirty="0" smtClean="0"/>
              <a:t>3: </a:t>
            </a:r>
            <a:r>
              <a:rPr lang="en-US" sz="2800" dirty="0"/>
              <a:t>Word for Professionals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23</a:t>
            </a:fld>
            <a:endParaRPr spc="-25" dirty="0"/>
          </a:p>
        </p:txBody>
      </p:sp>
      <p:sp>
        <p:nvSpPr>
          <p:cNvPr id="6" name="TextBox 5"/>
          <p:cNvSpPr txBox="1"/>
          <p:nvPr/>
        </p:nvSpPr>
        <p:spPr>
          <a:xfrm>
            <a:off x="990600" y="1447800"/>
            <a:ext cx="3762568" cy="369332"/>
          </a:xfrm>
          <a:prstGeom prst="rect">
            <a:avLst/>
          </a:prstGeom>
          <a:noFill/>
        </p:spPr>
        <p:txBody>
          <a:bodyPr wrap="none" rtlCol="1">
            <a:spAutoFit/>
          </a:bodyPr>
          <a:lstStyle/>
          <a:p>
            <a:r>
              <a:rPr lang="en-US" b="1" dirty="0" smtClean="0">
                <a:solidFill>
                  <a:srgbClr val="C00000"/>
                </a:solidFill>
              </a:rPr>
              <a:t>Track Changes for Collaboration</a:t>
            </a:r>
            <a:endParaRPr lang="en-US" b="1" dirty="0">
              <a:solidFill>
                <a:srgbClr val="C00000"/>
              </a:solidFill>
            </a:endParaRPr>
          </a:p>
        </p:txBody>
      </p:sp>
      <p:sp>
        <p:nvSpPr>
          <p:cNvPr id="9" name="TextBox 8"/>
          <p:cNvSpPr txBox="1"/>
          <p:nvPr/>
        </p:nvSpPr>
        <p:spPr>
          <a:xfrm>
            <a:off x="838200" y="3276600"/>
            <a:ext cx="10901171" cy="3139321"/>
          </a:xfrm>
          <a:prstGeom prst="rect">
            <a:avLst/>
          </a:prstGeom>
          <a:noFill/>
        </p:spPr>
        <p:txBody>
          <a:bodyPr wrap="square" rtlCol="1">
            <a:spAutoFit/>
          </a:bodyPr>
          <a:lstStyle/>
          <a:p>
            <a:r>
              <a:rPr lang="en-US" dirty="0" smtClean="0"/>
              <a:t>When you need to edit someone else's document or have someone review yours, use Track Changes.</a:t>
            </a:r>
            <a:endParaRPr lang="ar-BH" dirty="0" smtClean="0"/>
          </a:p>
          <a:p>
            <a:endParaRPr lang="en-US" dirty="0" smtClean="0"/>
          </a:p>
          <a:p>
            <a:pPr marL="342900" indent="-342900">
              <a:buFont typeface="+mj-lt"/>
              <a:buAutoNum type="arabicParenR"/>
            </a:pPr>
            <a:r>
              <a:rPr lang="en-US" dirty="0" smtClean="0"/>
              <a:t>Go to the </a:t>
            </a:r>
            <a:r>
              <a:rPr lang="en-US" u="sng" dirty="0" smtClean="0"/>
              <a:t>Review</a:t>
            </a:r>
            <a:r>
              <a:rPr lang="en-US" dirty="0" smtClean="0"/>
              <a:t> tab and click </a:t>
            </a:r>
            <a:r>
              <a:rPr lang="en-US" u="sng" dirty="0" smtClean="0"/>
              <a:t>Track Changes</a:t>
            </a:r>
            <a:r>
              <a:rPr lang="en-US" dirty="0" smtClean="0"/>
              <a:t>.</a:t>
            </a:r>
          </a:p>
          <a:p>
            <a:pPr marL="342900" indent="-342900">
              <a:buFont typeface="+mj-lt"/>
              <a:buAutoNum type="arabicParenR"/>
            </a:pPr>
            <a:endParaRPr lang="en-US" dirty="0" smtClean="0"/>
          </a:p>
          <a:p>
            <a:pPr marL="342900" indent="-342900">
              <a:buFont typeface="+mj-lt"/>
              <a:buAutoNum type="arabicParenR"/>
            </a:pPr>
            <a:r>
              <a:rPr lang="en-US" dirty="0" smtClean="0"/>
              <a:t>Now, any change you make (deleting text, adding text, formatting) will be recorded as a "suggestion" in a different color.</a:t>
            </a:r>
          </a:p>
          <a:p>
            <a:pPr marL="342900" indent="-342900">
              <a:buFont typeface="+mj-lt"/>
              <a:buAutoNum type="arabicParenR"/>
            </a:pPr>
            <a:endParaRPr lang="en-US" dirty="0" smtClean="0"/>
          </a:p>
          <a:p>
            <a:pPr marL="342900" indent="-342900">
              <a:buFont typeface="+mj-lt"/>
              <a:buAutoNum type="arabicParenR"/>
            </a:pPr>
            <a:r>
              <a:rPr lang="en-US" dirty="0" smtClean="0"/>
              <a:t>The original author can then review your changes and </a:t>
            </a:r>
            <a:r>
              <a:rPr lang="en-US" u="sng" dirty="0" smtClean="0"/>
              <a:t>Accept</a:t>
            </a:r>
            <a:r>
              <a:rPr lang="en-US" dirty="0" smtClean="0"/>
              <a:t> or </a:t>
            </a:r>
            <a:r>
              <a:rPr lang="en-US" u="sng" dirty="0" smtClean="0"/>
              <a:t>Reject</a:t>
            </a:r>
            <a:r>
              <a:rPr lang="en-US" dirty="0" smtClean="0"/>
              <a:t> each one.</a:t>
            </a:r>
          </a:p>
          <a:p>
            <a:pPr marL="342900" indent="-342900">
              <a:buFont typeface="+mj-lt"/>
              <a:buAutoNum type="arabicParenR"/>
            </a:pPr>
            <a:endParaRPr lang="en-US" dirty="0" smtClean="0"/>
          </a:p>
          <a:p>
            <a:r>
              <a:rPr lang="en-US" dirty="0" smtClean="0"/>
              <a:t>This is essential for professional collaboration. Never just start deleting and re-writing someone's work without it.</a:t>
            </a:r>
          </a:p>
        </p:txBody>
      </p:sp>
      <p:pic>
        <p:nvPicPr>
          <p:cNvPr id="4" name="Picture 3"/>
          <p:cNvPicPr>
            <a:picLocks noChangeAspect="1"/>
          </p:cNvPicPr>
          <p:nvPr/>
        </p:nvPicPr>
        <p:blipFill>
          <a:blip r:embed="rId3"/>
          <a:stretch>
            <a:fillRect/>
          </a:stretch>
        </p:blipFill>
        <p:spPr>
          <a:xfrm>
            <a:off x="5743575" y="1482969"/>
            <a:ext cx="4972050" cy="149542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8040920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176" y="224295"/>
            <a:ext cx="464730" cy="514995"/>
          </a:xfrm>
          <a:prstGeom prst="rect">
            <a:avLst/>
          </a:prstGeom>
        </p:spPr>
      </p:pic>
      <p:sp>
        <p:nvSpPr>
          <p:cNvPr id="3" name="object 3"/>
          <p:cNvSpPr txBox="1">
            <a:spLocks noGrp="1"/>
          </p:cNvSpPr>
          <p:nvPr>
            <p:ph type="title"/>
          </p:nvPr>
        </p:nvSpPr>
        <p:spPr>
          <a:xfrm>
            <a:off x="1676400" y="84174"/>
            <a:ext cx="6563742" cy="677826"/>
          </a:xfrm>
          <a:prstGeom prst="rect">
            <a:avLst/>
          </a:prstGeom>
        </p:spPr>
        <p:txBody>
          <a:bodyPr vert="horz" wrap="square" lIns="0" tIns="244551" rIns="0" bIns="0" rtlCol="0">
            <a:spAutoFit/>
          </a:bodyPr>
          <a:lstStyle/>
          <a:p>
            <a:r>
              <a:rPr lang="en-US" sz="2800" dirty="0"/>
              <a:t>Module </a:t>
            </a:r>
            <a:r>
              <a:rPr lang="en-US" sz="2800" dirty="0" smtClean="0"/>
              <a:t>3: </a:t>
            </a:r>
            <a:r>
              <a:rPr lang="en-US" sz="2800" dirty="0"/>
              <a:t>Word for Professionals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24</a:t>
            </a:fld>
            <a:endParaRPr spc="-25" dirty="0"/>
          </a:p>
        </p:txBody>
      </p:sp>
      <p:sp>
        <p:nvSpPr>
          <p:cNvPr id="6" name="TextBox 5"/>
          <p:cNvSpPr txBox="1"/>
          <p:nvPr/>
        </p:nvSpPr>
        <p:spPr>
          <a:xfrm>
            <a:off x="762000" y="1905000"/>
            <a:ext cx="2069797" cy="369332"/>
          </a:xfrm>
          <a:prstGeom prst="rect">
            <a:avLst/>
          </a:prstGeom>
          <a:noFill/>
        </p:spPr>
        <p:txBody>
          <a:bodyPr wrap="none" rtlCol="1">
            <a:spAutoFit/>
          </a:bodyPr>
          <a:lstStyle/>
          <a:p>
            <a:r>
              <a:rPr lang="en-US" b="1" dirty="0" smtClean="0">
                <a:solidFill>
                  <a:srgbClr val="C00000"/>
                </a:solidFill>
              </a:rPr>
              <a:t>Open Discussion</a:t>
            </a:r>
            <a:endParaRPr lang="ar-EG" dirty="0"/>
          </a:p>
        </p:txBody>
      </p:sp>
      <p:sp>
        <p:nvSpPr>
          <p:cNvPr id="7" name="TextBox 6"/>
          <p:cNvSpPr txBox="1"/>
          <p:nvPr/>
        </p:nvSpPr>
        <p:spPr>
          <a:xfrm>
            <a:off x="884176" y="2590800"/>
            <a:ext cx="5897624" cy="1569660"/>
          </a:xfrm>
          <a:prstGeom prst="rect">
            <a:avLst/>
          </a:prstGeom>
          <a:noFill/>
        </p:spPr>
        <p:txBody>
          <a:bodyPr wrap="square" rtlCol="1">
            <a:spAutoFit/>
          </a:bodyPr>
          <a:lstStyle/>
          <a:p>
            <a:pPr marL="285750" indent="-285750">
              <a:buFont typeface="Wingdings" panose="05000000000000000000" pitchFamily="2" charset="2"/>
              <a:buChar char="q"/>
            </a:pPr>
            <a:r>
              <a:rPr lang="en-US" sz="1600" dirty="0" smtClean="0"/>
              <a:t>Why is using "Styles" better than just making text bold or larger by hand?</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endParaRPr lang="en-US" sz="1600" dirty="0" smtClean="0"/>
          </a:p>
          <a:p>
            <a:pPr marL="285750" indent="-285750">
              <a:buFont typeface="Wingdings" panose="05000000000000000000" pitchFamily="2" charset="2"/>
              <a:buChar char="q"/>
            </a:pPr>
            <a:r>
              <a:rPr lang="en-US" sz="1600" dirty="0" smtClean="0"/>
              <a:t>Have you ever been in a situation where "Track Changes" would have been useful?</a:t>
            </a:r>
          </a:p>
        </p:txBody>
      </p:sp>
      <p:pic>
        <p:nvPicPr>
          <p:cNvPr id="11" name="object 4"/>
          <p:cNvPicPr/>
          <p:nvPr/>
        </p:nvPicPr>
        <p:blipFill>
          <a:blip r:embed="rId3" cstate="print"/>
          <a:stretch>
            <a:fillRect/>
          </a:stretch>
        </p:blipFill>
        <p:spPr>
          <a:xfrm>
            <a:off x="7315200" y="1899138"/>
            <a:ext cx="3814572" cy="3733800"/>
          </a:xfrm>
          <a:prstGeom prst="rect">
            <a:avLst/>
          </a:prstGeom>
        </p:spPr>
      </p:pic>
    </p:spTree>
    <p:extLst>
      <p:ext uri="{BB962C8B-B14F-4D97-AF65-F5344CB8AC3E}">
        <p14:creationId xmlns:p14="http://schemas.microsoft.com/office/powerpoint/2010/main" val="13171575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8792"/>
            <a:ext cx="6781800" cy="677826"/>
          </a:xfrm>
          <a:prstGeom prst="rect">
            <a:avLst/>
          </a:prstGeom>
        </p:spPr>
        <p:txBody>
          <a:bodyPr vert="horz" wrap="square" lIns="0" tIns="244551" rIns="0" bIns="0" rtlCol="0" anchor="ctr">
            <a:spAutoFit/>
          </a:bodyPr>
          <a:lstStyle/>
          <a:p>
            <a:pPr marL="2667000" algn="l">
              <a:lnSpc>
                <a:spcPct val="100000"/>
              </a:lnSpc>
              <a:spcBef>
                <a:spcPts val="95"/>
              </a:spcBef>
            </a:pPr>
            <a:r>
              <a:rPr lang="en-US" sz="2800" dirty="0" smtClean="0"/>
              <a:t>Test your Knowledge</a:t>
            </a:r>
            <a:endParaRPr sz="2800" dirty="0"/>
          </a:p>
        </p:txBody>
      </p:sp>
      <p:sp>
        <p:nvSpPr>
          <p:cNvPr id="3" name="object 3"/>
          <p:cNvSpPr txBox="1"/>
          <p:nvPr/>
        </p:nvSpPr>
        <p:spPr>
          <a:xfrm>
            <a:off x="824890" y="2358593"/>
            <a:ext cx="5905500" cy="1911421"/>
          </a:xfrm>
          <a:prstGeom prst="rect">
            <a:avLst/>
          </a:prstGeom>
        </p:spPr>
        <p:txBody>
          <a:bodyPr vert="horz" wrap="square" lIns="0" tIns="13335" rIns="0" bIns="0" rtlCol="0">
            <a:spAutoFit/>
          </a:bodyPr>
          <a:lstStyle/>
          <a:p>
            <a:pPr marL="24765">
              <a:lnSpc>
                <a:spcPct val="100000"/>
              </a:lnSpc>
              <a:spcBef>
                <a:spcPts val="105"/>
              </a:spcBef>
            </a:pPr>
            <a:r>
              <a:rPr sz="2000" dirty="0">
                <a:latin typeface="Arial MT"/>
                <a:cs typeface="Arial MT"/>
              </a:rPr>
              <a:t>Please</a:t>
            </a:r>
            <a:r>
              <a:rPr sz="2000" spc="-45" dirty="0">
                <a:latin typeface="Arial MT"/>
                <a:cs typeface="Arial MT"/>
              </a:rPr>
              <a:t> </a:t>
            </a:r>
            <a:r>
              <a:rPr lang="en-US" sz="2000" dirty="0" smtClean="0">
                <a:latin typeface="Arial MT"/>
                <a:cs typeface="Arial MT"/>
              </a:rPr>
              <a:t>scan the QR code here or go to the below website:</a:t>
            </a:r>
            <a:endParaRPr sz="2000" dirty="0">
              <a:latin typeface="Arial MT"/>
              <a:cs typeface="Arial MT"/>
            </a:endParaRPr>
          </a:p>
          <a:p>
            <a:pPr>
              <a:lnSpc>
                <a:spcPct val="100000"/>
              </a:lnSpc>
            </a:pPr>
            <a:endParaRPr sz="2000" dirty="0">
              <a:latin typeface="Arial MT"/>
              <a:cs typeface="Arial MT"/>
            </a:endParaRPr>
          </a:p>
          <a:p>
            <a:pPr>
              <a:lnSpc>
                <a:spcPct val="100000"/>
              </a:lnSpc>
              <a:spcBef>
                <a:spcPts val="405"/>
              </a:spcBef>
            </a:pPr>
            <a:endParaRPr sz="2000" dirty="0">
              <a:latin typeface="Arial MT"/>
              <a:cs typeface="Arial MT"/>
            </a:endParaRPr>
          </a:p>
          <a:p>
            <a:pPr marL="12700">
              <a:lnSpc>
                <a:spcPct val="100000"/>
              </a:lnSpc>
            </a:pPr>
            <a:r>
              <a:rPr lang="en-US" sz="2000" u="sng" spc="-10" dirty="0" smtClean="0">
                <a:solidFill>
                  <a:srgbClr val="0462C1"/>
                </a:solidFill>
                <a:uFill>
                  <a:solidFill>
                    <a:srgbClr val="0462C1"/>
                  </a:solidFill>
                </a:uFill>
                <a:latin typeface="Arial MT"/>
                <a:cs typeface="Arial MT"/>
                <a:hlinkClick r:id="rId2"/>
              </a:rPr>
              <a:t>https://afathelbab.github.io/cnpc/computer-basics-soft-skills/day2/quiz.html</a:t>
            </a:r>
            <a:endParaRPr sz="2000" dirty="0">
              <a:latin typeface="Arial MT"/>
              <a:cs typeface="Arial MT"/>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25</a:t>
            </a:fld>
            <a:endParaRPr spc="-25" dirty="0"/>
          </a:p>
        </p:txBody>
      </p:sp>
      <p:sp>
        <p:nvSpPr>
          <p:cNvPr id="7" name="object 2"/>
          <p:cNvSpPr txBox="1">
            <a:spLocks/>
          </p:cNvSpPr>
          <p:nvPr/>
        </p:nvSpPr>
        <p:spPr>
          <a:xfrm rot="19344576">
            <a:off x="3994338" y="810154"/>
            <a:ext cx="3886200" cy="677826"/>
          </a:xfrm>
          <a:prstGeom prst="rect">
            <a:avLst/>
          </a:prstGeom>
        </p:spPr>
        <p:txBody>
          <a:bodyPr vert="horz" wrap="square" lIns="0" tIns="244551" rIns="0" bIns="0" rtlCol="0" anchor="ctr">
            <a:spAutoFit/>
          </a:bodyPr>
          <a:lstStyle>
            <a:lvl1pPr>
              <a:defRPr sz="2000" b="1" i="0">
                <a:solidFill>
                  <a:srgbClr val="CE2C2C"/>
                </a:solidFill>
                <a:latin typeface="Arial"/>
                <a:ea typeface="+mj-ea"/>
                <a:cs typeface="Arial"/>
              </a:defRPr>
            </a:lvl1pPr>
          </a:lstStyle>
          <a:p>
            <a:pPr marL="2667000" algn="l">
              <a:spcBef>
                <a:spcPts val="95"/>
              </a:spcBef>
            </a:pPr>
            <a:r>
              <a:rPr lang="en-US" sz="2800" dirty="0" smtClean="0">
                <a:solidFill>
                  <a:schemeClr val="accent1">
                    <a:lumMod val="75000"/>
                  </a:schemeClr>
                </a:solidFill>
              </a:rPr>
              <a:t>Again!</a:t>
            </a:r>
            <a:endParaRPr lang="en-US" sz="2800" dirty="0">
              <a:solidFill>
                <a:schemeClr val="accent1">
                  <a:lumMod val="75000"/>
                </a:schemeClr>
              </a:solidFill>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0" y="1600200"/>
            <a:ext cx="3973398" cy="3973398"/>
          </a:xfrm>
          <a:prstGeom prst="rect">
            <a:avLst/>
          </a:prstGeom>
        </p:spPr>
      </p:pic>
    </p:spTree>
    <p:extLst>
      <p:ext uri="{BB962C8B-B14F-4D97-AF65-F5344CB8AC3E}">
        <p14:creationId xmlns:p14="http://schemas.microsoft.com/office/powerpoint/2010/main" val="26961342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789420"/>
            <a:chOff x="0" y="0"/>
            <a:chExt cx="12192000" cy="6789420"/>
          </a:xfrm>
        </p:grpSpPr>
        <p:pic>
          <p:nvPicPr>
            <p:cNvPr id="3" name="object 3"/>
            <p:cNvPicPr/>
            <p:nvPr/>
          </p:nvPicPr>
          <p:blipFill>
            <a:blip r:embed="rId2" cstate="print"/>
            <a:stretch>
              <a:fillRect/>
            </a:stretch>
          </p:blipFill>
          <p:spPr>
            <a:xfrm>
              <a:off x="838199" y="211836"/>
              <a:ext cx="540060" cy="544068"/>
            </a:xfrm>
            <a:prstGeom prst="rect">
              <a:avLst/>
            </a:prstGeom>
          </p:spPr>
        </p:pic>
        <p:pic>
          <p:nvPicPr>
            <p:cNvPr id="4" name="object 4"/>
            <p:cNvPicPr/>
            <p:nvPr/>
          </p:nvPicPr>
          <p:blipFill>
            <a:blip r:embed="rId3" cstate="print"/>
            <a:stretch>
              <a:fillRect/>
            </a:stretch>
          </p:blipFill>
          <p:spPr>
            <a:xfrm>
              <a:off x="0" y="0"/>
              <a:ext cx="12191999" cy="6789417"/>
            </a:xfrm>
            <a:prstGeom prst="rect">
              <a:avLst/>
            </a:prstGeom>
          </p:spPr>
        </p:pic>
        <p:sp>
          <p:nvSpPr>
            <p:cNvPr id="5" name="object 5"/>
            <p:cNvSpPr/>
            <p:nvPr/>
          </p:nvSpPr>
          <p:spPr>
            <a:xfrm>
              <a:off x="0" y="0"/>
              <a:ext cx="12192000" cy="6769734"/>
            </a:xfrm>
            <a:custGeom>
              <a:avLst/>
              <a:gdLst/>
              <a:ahLst/>
              <a:cxnLst/>
              <a:rect l="l" t="t" r="r" b="b"/>
              <a:pathLst>
                <a:path w="12192000" h="6769734">
                  <a:moveTo>
                    <a:pt x="0" y="6769606"/>
                  </a:moveTo>
                  <a:lnTo>
                    <a:pt x="12192000" y="6769606"/>
                  </a:lnTo>
                  <a:lnTo>
                    <a:pt x="12192000" y="0"/>
                  </a:lnTo>
                  <a:lnTo>
                    <a:pt x="0" y="0"/>
                  </a:lnTo>
                  <a:lnTo>
                    <a:pt x="0" y="6769606"/>
                  </a:lnTo>
                  <a:close/>
                </a:path>
              </a:pathLst>
            </a:custGeom>
            <a:solidFill>
              <a:srgbClr val="FFFFFF">
                <a:alpha val="59999"/>
              </a:srgbClr>
            </a:solidFill>
          </p:spPr>
          <p:txBody>
            <a:bodyPr wrap="square" lIns="0" tIns="0" rIns="0" bIns="0" rtlCol="0"/>
            <a:lstStyle/>
            <a:p>
              <a:endParaRPr/>
            </a:p>
          </p:txBody>
        </p:sp>
      </p:grpSp>
      <p:sp>
        <p:nvSpPr>
          <p:cNvPr id="6" name="object 6"/>
          <p:cNvSpPr txBox="1">
            <a:spLocks noGrp="1"/>
          </p:cNvSpPr>
          <p:nvPr>
            <p:ph type="title"/>
          </p:nvPr>
        </p:nvSpPr>
        <p:spPr>
          <a:xfrm>
            <a:off x="3198114" y="3109340"/>
            <a:ext cx="585978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rPr>
              <a:t>A</a:t>
            </a:r>
            <a:r>
              <a:rPr sz="3600" spc="-245" dirty="0">
                <a:solidFill>
                  <a:srgbClr val="000000"/>
                </a:solidFill>
              </a:rPr>
              <a:t> </a:t>
            </a:r>
            <a:r>
              <a:rPr sz="3600" spc="-70" dirty="0">
                <a:solidFill>
                  <a:srgbClr val="000000"/>
                </a:solidFill>
              </a:rPr>
              <a:t>Better</a:t>
            </a:r>
            <a:r>
              <a:rPr sz="3600" spc="-145" dirty="0">
                <a:solidFill>
                  <a:srgbClr val="000000"/>
                </a:solidFill>
              </a:rPr>
              <a:t> You,</a:t>
            </a:r>
            <a:r>
              <a:rPr sz="3600" spc="-105" dirty="0">
                <a:solidFill>
                  <a:srgbClr val="000000"/>
                </a:solidFill>
              </a:rPr>
              <a:t> </a:t>
            </a:r>
            <a:r>
              <a:rPr sz="3600" dirty="0">
                <a:solidFill>
                  <a:srgbClr val="000000"/>
                </a:solidFill>
              </a:rPr>
              <a:t>A</a:t>
            </a:r>
            <a:r>
              <a:rPr sz="3600" spc="-170" dirty="0">
                <a:solidFill>
                  <a:srgbClr val="000000"/>
                </a:solidFill>
              </a:rPr>
              <a:t> </a:t>
            </a:r>
            <a:r>
              <a:rPr sz="3600" spc="-70" dirty="0">
                <a:solidFill>
                  <a:srgbClr val="000000"/>
                </a:solidFill>
              </a:rPr>
              <a:t>Better</a:t>
            </a:r>
            <a:r>
              <a:rPr sz="3600" spc="-145" dirty="0">
                <a:solidFill>
                  <a:srgbClr val="000000"/>
                </a:solidFill>
              </a:rPr>
              <a:t> </a:t>
            </a:r>
            <a:r>
              <a:rPr sz="3600" spc="-10" dirty="0">
                <a:solidFill>
                  <a:srgbClr val="000000"/>
                </a:solidFill>
              </a:rPr>
              <a:t>Niger</a:t>
            </a:r>
            <a:endParaRPr sz="3600"/>
          </a:p>
        </p:txBody>
      </p:sp>
      <p:grpSp>
        <p:nvGrpSpPr>
          <p:cNvPr id="7" name="object 7"/>
          <p:cNvGrpSpPr/>
          <p:nvPr/>
        </p:nvGrpSpPr>
        <p:grpSpPr>
          <a:xfrm>
            <a:off x="5321808" y="1053195"/>
            <a:ext cx="1548765" cy="4386580"/>
            <a:chOff x="5321808" y="1053195"/>
            <a:chExt cx="1548765" cy="4386580"/>
          </a:xfrm>
        </p:grpSpPr>
        <p:sp>
          <p:nvSpPr>
            <p:cNvPr id="8" name="object 8"/>
            <p:cNvSpPr/>
            <p:nvPr/>
          </p:nvSpPr>
          <p:spPr>
            <a:xfrm>
              <a:off x="5321808" y="1053195"/>
              <a:ext cx="1548765" cy="1113790"/>
            </a:xfrm>
            <a:custGeom>
              <a:avLst/>
              <a:gdLst/>
              <a:ahLst/>
              <a:cxnLst/>
              <a:rect l="l" t="t" r="r" b="b"/>
              <a:pathLst>
                <a:path w="1548765" h="1113789">
                  <a:moveTo>
                    <a:pt x="634749" y="989329"/>
                  </a:moveTo>
                  <a:lnTo>
                    <a:pt x="460628" y="989329"/>
                  </a:lnTo>
                  <a:lnTo>
                    <a:pt x="449855" y="1013460"/>
                  </a:lnTo>
                  <a:lnTo>
                    <a:pt x="440737" y="1038860"/>
                  </a:lnTo>
                  <a:lnTo>
                    <a:pt x="440358" y="1065529"/>
                  </a:lnTo>
                  <a:lnTo>
                    <a:pt x="455802" y="1093469"/>
                  </a:lnTo>
                  <a:lnTo>
                    <a:pt x="488311" y="1112519"/>
                  </a:lnTo>
                  <a:lnTo>
                    <a:pt x="529653" y="1113789"/>
                  </a:lnTo>
                  <a:lnTo>
                    <a:pt x="571853" y="1101089"/>
                  </a:lnTo>
                  <a:lnTo>
                    <a:pt x="606932" y="1078229"/>
                  </a:lnTo>
                  <a:lnTo>
                    <a:pt x="629027" y="1047750"/>
                  </a:lnTo>
                  <a:lnTo>
                    <a:pt x="637952" y="1013460"/>
                  </a:lnTo>
                  <a:lnTo>
                    <a:pt x="634749" y="989329"/>
                  </a:lnTo>
                  <a:close/>
                </a:path>
                <a:path w="1548765" h="1113789">
                  <a:moveTo>
                    <a:pt x="1072659" y="533400"/>
                  </a:moveTo>
                  <a:lnTo>
                    <a:pt x="246395" y="533400"/>
                  </a:lnTo>
                  <a:lnTo>
                    <a:pt x="288628" y="538479"/>
                  </a:lnTo>
                  <a:lnTo>
                    <a:pt x="327792" y="553719"/>
                  </a:lnTo>
                  <a:lnTo>
                    <a:pt x="361314" y="579119"/>
                  </a:lnTo>
                  <a:lnTo>
                    <a:pt x="384238" y="609600"/>
                  </a:lnTo>
                  <a:lnTo>
                    <a:pt x="398399" y="645160"/>
                  </a:lnTo>
                  <a:lnTo>
                    <a:pt x="416018" y="651510"/>
                  </a:lnTo>
                  <a:lnTo>
                    <a:pt x="461899" y="683260"/>
                  </a:lnTo>
                  <a:lnTo>
                    <a:pt x="492831" y="730250"/>
                  </a:lnTo>
                  <a:lnTo>
                    <a:pt x="498855" y="749300"/>
                  </a:lnTo>
                  <a:lnTo>
                    <a:pt x="516346" y="755650"/>
                  </a:lnTo>
                  <a:lnTo>
                    <a:pt x="562101" y="787400"/>
                  </a:lnTo>
                  <a:lnTo>
                    <a:pt x="586851" y="820419"/>
                  </a:lnTo>
                  <a:lnTo>
                    <a:pt x="601217" y="859789"/>
                  </a:lnTo>
                  <a:lnTo>
                    <a:pt x="619740" y="866139"/>
                  </a:lnTo>
                  <a:lnTo>
                    <a:pt x="653117" y="885189"/>
                  </a:lnTo>
                  <a:lnTo>
                    <a:pt x="690189" y="928369"/>
                  </a:lnTo>
                  <a:lnTo>
                    <a:pt x="710287" y="996950"/>
                  </a:lnTo>
                  <a:lnTo>
                    <a:pt x="708405" y="1033779"/>
                  </a:lnTo>
                  <a:lnTo>
                    <a:pt x="712559" y="1037589"/>
                  </a:lnTo>
                  <a:lnTo>
                    <a:pt x="721693" y="1047750"/>
                  </a:lnTo>
                  <a:lnTo>
                    <a:pt x="733232" y="1060450"/>
                  </a:lnTo>
                  <a:lnTo>
                    <a:pt x="744474" y="1071879"/>
                  </a:lnTo>
                  <a:lnTo>
                    <a:pt x="766927" y="1087119"/>
                  </a:lnTo>
                  <a:lnTo>
                    <a:pt x="792559" y="1092200"/>
                  </a:lnTo>
                  <a:lnTo>
                    <a:pt x="818215" y="1087119"/>
                  </a:lnTo>
                  <a:lnTo>
                    <a:pt x="840739" y="1071879"/>
                  </a:lnTo>
                  <a:lnTo>
                    <a:pt x="855545" y="1049019"/>
                  </a:lnTo>
                  <a:lnTo>
                    <a:pt x="860504" y="1023619"/>
                  </a:lnTo>
                  <a:lnTo>
                    <a:pt x="855581" y="998219"/>
                  </a:lnTo>
                  <a:lnTo>
                    <a:pt x="840739" y="976629"/>
                  </a:lnTo>
                  <a:lnTo>
                    <a:pt x="825543" y="960119"/>
                  </a:lnTo>
                  <a:lnTo>
                    <a:pt x="793559" y="924560"/>
                  </a:lnTo>
                  <a:lnTo>
                    <a:pt x="763194" y="889000"/>
                  </a:lnTo>
                  <a:lnTo>
                    <a:pt x="752855" y="868679"/>
                  </a:lnTo>
                  <a:lnTo>
                    <a:pt x="953429" y="868679"/>
                  </a:lnTo>
                  <a:lnTo>
                    <a:pt x="952003" y="867410"/>
                  </a:lnTo>
                  <a:lnTo>
                    <a:pt x="911923" y="830579"/>
                  </a:lnTo>
                  <a:lnTo>
                    <a:pt x="873557" y="791210"/>
                  </a:lnTo>
                  <a:lnTo>
                    <a:pt x="860170" y="768350"/>
                  </a:lnTo>
                  <a:lnTo>
                    <a:pt x="1081081" y="768350"/>
                  </a:lnTo>
                  <a:lnTo>
                    <a:pt x="1059243" y="744219"/>
                  </a:lnTo>
                  <a:lnTo>
                    <a:pt x="1023028" y="701039"/>
                  </a:lnTo>
                  <a:lnTo>
                    <a:pt x="1010412" y="676910"/>
                  </a:lnTo>
                  <a:lnTo>
                    <a:pt x="1216034" y="676910"/>
                  </a:lnTo>
                  <a:lnTo>
                    <a:pt x="1072659" y="533400"/>
                  </a:lnTo>
                  <a:close/>
                </a:path>
                <a:path w="1548765" h="1113789">
                  <a:moveTo>
                    <a:pt x="953429" y="868679"/>
                  </a:moveTo>
                  <a:lnTo>
                    <a:pt x="752855" y="868679"/>
                  </a:lnTo>
                  <a:lnTo>
                    <a:pt x="776037" y="883919"/>
                  </a:lnTo>
                  <a:lnTo>
                    <a:pt x="819911" y="924560"/>
                  </a:lnTo>
                  <a:lnTo>
                    <a:pt x="883157" y="988060"/>
                  </a:lnTo>
                  <a:lnTo>
                    <a:pt x="905589" y="1003300"/>
                  </a:lnTo>
                  <a:lnTo>
                    <a:pt x="931163" y="1008379"/>
                  </a:lnTo>
                  <a:lnTo>
                    <a:pt x="956738" y="1003300"/>
                  </a:lnTo>
                  <a:lnTo>
                    <a:pt x="979169" y="988060"/>
                  </a:lnTo>
                  <a:lnTo>
                    <a:pt x="994100" y="966469"/>
                  </a:lnTo>
                  <a:lnTo>
                    <a:pt x="999077" y="941069"/>
                  </a:lnTo>
                  <a:lnTo>
                    <a:pt x="994100" y="914400"/>
                  </a:lnTo>
                  <a:lnTo>
                    <a:pt x="979169" y="892810"/>
                  </a:lnTo>
                  <a:lnTo>
                    <a:pt x="978026" y="891539"/>
                  </a:lnTo>
                  <a:lnTo>
                    <a:pt x="972692" y="886460"/>
                  </a:lnTo>
                  <a:lnTo>
                    <a:pt x="970533" y="883919"/>
                  </a:lnTo>
                  <a:lnTo>
                    <a:pt x="953429" y="868679"/>
                  </a:lnTo>
                  <a:close/>
                </a:path>
                <a:path w="1548765" h="1113789">
                  <a:moveTo>
                    <a:pt x="531101" y="887729"/>
                  </a:moveTo>
                  <a:lnTo>
                    <a:pt x="352932" y="887729"/>
                  </a:lnTo>
                  <a:lnTo>
                    <a:pt x="344779" y="909319"/>
                  </a:lnTo>
                  <a:lnTo>
                    <a:pt x="337327" y="932179"/>
                  </a:lnTo>
                  <a:lnTo>
                    <a:pt x="336948" y="956310"/>
                  </a:lnTo>
                  <a:lnTo>
                    <a:pt x="350012" y="982979"/>
                  </a:lnTo>
                  <a:lnTo>
                    <a:pt x="375386" y="1000760"/>
                  </a:lnTo>
                  <a:lnTo>
                    <a:pt x="404510" y="1003300"/>
                  </a:lnTo>
                  <a:lnTo>
                    <a:pt x="434040" y="998219"/>
                  </a:lnTo>
                  <a:lnTo>
                    <a:pt x="460628" y="989329"/>
                  </a:lnTo>
                  <a:lnTo>
                    <a:pt x="634749" y="989329"/>
                  </a:lnTo>
                  <a:lnTo>
                    <a:pt x="633400" y="979169"/>
                  </a:lnTo>
                  <a:lnTo>
                    <a:pt x="615061" y="948689"/>
                  </a:lnTo>
                  <a:lnTo>
                    <a:pt x="595760" y="934719"/>
                  </a:lnTo>
                  <a:lnTo>
                    <a:pt x="580878" y="929639"/>
                  </a:lnTo>
                  <a:lnTo>
                    <a:pt x="525144" y="929639"/>
                  </a:lnTo>
                  <a:lnTo>
                    <a:pt x="531332" y="905510"/>
                  </a:lnTo>
                  <a:lnTo>
                    <a:pt x="531101" y="887729"/>
                  </a:lnTo>
                  <a:close/>
                </a:path>
                <a:path w="1548765" h="1113789">
                  <a:moveTo>
                    <a:pt x="549445" y="925829"/>
                  </a:moveTo>
                  <a:lnTo>
                    <a:pt x="525144" y="929639"/>
                  </a:lnTo>
                  <a:lnTo>
                    <a:pt x="580878" y="929639"/>
                  </a:lnTo>
                  <a:lnTo>
                    <a:pt x="573436" y="927100"/>
                  </a:lnTo>
                  <a:lnTo>
                    <a:pt x="549445" y="925829"/>
                  </a:lnTo>
                  <a:close/>
                </a:path>
                <a:path w="1548765" h="1113789">
                  <a:moveTo>
                    <a:pt x="1081081" y="768350"/>
                  </a:moveTo>
                  <a:lnTo>
                    <a:pt x="860170" y="768350"/>
                  </a:lnTo>
                  <a:lnTo>
                    <a:pt x="888642" y="784860"/>
                  </a:lnTo>
                  <a:lnTo>
                    <a:pt x="942403" y="830579"/>
                  </a:lnTo>
                  <a:lnTo>
                    <a:pt x="994544" y="876300"/>
                  </a:lnTo>
                  <a:lnTo>
                    <a:pt x="1018158" y="897889"/>
                  </a:lnTo>
                  <a:lnTo>
                    <a:pt x="1040278" y="911860"/>
                  </a:lnTo>
                  <a:lnTo>
                    <a:pt x="1089757" y="910589"/>
                  </a:lnTo>
                  <a:lnTo>
                    <a:pt x="1125577" y="875029"/>
                  </a:lnTo>
                  <a:lnTo>
                    <a:pt x="1130776" y="850900"/>
                  </a:lnTo>
                  <a:lnTo>
                    <a:pt x="1127164" y="826769"/>
                  </a:lnTo>
                  <a:lnTo>
                    <a:pt x="1114932" y="805179"/>
                  </a:lnTo>
                  <a:lnTo>
                    <a:pt x="1097172" y="786129"/>
                  </a:lnTo>
                  <a:lnTo>
                    <a:pt x="1081081" y="768350"/>
                  </a:lnTo>
                  <a:close/>
                </a:path>
                <a:path w="1548765" h="1113789">
                  <a:moveTo>
                    <a:pt x="430004" y="783589"/>
                  </a:moveTo>
                  <a:lnTo>
                    <a:pt x="252349" y="783589"/>
                  </a:lnTo>
                  <a:lnTo>
                    <a:pt x="244236" y="805179"/>
                  </a:lnTo>
                  <a:lnTo>
                    <a:pt x="236600" y="828039"/>
                  </a:lnTo>
                  <a:lnTo>
                    <a:pt x="236204" y="852169"/>
                  </a:lnTo>
                  <a:lnTo>
                    <a:pt x="249808" y="878839"/>
                  </a:lnTo>
                  <a:lnTo>
                    <a:pt x="274655" y="897889"/>
                  </a:lnTo>
                  <a:lnTo>
                    <a:pt x="301609" y="900429"/>
                  </a:lnTo>
                  <a:lnTo>
                    <a:pt x="328443" y="894079"/>
                  </a:lnTo>
                  <a:lnTo>
                    <a:pt x="352932" y="887729"/>
                  </a:lnTo>
                  <a:lnTo>
                    <a:pt x="531101" y="887729"/>
                  </a:lnTo>
                  <a:lnTo>
                    <a:pt x="509650" y="838200"/>
                  </a:lnTo>
                  <a:lnTo>
                    <a:pt x="471455" y="816610"/>
                  </a:lnTo>
                  <a:lnTo>
                    <a:pt x="426974" y="816610"/>
                  </a:lnTo>
                  <a:lnTo>
                    <a:pt x="430748" y="795019"/>
                  </a:lnTo>
                  <a:lnTo>
                    <a:pt x="430004" y="783589"/>
                  </a:lnTo>
                  <a:close/>
                </a:path>
                <a:path w="1548765" h="1113789">
                  <a:moveTo>
                    <a:pt x="449500" y="814069"/>
                  </a:moveTo>
                  <a:lnTo>
                    <a:pt x="426974" y="816610"/>
                  </a:lnTo>
                  <a:lnTo>
                    <a:pt x="471455" y="816610"/>
                  </a:lnTo>
                  <a:lnTo>
                    <a:pt x="449500" y="814069"/>
                  </a:lnTo>
                  <a:close/>
                </a:path>
                <a:path w="1548765" h="1113789">
                  <a:moveTo>
                    <a:pt x="1216034" y="676910"/>
                  </a:moveTo>
                  <a:lnTo>
                    <a:pt x="1010412" y="676910"/>
                  </a:lnTo>
                  <a:lnTo>
                    <a:pt x="1033085" y="689610"/>
                  </a:lnTo>
                  <a:lnTo>
                    <a:pt x="1074070" y="726439"/>
                  </a:lnTo>
                  <a:lnTo>
                    <a:pt x="1131062" y="783589"/>
                  </a:lnTo>
                  <a:lnTo>
                    <a:pt x="1153497" y="797560"/>
                  </a:lnTo>
                  <a:lnTo>
                    <a:pt x="1179099" y="802639"/>
                  </a:lnTo>
                  <a:lnTo>
                    <a:pt x="1204749" y="797560"/>
                  </a:lnTo>
                  <a:lnTo>
                    <a:pt x="1227327" y="783589"/>
                  </a:lnTo>
                  <a:lnTo>
                    <a:pt x="1242115" y="760729"/>
                  </a:lnTo>
                  <a:lnTo>
                    <a:pt x="1247044" y="735329"/>
                  </a:lnTo>
                  <a:lnTo>
                    <a:pt x="1242115" y="709929"/>
                  </a:lnTo>
                  <a:lnTo>
                    <a:pt x="1227327" y="687069"/>
                  </a:lnTo>
                  <a:lnTo>
                    <a:pt x="1226185" y="687069"/>
                  </a:lnTo>
                  <a:lnTo>
                    <a:pt x="1216034" y="676910"/>
                  </a:lnTo>
                  <a:close/>
                </a:path>
                <a:path w="1548765" h="1113789">
                  <a:moveTo>
                    <a:pt x="245094" y="604519"/>
                  </a:moveTo>
                  <a:lnTo>
                    <a:pt x="178053" y="633729"/>
                  </a:lnTo>
                  <a:lnTo>
                    <a:pt x="152657" y="665479"/>
                  </a:lnTo>
                  <a:lnTo>
                    <a:pt x="136620" y="703579"/>
                  </a:lnTo>
                  <a:lnTo>
                    <a:pt x="134155" y="741679"/>
                  </a:lnTo>
                  <a:lnTo>
                    <a:pt x="149478" y="774700"/>
                  </a:lnTo>
                  <a:lnTo>
                    <a:pt x="175732" y="793750"/>
                  </a:lnTo>
                  <a:lnTo>
                    <a:pt x="202533" y="796289"/>
                  </a:lnTo>
                  <a:lnTo>
                    <a:pt x="228524" y="789939"/>
                  </a:lnTo>
                  <a:lnTo>
                    <a:pt x="252349" y="783589"/>
                  </a:lnTo>
                  <a:lnTo>
                    <a:pt x="430004" y="783589"/>
                  </a:lnTo>
                  <a:lnTo>
                    <a:pt x="409066" y="734060"/>
                  </a:lnTo>
                  <a:lnTo>
                    <a:pt x="370951" y="712469"/>
                  </a:lnTo>
                  <a:lnTo>
                    <a:pt x="326643" y="712469"/>
                  </a:lnTo>
                  <a:lnTo>
                    <a:pt x="330344" y="690879"/>
                  </a:lnTo>
                  <a:lnTo>
                    <a:pt x="328818" y="668019"/>
                  </a:lnTo>
                  <a:lnTo>
                    <a:pt x="321696" y="647700"/>
                  </a:lnTo>
                  <a:lnTo>
                    <a:pt x="308609" y="629919"/>
                  </a:lnTo>
                  <a:lnTo>
                    <a:pt x="279370" y="610869"/>
                  </a:lnTo>
                  <a:lnTo>
                    <a:pt x="245094" y="604519"/>
                  </a:lnTo>
                  <a:close/>
                </a:path>
                <a:path w="1548765" h="1113789">
                  <a:moveTo>
                    <a:pt x="349041" y="709929"/>
                  </a:moveTo>
                  <a:lnTo>
                    <a:pt x="326643" y="712469"/>
                  </a:lnTo>
                  <a:lnTo>
                    <a:pt x="370951" y="712469"/>
                  </a:lnTo>
                  <a:lnTo>
                    <a:pt x="349041" y="709929"/>
                  </a:lnTo>
                  <a:close/>
                </a:path>
                <a:path w="1548765" h="1113789">
                  <a:moveTo>
                    <a:pt x="0" y="85089"/>
                  </a:moveTo>
                  <a:lnTo>
                    <a:pt x="0" y="621029"/>
                  </a:lnTo>
                  <a:lnTo>
                    <a:pt x="7504" y="622300"/>
                  </a:lnTo>
                  <a:lnTo>
                    <a:pt x="53899" y="637539"/>
                  </a:lnTo>
                  <a:lnTo>
                    <a:pt x="83692" y="648969"/>
                  </a:lnTo>
                  <a:lnTo>
                    <a:pt x="91406" y="631189"/>
                  </a:lnTo>
                  <a:lnTo>
                    <a:pt x="101203" y="613410"/>
                  </a:lnTo>
                  <a:lnTo>
                    <a:pt x="127000" y="580389"/>
                  </a:lnTo>
                  <a:lnTo>
                    <a:pt x="163009" y="554989"/>
                  </a:lnTo>
                  <a:lnTo>
                    <a:pt x="203665" y="538479"/>
                  </a:lnTo>
                  <a:lnTo>
                    <a:pt x="246395" y="533400"/>
                  </a:lnTo>
                  <a:lnTo>
                    <a:pt x="1072659" y="533400"/>
                  </a:lnTo>
                  <a:lnTo>
                    <a:pt x="1002775" y="463550"/>
                  </a:lnTo>
                  <a:lnTo>
                    <a:pt x="599186" y="463550"/>
                  </a:lnTo>
                  <a:lnTo>
                    <a:pt x="550202" y="455929"/>
                  </a:lnTo>
                  <a:lnTo>
                    <a:pt x="507668" y="433069"/>
                  </a:lnTo>
                  <a:lnTo>
                    <a:pt x="474132" y="400050"/>
                  </a:lnTo>
                  <a:lnTo>
                    <a:pt x="452142" y="358139"/>
                  </a:lnTo>
                  <a:lnTo>
                    <a:pt x="444245" y="309879"/>
                  </a:lnTo>
                  <a:lnTo>
                    <a:pt x="449554" y="269239"/>
                  </a:lnTo>
                  <a:lnTo>
                    <a:pt x="464518" y="233679"/>
                  </a:lnTo>
                  <a:lnTo>
                    <a:pt x="487697" y="203200"/>
                  </a:lnTo>
                  <a:lnTo>
                    <a:pt x="517651" y="179070"/>
                  </a:lnTo>
                  <a:lnTo>
                    <a:pt x="559503" y="152400"/>
                  </a:lnTo>
                  <a:lnTo>
                    <a:pt x="209405" y="152400"/>
                  </a:lnTo>
                  <a:lnTo>
                    <a:pt x="154431" y="138429"/>
                  </a:lnTo>
                  <a:lnTo>
                    <a:pt x="0" y="85089"/>
                  </a:lnTo>
                  <a:close/>
                </a:path>
                <a:path w="1548765" h="1113789">
                  <a:moveTo>
                    <a:pt x="1548384" y="260350"/>
                  </a:moveTo>
                  <a:lnTo>
                    <a:pt x="898380" y="260350"/>
                  </a:lnTo>
                  <a:lnTo>
                    <a:pt x="934735" y="264159"/>
                  </a:lnTo>
                  <a:lnTo>
                    <a:pt x="957780" y="275589"/>
                  </a:lnTo>
                  <a:lnTo>
                    <a:pt x="965834" y="281939"/>
                  </a:lnTo>
                  <a:lnTo>
                    <a:pt x="1295272" y="605789"/>
                  </a:lnTo>
                  <a:lnTo>
                    <a:pt x="1332807" y="628650"/>
                  </a:lnTo>
                  <a:lnTo>
                    <a:pt x="1371234" y="635000"/>
                  </a:lnTo>
                  <a:lnTo>
                    <a:pt x="1404733" y="631189"/>
                  </a:lnTo>
                  <a:lnTo>
                    <a:pt x="1427480" y="627379"/>
                  </a:lnTo>
                  <a:lnTo>
                    <a:pt x="1495647" y="614679"/>
                  </a:lnTo>
                  <a:lnTo>
                    <a:pt x="1532385" y="608329"/>
                  </a:lnTo>
                  <a:lnTo>
                    <a:pt x="1548384" y="604519"/>
                  </a:lnTo>
                  <a:lnTo>
                    <a:pt x="1548384" y="260350"/>
                  </a:lnTo>
                  <a:close/>
                </a:path>
                <a:path w="1548765" h="1113789">
                  <a:moveTo>
                    <a:pt x="866665" y="363219"/>
                  </a:moveTo>
                  <a:lnTo>
                    <a:pt x="825500" y="372110"/>
                  </a:lnTo>
                  <a:lnTo>
                    <a:pt x="792487" y="386079"/>
                  </a:lnTo>
                  <a:lnTo>
                    <a:pt x="690117" y="434339"/>
                  </a:lnTo>
                  <a:lnTo>
                    <a:pt x="659425" y="448310"/>
                  </a:lnTo>
                  <a:lnTo>
                    <a:pt x="633745" y="457200"/>
                  </a:lnTo>
                  <a:lnTo>
                    <a:pt x="613519" y="462279"/>
                  </a:lnTo>
                  <a:lnTo>
                    <a:pt x="599186" y="463550"/>
                  </a:lnTo>
                  <a:lnTo>
                    <a:pt x="1002775" y="463550"/>
                  </a:lnTo>
                  <a:lnTo>
                    <a:pt x="954425" y="415289"/>
                  </a:lnTo>
                  <a:lnTo>
                    <a:pt x="929513" y="389889"/>
                  </a:lnTo>
                  <a:lnTo>
                    <a:pt x="921565" y="383539"/>
                  </a:lnTo>
                  <a:lnTo>
                    <a:pt x="899652" y="370839"/>
                  </a:lnTo>
                  <a:lnTo>
                    <a:pt x="866665" y="363219"/>
                  </a:lnTo>
                  <a:close/>
                </a:path>
                <a:path w="1548765" h="1113789">
                  <a:moveTo>
                    <a:pt x="1002506" y="0"/>
                  </a:moveTo>
                  <a:lnTo>
                    <a:pt x="968331" y="2539"/>
                  </a:lnTo>
                  <a:lnTo>
                    <a:pt x="933322" y="16509"/>
                  </a:lnTo>
                  <a:lnTo>
                    <a:pt x="898012" y="35559"/>
                  </a:lnTo>
                  <a:lnTo>
                    <a:pt x="854622" y="59689"/>
                  </a:lnTo>
                  <a:lnTo>
                    <a:pt x="805673" y="86359"/>
                  </a:lnTo>
                  <a:lnTo>
                    <a:pt x="701166" y="144779"/>
                  </a:lnTo>
                  <a:lnTo>
                    <a:pt x="604636" y="200659"/>
                  </a:lnTo>
                  <a:lnTo>
                    <a:pt x="565657" y="224789"/>
                  </a:lnTo>
                  <a:lnTo>
                    <a:pt x="523938" y="259079"/>
                  </a:lnTo>
                  <a:lnTo>
                    <a:pt x="507745" y="307339"/>
                  </a:lnTo>
                  <a:lnTo>
                    <a:pt x="518826" y="345439"/>
                  </a:lnTo>
                  <a:lnTo>
                    <a:pt x="548957" y="377189"/>
                  </a:lnTo>
                  <a:lnTo>
                    <a:pt x="593470" y="392429"/>
                  </a:lnTo>
                  <a:lnTo>
                    <a:pt x="647700" y="379729"/>
                  </a:lnTo>
                  <a:lnTo>
                    <a:pt x="687157" y="360679"/>
                  </a:lnTo>
                  <a:lnTo>
                    <a:pt x="739616" y="332739"/>
                  </a:lnTo>
                  <a:lnTo>
                    <a:pt x="796790" y="303529"/>
                  </a:lnTo>
                  <a:lnTo>
                    <a:pt x="850391" y="275589"/>
                  </a:lnTo>
                  <a:lnTo>
                    <a:pt x="898380" y="260350"/>
                  </a:lnTo>
                  <a:lnTo>
                    <a:pt x="1548384" y="260350"/>
                  </a:lnTo>
                  <a:lnTo>
                    <a:pt x="1548384" y="191770"/>
                  </a:lnTo>
                  <a:lnTo>
                    <a:pt x="1279415" y="191770"/>
                  </a:lnTo>
                  <a:lnTo>
                    <a:pt x="1259697" y="187959"/>
                  </a:lnTo>
                  <a:lnTo>
                    <a:pt x="1247193" y="181609"/>
                  </a:lnTo>
                  <a:lnTo>
                    <a:pt x="1242821" y="179070"/>
                  </a:lnTo>
                  <a:lnTo>
                    <a:pt x="1229953" y="167639"/>
                  </a:lnTo>
                  <a:lnTo>
                    <a:pt x="1195403" y="138429"/>
                  </a:lnTo>
                  <a:lnTo>
                    <a:pt x="1145256" y="95250"/>
                  </a:lnTo>
                  <a:lnTo>
                    <a:pt x="1085595" y="45720"/>
                  </a:lnTo>
                  <a:lnTo>
                    <a:pt x="1040157" y="12700"/>
                  </a:lnTo>
                  <a:lnTo>
                    <a:pt x="1002506" y="0"/>
                  </a:lnTo>
                  <a:close/>
                </a:path>
                <a:path w="1548765" h="1113789">
                  <a:moveTo>
                    <a:pt x="1548384" y="137159"/>
                  </a:moveTo>
                  <a:lnTo>
                    <a:pt x="1523728" y="143509"/>
                  </a:lnTo>
                  <a:lnTo>
                    <a:pt x="1462389" y="156209"/>
                  </a:lnTo>
                  <a:lnTo>
                    <a:pt x="1383309" y="173989"/>
                  </a:lnTo>
                  <a:lnTo>
                    <a:pt x="1305433" y="190500"/>
                  </a:lnTo>
                  <a:lnTo>
                    <a:pt x="1279415" y="191770"/>
                  </a:lnTo>
                  <a:lnTo>
                    <a:pt x="1548384" y="191770"/>
                  </a:lnTo>
                  <a:lnTo>
                    <a:pt x="1548384" y="137159"/>
                  </a:lnTo>
                  <a:close/>
                </a:path>
                <a:path w="1548765" h="1113789">
                  <a:moveTo>
                    <a:pt x="583183" y="6350"/>
                  </a:moveTo>
                  <a:lnTo>
                    <a:pt x="497548" y="26670"/>
                  </a:lnTo>
                  <a:lnTo>
                    <a:pt x="401399" y="71120"/>
                  </a:lnTo>
                  <a:lnTo>
                    <a:pt x="322990" y="115570"/>
                  </a:lnTo>
                  <a:lnTo>
                    <a:pt x="290575" y="135889"/>
                  </a:lnTo>
                  <a:lnTo>
                    <a:pt x="280537" y="140970"/>
                  </a:lnTo>
                  <a:lnTo>
                    <a:pt x="252460" y="149859"/>
                  </a:lnTo>
                  <a:lnTo>
                    <a:pt x="209405" y="152400"/>
                  </a:lnTo>
                  <a:lnTo>
                    <a:pt x="559503" y="152400"/>
                  </a:lnTo>
                  <a:lnTo>
                    <a:pt x="575446" y="142239"/>
                  </a:lnTo>
                  <a:lnTo>
                    <a:pt x="642540" y="104139"/>
                  </a:lnTo>
                  <a:lnTo>
                    <a:pt x="721232" y="60959"/>
                  </a:lnTo>
                  <a:lnTo>
                    <a:pt x="713021" y="52070"/>
                  </a:lnTo>
                  <a:lnTo>
                    <a:pt x="687831" y="33020"/>
                  </a:lnTo>
                  <a:lnTo>
                    <a:pt x="644830" y="15239"/>
                  </a:lnTo>
                  <a:lnTo>
                    <a:pt x="583183" y="6350"/>
                  </a:lnTo>
                  <a:close/>
                </a:path>
              </a:pathLst>
            </a:custGeom>
            <a:solidFill>
              <a:srgbClr val="2E5496"/>
            </a:solidFill>
          </p:spPr>
          <p:txBody>
            <a:bodyPr wrap="square" lIns="0" tIns="0" rIns="0" bIns="0" rtlCol="0"/>
            <a:lstStyle/>
            <a:p>
              <a:endParaRPr/>
            </a:p>
          </p:txBody>
        </p:sp>
        <p:pic>
          <p:nvPicPr>
            <p:cNvPr id="9" name="object 9"/>
            <p:cNvPicPr/>
            <p:nvPr/>
          </p:nvPicPr>
          <p:blipFill>
            <a:blip r:embed="rId4" cstate="print"/>
            <a:stretch>
              <a:fillRect/>
            </a:stretch>
          </p:blipFill>
          <p:spPr>
            <a:xfrm>
              <a:off x="5486400" y="4376927"/>
              <a:ext cx="1281683" cy="1062228"/>
            </a:xfrm>
            <a:prstGeom prst="rect">
              <a:avLst/>
            </a:prstGeom>
          </p:spPr>
        </p:pic>
      </p:grpSp>
      <p:sp>
        <p:nvSpPr>
          <p:cNvPr id="10" name="object 10"/>
          <p:cNvSpPr txBox="1"/>
          <p:nvPr/>
        </p:nvSpPr>
        <p:spPr>
          <a:xfrm>
            <a:off x="11087861" y="6425285"/>
            <a:ext cx="187325" cy="208915"/>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Tahoma"/>
                <a:cs typeface="Tahoma"/>
              </a:rPr>
              <a:t>74</a:t>
            </a:r>
            <a:endParaRPr sz="1200">
              <a:latin typeface="Tahoma"/>
              <a:cs typeface="Tahoma"/>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2549098"/>
            <a:ext cx="7467600" cy="1908933"/>
          </a:xfrm>
          <a:prstGeom prst="rect">
            <a:avLst/>
          </a:prstGeom>
        </p:spPr>
        <p:txBody>
          <a:bodyPr vert="horz" wrap="square" lIns="0" tIns="244551" rIns="0" bIns="0" rtlCol="0" anchor="ctr">
            <a:spAutoFit/>
          </a:bodyPr>
          <a:lstStyle/>
          <a:p>
            <a:pPr algn="ctr"/>
            <a:r>
              <a:rPr lang="en-US" sz="5400" dirty="0" smtClean="0"/>
              <a:t>Backup Slides</a:t>
            </a:r>
            <a:r>
              <a:rPr lang="en-US" sz="5400" dirty="0"/>
              <a:t/>
            </a:r>
            <a:br>
              <a:rPr lang="en-US" sz="5400" dirty="0"/>
            </a:br>
            <a:endParaRPr lang="en-US" sz="54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27</a:t>
            </a:fld>
            <a:endParaRPr spc="-25" dirty="0"/>
          </a:p>
        </p:txBody>
      </p:sp>
    </p:spTree>
    <p:extLst>
      <p:ext uri="{BB962C8B-B14F-4D97-AF65-F5344CB8AC3E}">
        <p14:creationId xmlns:p14="http://schemas.microsoft.com/office/powerpoint/2010/main" val="3654563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2549098"/>
            <a:ext cx="7467600" cy="1908933"/>
          </a:xfrm>
          <a:prstGeom prst="rect">
            <a:avLst/>
          </a:prstGeom>
        </p:spPr>
        <p:txBody>
          <a:bodyPr vert="horz" wrap="square" lIns="0" tIns="244551" rIns="0" bIns="0" rtlCol="0" anchor="ctr">
            <a:spAutoFit/>
          </a:bodyPr>
          <a:lstStyle/>
          <a:p>
            <a:pPr algn="ctr"/>
            <a:r>
              <a:rPr lang="en-US" sz="5400" dirty="0" smtClean="0"/>
              <a:t>Workshop</a:t>
            </a:r>
            <a:r>
              <a:rPr lang="en-US" sz="5400" dirty="0"/>
              <a:t/>
            </a:r>
            <a:br>
              <a:rPr lang="en-US" sz="5400" dirty="0"/>
            </a:br>
            <a:endParaRPr lang="en-US" sz="54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28</a:t>
            </a:fld>
            <a:endParaRPr spc="-25" dirty="0"/>
          </a:p>
        </p:txBody>
      </p:sp>
    </p:spTree>
    <p:extLst>
      <p:ext uri="{BB962C8B-B14F-4D97-AF65-F5344CB8AC3E}">
        <p14:creationId xmlns:p14="http://schemas.microsoft.com/office/powerpoint/2010/main" val="1087623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8235" y="239637"/>
            <a:ext cx="464730" cy="514995"/>
          </a:xfrm>
          <a:prstGeom prst="rect">
            <a:avLst/>
          </a:prstGeom>
        </p:spPr>
      </p:pic>
      <p:sp>
        <p:nvSpPr>
          <p:cNvPr id="3" name="object 3"/>
          <p:cNvSpPr txBox="1">
            <a:spLocks noGrp="1"/>
          </p:cNvSpPr>
          <p:nvPr>
            <p:ph type="title"/>
          </p:nvPr>
        </p:nvSpPr>
        <p:spPr>
          <a:xfrm>
            <a:off x="1447800" y="76806"/>
            <a:ext cx="6781800" cy="677826"/>
          </a:xfrm>
          <a:prstGeom prst="rect">
            <a:avLst/>
          </a:prstGeom>
        </p:spPr>
        <p:txBody>
          <a:bodyPr vert="horz" wrap="square" lIns="0" tIns="244551" rIns="0" bIns="0" rtlCol="0">
            <a:spAutoFit/>
          </a:bodyPr>
          <a:lstStyle/>
          <a:p>
            <a:r>
              <a:rPr lang="en-US" sz="2800" dirty="0" smtClean="0"/>
              <a:t>Workshop</a:t>
            </a:r>
            <a:endParaRPr lang="en-US" sz="28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0"/>
              </a:lnSpc>
            </a:pPr>
            <a:fld id="{81D60167-4931-47E6-BA6A-407CBD079E47}" type="slidenum">
              <a:rPr spc="-25" dirty="0"/>
              <a:t>29</a:t>
            </a:fld>
            <a:endParaRPr spc="-25"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447800"/>
            <a:ext cx="6477000" cy="4655344"/>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6600" y="1219200"/>
            <a:ext cx="4648200" cy="4648200"/>
          </a:xfrm>
          <a:prstGeom prst="rect">
            <a:avLst/>
          </a:prstGeom>
        </p:spPr>
      </p:pic>
      <p:sp>
        <p:nvSpPr>
          <p:cNvPr id="11" name="TextBox 10"/>
          <p:cNvSpPr txBox="1"/>
          <p:nvPr/>
        </p:nvSpPr>
        <p:spPr>
          <a:xfrm>
            <a:off x="7696200" y="5867400"/>
            <a:ext cx="3886200" cy="646331"/>
          </a:xfrm>
          <a:prstGeom prst="rect">
            <a:avLst/>
          </a:prstGeom>
          <a:noFill/>
        </p:spPr>
        <p:txBody>
          <a:bodyPr wrap="square" rtlCol="1">
            <a:spAutoFit/>
          </a:bodyPr>
          <a:lstStyle/>
          <a:p>
            <a:r>
              <a:rPr lang="en-US" dirty="0" smtClean="0">
                <a:hlinkClick r:id="rId5"/>
              </a:rPr>
              <a:t>https://afathelbab.github.io/cnpc/computer-basics-soft-skills/workshops/</a:t>
            </a:r>
            <a:endParaRPr lang="ar-EG" dirty="0"/>
          </a:p>
        </p:txBody>
      </p:sp>
    </p:spTree>
    <p:extLst>
      <p:ext uri="{BB962C8B-B14F-4D97-AF65-F5344CB8AC3E}">
        <p14:creationId xmlns:p14="http://schemas.microsoft.com/office/powerpoint/2010/main" val="26726449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3547</TotalTime>
  <Words>1423</Words>
  <Application>Microsoft Office PowerPoint</Application>
  <PresentationFormat>Widescreen</PresentationFormat>
  <Paragraphs>230</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Arial MT</vt:lpstr>
      <vt:lpstr>Arial Unicode MS</vt:lpstr>
      <vt:lpstr>Calibri</vt:lpstr>
      <vt:lpstr>Tahoma</vt:lpstr>
      <vt:lpstr>Wingdings</vt:lpstr>
      <vt:lpstr>Office Theme</vt:lpstr>
      <vt:lpstr>CNPC Niger Petroleum S.A.</vt:lpstr>
      <vt:lpstr>Training Agenda</vt:lpstr>
      <vt:lpstr>Training Objectives</vt:lpstr>
      <vt:lpstr>Test your Knowledge</vt:lpstr>
      <vt:lpstr>Quiz Reflection</vt:lpstr>
      <vt:lpstr>Module 1:  Computer Hardware Basics</vt:lpstr>
      <vt:lpstr>Module 1: Computer Hardware Basics</vt:lpstr>
      <vt:lpstr>Module 1: Computer Hardware Basics</vt:lpstr>
      <vt:lpstr>Module 1: Computer Hardware Basics</vt:lpstr>
      <vt:lpstr>Module 1: Computer Hardware Basics</vt:lpstr>
      <vt:lpstr>Module 1: Computer Hardware Basics</vt:lpstr>
      <vt:lpstr>Module 2:  Using Outlook Effectively </vt:lpstr>
      <vt:lpstr>Module 2: Using Outlook</vt:lpstr>
      <vt:lpstr>Module 2: Using Outlook</vt:lpstr>
      <vt:lpstr>Module 2: Using Outlook</vt:lpstr>
      <vt:lpstr>Module 2: Using Outlook</vt:lpstr>
      <vt:lpstr>Module 2: Using Outlook</vt:lpstr>
      <vt:lpstr>Module 2: Using Outlook</vt:lpstr>
      <vt:lpstr>Module 3:  Word for Professionals </vt:lpstr>
      <vt:lpstr>Module 3: Word for Professionals</vt:lpstr>
      <vt:lpstr>Module 3: Word for Professionals</vt:lpstr>
      <vt:lpstr>Module 3: Word for Professionals</vt:lpstr>
      <vt:lpstr>Module 3: Word for Professionals</vt:lpstr>
      <vt:lpstr>Module 3: Word for Professionals</vt:lpstr>
      <vt:lpstr>Test your Knowledge</vt:lpstr>
      <vt:lpstr>A Better You, A Better Niger</vt:lpstr>
      <vt:lpstr>Backup Slides </vt:lpstr>
      <vt:lpstr>Workshop </vt:lpstr>
      <vt:lpstr>Workshop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a.mostafa</dc:creator>
  <cp:lastModifiedBy>Ahmed Fathelbab</cp:lastModifiedBy>
  <cp:revision>42</cp:revision>
  <dcterms:created xsi:type="dcterms:W3CDTF">2024-08-12T11:19:28Z</dcterms:created>
  <dcterms:modified xsi:type="dcterms:W3CDTF">2025-11-11T10:08:11Z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2024-08-06T00:00:00Z</vt:filetime>
  </property>
  <property fmtid="{D5CDD505-2E9C-101B-9397-08002B2CF9AE}" pid="3" name="Creator">
    <vt:lpwstr>Microsoft® PowerPoint® 2019</vt:lpwstr>
  </property>
  <property fmtid="{D5CDD505-2E9C-101B-9397-08002B2CF9AE}" pid="4" name="LastSaved">
    <vt:filetime>2024-08-12T00:00:00Z</vt:filetime>
  </property>
  <property fmtid="{D5CDD505-2E9C-101B-9397-08002B2CF9AE}" pid="5" name="Producer">
    <vt:lpwstr>Microsoft® PowerPoint® 2019</vt:lpwstr>
  </property>
  <property fmtid="{D5CDD505-2E9C-101B-9397-08002B2CF9AE}" pid="6" name="MSIP_Label_60c30631-53b8-4fcf-bd6e-2fc80ac82da0_Enabled">
    <vt:lpwstr>true</vt:lpwstr>
  </property>
  <property fmtid="{D5CDD505-2E9C-101B-9397-08002B2CF9AE}" pid="7" name="MSIP_Label_60c30631-53b8-4fcf-bd6e-2fc80ac82da0_SetDate">
    <vt:lpwstr>2024-08-12T11:20:17Z</vt:lpwstr>
  </property>
  <property fmtid="{D5CDD505-2E9C-101B-9397-08002B2CF9AE}" pid="8" name="MSIP_Label_60c30631-53b8-4fcf-bd6e-2fc80ac82da0_Method">
    <vt:lpwstr>Standard</vt:lpwstr>
  </property>
  <property fmtid="{D5CDD505-2E9C-101B-9397-08002B2CF9AE}" pid="9" name="MSIP_Label_60c30631-53b8-4fcf-bd6e-2fc80ac82da0_Name">
    <vt:lpwstr>ALJ INTERNAL</vt:lpwstr>
  </property>
  <property fmtid="{D5CDD505-2E9C-101B-9397-08002B2CF9AE}" pid="10" name="MSIP_Label_60c30631-53b8-4fcf-bd6e-2fc80ac82da0_SiteId">
    <vt:lpwstr>8b5f60ac-e420-4280-b0a5-0d6fd7eaf2d7</vt:lpwstr>
  </property>
  <property fmtid="{D5CDD505-2E9C-101B-9397-08002B2CF9AE}" pid="11" name="MSIP_Label_60c30631-53b8-4fcf-bd6e-2fc80ac82da0_ActionId">
    <vt:lpwstr>b59d25a2-f112-448b-be06-388c48d376a7</vt:lpwstr>
  </property>
  <property fmtid="{D5CDD505-2E9C-101B-9397-08002B2CF9AE}" pid="12" name="MSIP_Label_60c30631-53b8-4fcf-bd6e-2fc80ac82da0_ContentBits">
    <vt:lpwstr>2</vt:lpwstr>
  </property>
  <property fmtid="{D5CDD505-2E9C-101B-9397-08002B2CF9AE}" pid="13" name="ClassificationContentMarkingFooterLocations">
    <vt:lpwstr>Office Theme:8</vt:lpwstr>
  </property>
  <property fmtid="{D5CDD505-2E9C-101B-9397-08002B2CF9AE}" pid="14" name="ClassificationContentMarkingFooterText">
    <vt:lpwstr>INTERNAL</vt:lpwstr>
  </property>
</Properties>
</file>